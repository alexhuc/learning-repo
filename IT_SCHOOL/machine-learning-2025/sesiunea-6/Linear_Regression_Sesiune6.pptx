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Asap SemiBold"/>
      <p:regular r:id="rId36"/>
      <p:bold r:id="rId37"/>
      <p:italic r:id="rId38"/>
      <p:boldItalic r:id="rId39"/>
    </p:embeddedFont>
    <p:embeddedFont>
      <p:font typeface="Asap"/>
      <p:regular r:id="rId40"/>
      <p:bold r:id="rId41"/>
      <p:italic r:id="rId42"/>
      <p:boldItalic r:id="rId43"/>
    </p:embeddedFont>
    <p:embeddedFont>
      <p:font typeface="Asap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B4CD51-5BBA-486A-B6FA-2D44D7E42025}">
  <a:tblStyle styleId="{71B4CD51-5BBA-486A-B6FA-2D44D7E420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-regular.fntdata"/><Relationship Id="rId20" Type="http://schemas.openxmlformats.org/officeDocument/2006/relationships/slide" Target="slides/slide14.xml"/><Relationship Id="rId42" Type="http://schemas.openxmlformats.org/officeDocument/2006/relationships/font" Target="fonts/Asap-italic.fntdata"/><Relationship Id="rId41" Type="http://schemas.openxmlformats.org/officeDocument/2006/relationships/font" Target="fonts/Asap-bold.fntdata"/><Relationship Id="rId22" Type="http://schemas.openxmlformats.org/officeDocument/2006/relationships/slide" Target="slides/slide16.xml"/><Relationship Id="rId44" Type="http://schemas.openxmlformats.org/officeDocument/2006/relationships/font" Target="fonts/AsapMedium-regular.fntdata"/><Relationship Id="rId21" Type="http://schemas.openxmlformats.org/officeDocument/2006/relationships/slide" Target="slides/slide15.xml"/><Relationship Id="rId43" Type="http://schemas.openxmlformats.org/officeDocument/2006/relationships/font" Target="fonts/Asap-boldItalic.fntdata"/><Relationship Id="rId24" Type="http://schemas.openxmlformats.org/officeDocument/2006/relationships/slide" Target="slides/slide18.xml"/><Relationship Id="rId46" Type="http://schemas.openxmlformats.org/officeDocument/2006/relationships/font" Target="fonts/AsapMedium-italic.fntdata"/><Relationship Id="rId23" Type="http://schemas.openxmlformats.org/officeDocument/2006/relationships/slide" Target="slides/slide17.xml"/><Relationship Id="rId45" Type="http://schemas.openxmlformats.org/officeDocument/2006/relationships/font" Target="fonts/Asap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Asap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AsapSemiBold-bold.fntdata"/><Relationship Id="rId14" Type="http://schemas.openxmlformats.org/officeDocument/2006/relationships/slide" Target="slides/slide8.xml"/><Relationship Id="rId36" Type="http://schemas.openxmlformats.org/officeDocument/2006/relationships/font" Target="fonts/Asap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Asap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Asap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Regresia liniara prezice valori continue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Incearca sa gaseasca o regula (tragand o linie), care sa lege X de 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 realitate, datele n-o sa fit-uie perfect linia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Scatter-ul (punctele) ne arata raspandirea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Linear regression surprinde trend-ul general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Linia urca =&gt; cand x creste, y creste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O relatie LINIARA este definita prin ecuatia m*x + 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Intercept = n =&gt; valoarea DE START, de unde pleaca y cand x = 0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Panta (slope = cat se schimba Y atunci cand X creste cu o unitate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Slope = 0.7 =&gt; la fiecare ora de studiu, nota medie creste cu 0.7 puncte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Intercept = 4.5 =&gt; fara studiu notele ar fi pe la 4.5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o</a:t>
            </a:r>
            <a:r>
              <a:rPr lang="en-GB">
                <a:solidFill>
                  <a:schemeClr val="dk1"/>
                </a:solidFill>
              </a:rPr>
              <a:t> predictie perfecta ar pune fiecare punct fix pe linie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Asta nu e posibil daca noi vorbim despre regresie liniara, unde incercam sa aproximam linia cat mai aproape de toate punctele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vrem sa comparam linii intre ele, folosim o functie de cost (MSE) - media patratelor erorilor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De ce patrate?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Sa nu se anuleze minus cu plus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Sa penalizam erorile foarte mari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Vrem ca segmentele rosii (residuals) sa fie cat mai scurte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552537e1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9b552537e1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g39b552537e1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552537e1_0_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b552537e1_0_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g39b552537e1_0_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b552537e1_0_4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b552537e1_0_4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g39b552537e1_0_4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b552537e1_0_6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b552537e1_0_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g39b552537e1_0_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552537e1_0_7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9b552537e1_0_7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g39b552537e1_0_7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552537e1_0_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9b552537e1_0_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g39b552537e1_0_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b552537e1_0_1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9b552537e1_0_1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Derivata = panta curbei intr-un punct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g39b552537e1_0_1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b552537e1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9b552537e1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E</a:t>
            </a:r>
            <a:r>
              <a:rPr lang="en-GB">
                <a:solidFill>
                  <a:schemeClr val="dk1"/>
                </a:solidFill>
              </a:rPr>
              <a:t>xista 2 moduri complementare de a gasi linia optima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Unul se foloseste mai mult pt modele mai simple, cum e linear regression, pe cand celalalt este mai potrivit pt ML - GRADIENT DESCENT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OLS este rapid pentru probleme simple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Gradient descent nu stie solutia direct, porneste cu o linie oarecare si isi adapteaza treptat coeficientii in directia in care costul scade cel mai repede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Aici mai introducem un mic parametru, numit learning rate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GD e indispensabil cand modelul devine complex sau datele sunt foarte mari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g39b552537e1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Derivata pentru un singur feature am vazut ca e doar o panta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scadem panta progresiv, ajungem la minim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Gradientul e acelasi lucru, doar ca mergem in mai multe directii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Ganditi-va la un bol tridimensional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 fiecare punct, gradientul arata in ce directie urca cel mai abrupt peretii bolului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vrem sa minimizam costul, facem opusul - coboram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ba850fdc7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9ba850fdc7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9ba850fdc7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ba850fdc7_0_2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9ba850fdc7_0_2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9ba850fdc7_0_2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ba850fdc7_0_4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9ba850fdc7_0_4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9ba850fdc7_0_4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ba850fdc7_0_5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9ba850fdc7_0_5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9ba850fdc7_0_5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ba850fdc7_0_7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ba850fdc7_0_7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9ba850fdc7_0_7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Pasul cu care ne deplasam intr-o anumita directie se numeste learning rate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pasul e prea mare, algoritmul sare peste minim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Se poate indeparta sau oscila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pasul e prea mic, convergenta e sigura, dar foarte lenta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2" name="Google Shape;332;p1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E important de stiut ca linia din linear regression este o aproximare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In cele mai multe cazuri nu este perfecta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Important e sa vedem unde si cum greseste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diferentele sunt distribuite aleator, modelul si-a facut treaba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Daca vedem un tipar din ele, modelul rateaza ceva important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3" name="Google Shape;343;p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p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Relationship Id="rId8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GB" sz="3000" u="none" cap="none" strike="noStrike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Linear Regression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Linear Regression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Mean squared error (MSE)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Ordinary Least Squares (OLS)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Descent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Learning rate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Tipuri diferite de reziduu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 regresia liniară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Scop: prezicem o valoare continuă (ex.: notă, preț, timp)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🧠 Intuiție: mai multe ore de studiu (X) → de regulă note mai mari (Y)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🔁 Model = o regulă: transformă input (X) în output (Y)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➖ Simplu: o linie care rezumă relația dintre X și Y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2025" y="228600"/>
            <a:ext cx="3639600" cy="25029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Linia cea mai potrivita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☕ Exemplu: consum de cafea (X) → nivel de energie (Y)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🟢 Puncte = observații reale (oameni)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➖ Linie = „tendința medie” care rezumă relația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👀 Folos: vedem rapid direcția relației (pozitivă, negativă, slabă)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9525" y="194526"/>
            <a:ext cx="3725100" cy="24852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Ecuația dreptei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🧾 Formula: y  = mx + n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n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(Intercept): </a:t>
            </a: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valoarea lui Y cand X = 0 (nota de start/energia fara cafea)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📈  m </a:t>
            </a: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(Panta)</a:t>
            </a: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cât se schimbă Y atunci când X crește cu 1 unitate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🧠 Intuiție: panta dă „rata de schimbare”; intercept dă „nivelul de bază”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1625" y="322975"/>
            <a:ext cx="3634500" cy="24477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Eroarea și funcția de cost (MSE) 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🔻 Eroare (reziduu) = diferența dintre predicție și valoarea reală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🧮 Cost (MSE) = media pătratelor erorilor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👀 Vizual: segmente roșii verticale între linie și puncte (distanțele „greșelii”)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Scopul modelului: să minimizeze costul (erorile totale)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9674" y="322974"/>
            <a:ext cx="3235200" cy="23559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ce pătratul erorii?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➕➖ Fără pătrat, erorile pozitive și negative s-ar anula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🚨 Outlierii trebuie să „doară” mai mult → pătratul îi face vizibili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🧮 MSE penalizează exponențial erorile mari; MAE (media absolutelor) e mai robustă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8825" y="405343"/>
            <a:ext cx="3334500" cy="23028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Cost function (functie de cost)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 să găsim cel mai bun line, vrem să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minimizăm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funcția de cost cât mai mult posibil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4424" y="2362224"/>
            <a:ext cx="3213000" cy="64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73275" y="1529275"/>
            <a:ext cx="8751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Cost function (functie de cost)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Ex. </a:t>
            </a: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3 puncte                                                     =&gt;</a:t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4874" y="2142649"/>
            <a:ext cx="3213000" cy="64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aphicFrame>
        <p:nvGraphicFramePr>
          <p:cNvPr id="153" name="Google Shape;153;p23"/>
          <p:cNvGraphicFramePr/>
          <p:nvPr/>
        </p:nvGraphicFramePr>
        <p:xfrm>
          <a:off x="1796975" y="307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{71B4CD51-5BBA-486A-B6FA-2D44D7E42025}</a:tableStyleId>
              </a:tblPr>
              <a:tblGrid>
                <a:gridCol w="925500"/>
                <a:gridCol w="84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x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y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4" name="Google Shape;154;p23"/>
          <p:cNvSpPr txBox="1"/>
          <p:nvPr/>
        </p:nvSpPr>
        <p:spPr>
          <a:xfrm>
            <a:off x="4124725" y="3014650"/>
            <a:ext cx="4228800" cy="1287600"/>
          </a:xfrm>
          <a:prstGeom prst="rect">
            <a:avLst/>
          </a:prstGeom>
          <a:noFill/>
          <a:ln cap="flat" cmpd="sng" w="9525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Vrem să găsim linia </a:t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y</a:t>
            </a:r>
            <a:r>
              <a:rPr b="1" lang="en-GB" sz="13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 = m*x + n </a:t>
            </a:r>
            <a:endParaRPr b="1" sz="13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Care trece</a:t>
            </a: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cât mai aproape</a:t>
            </a: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de toate punctele</a:t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0" name="Google Shape;1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273275" y="1529275"/>
            <a:ext cx="8751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Cost function (functie de cost)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                                                  </a:t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5725" y="2279925"/>
            <a:ext cx="2172300" cy="436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675" y="3142125"/>
            <a:ext cx="5970550" cy="16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46122" y="187450"/>
            <a:ext cx="3879000" cy="284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273275" y="1529275"/>
            <a:ext cx="8751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Cost function (functie de cost)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                       </a:t>
            </a:r>
            <a:endParaRPr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"/>
              <a:buChar char="-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loc să folosim brute force pentru găsirea valorii potrivite pentru funcția de cost, putem folosi formula OLS 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6050" y="2544226"/>
            <a:ext cx="2172300" cy="436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6122" y="187450"/>
            <a:ext cx="3879000" cy="284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97510" y="3379398"/>
            <a:ext cx="2572825" cy="1674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273275" y="1529275"/>
            <a:ext cx="8751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                                     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4924" y="2110900"/>
            <a:ext cx="2758300" cy="1795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6"/>
          <p:cNvGraphicFramePr/>
          <p:nvPr/>
        </p:nvGraphicFramePr>
        <p:xfrm>
          <a:off x="367775" y="24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{71B4CD51-5BBA-486A-B6FA-2D44D7E42025}</a:tableStyleId>
              </a:tblPr>
              <a:tblGrid>
                <a:gridCol w="925500"/>
                <a:gridCol w="84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x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y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Functia de cost -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273275" y="1529275"/>
            <a:ext cx="8751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OLS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                                       =&gt; m = 1.5, n = 0.333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4924" y="2110900"/>
            <a:ext cx="2758300" cy="1795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7"/>
          <p:cNvGraphicFramePr/>
          <p:nvPr/>
        </p:nvGraphicFramePr>
        <p:xfrm>
          <a:off x="367775" y="24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{71B4CD51-5BBA-486A-B6FA-2D44D7E42025}</a:tableStyleId>
              </a:tblPr>
              <a:tblGrid>
                <a:gridCol w="925500"/>
                <a:gridCol w="84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x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y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Intuiție formulă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273275" y="397575"/>
            <a:ext cx="8751900" cy="45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							                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= m*x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5563" y="2110700"/>
            <a:ext cx="3761050" cy="24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675" y="2110700"/>
            <a:ext cx="3761025" cy="248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Intuiție formulă OLS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273275" y="1800350"/>
            <a:ext cx="8751900" cy="3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Intuiția derivatelor (revenim la m, n)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Funcție de cost =&gt;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Derivata parțială dupa m =&gt;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Derivata parțială după n =&gt;</a:t>
            </a:r>
            <a:endParaRPr b="1" sz="13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975" y="2478000"/>
            <a:ext cx="2190850" cy="64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5796" y="4104932"/>
            <a:ext cx="1197352" cy="5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6457" y="3237129"/>
            <a:ext cx="2811673" cy="74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5" name="Google Shape;2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223838" y="1387756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Minimizarea funcției de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🧮 OLS (Ordinary Least Squares): soluție „dintr-o singură lovitură” — formula analitică a liniei cu MSE minim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🪜 Gradient Descent: „coborâm panta costului” cu pași mici până ajungem la minim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⚙️ În practică: OLS e rapid pe seturi mici; GD e flexibil pentru seturi mari / modele mai complicate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4471" y="103175"/>
            <a:ext cx="3656400" cy="2247300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8563" y="3782625"/>
            <a:ext cx="4201325" cy="8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/>
          <p:nvPr/>
        </p:nvSpPr>
        <p:spPr>
          <a:xfrm>
            <a:off x="3812850" y="3833925"/>
            <a:ext cx="535200" cy="825000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Gradientul pentru funcția de cost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🏀 Gradient = „derivată generalizată” pentru funcții cu mai mulți parametri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🌀 Intuiție: în 2D, gradientul arată direcția de cea mai rapidă urcare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⬇️ Pentru scăderea costului: mergem în direcția opusă gradientului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4050" y="145075"/>
            <a:ext cx="3483000" cy="27891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9" name="Google Shape;2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Descent – pașii algoritmului pentru regresie liniara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🟢 Pas 1: alege o linie random (coeficienți aleatori)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🟡 Pas 2: calculează gradientul (în ce direcție crește costul)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🔻 Pas 3: mergi un pic în direcția opusă gradientului (scădere)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🔁 Pas 4: repetă → linia se apropie de cea optimă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🏆 Rezultat: ajungem în minimul funcției de cost (linia „cea mai bună”)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33"/>
          <p:cNvGraphicFramePr/>
          <p:nvPr/>
        </p:nvGraphicFramePr>
        <p:xfrm>
          <a:off x="638175" y="227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{71B4CD51-5BBA-486A-B6FA-2D44D7E42025}</a:tableStyleId>
              </a:tblPr>
              <a:tblGrid>
                <a:gridCol w="1320150"/>
                <a:gridCol w="1204900"/>
              </a:tblGrid>
              <a:tr h="6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x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y</a:t>
                      </a:r>
                      <a:endParaRPr b="1" sz="12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</a:tr>
              <a:tr h="6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6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6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4" name="Google Shape;274;p33"/>
          <p:cNvSpPr txBox="1"/>
          <p:nvPr/>
        </p:nvSpPr>
        <p:spPr>
          <a:xfrm>
            <a:off x="775925" y="1832700"/>
            <a:ext cx="2211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Set de date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4" y="2274425"/>
            <a:ext cx="3879925" cy="82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/>
          <p:nvPr/>
        </p:nvSpPr>
        <p:spPr>
          <a:xfrm>
            <a:off x="5515744" y="2321801"/>
            <a:ext cx="494400" cy="762000"/>
          </a:xfrm>
          <a:prstGeom prst="ellipse">
            <a:avLst/>
          </a:prstGeom>
          <a:noFill/>
          <a:ln cap="flat" cmpd="sng" w="351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25" lIns="84425" spcFirstLastPara="1" rIns="84425" wrap="square" tIns="8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2">
              <a:solidFill>
                <a:srgbClr val="FFFF01"/>
              </a:solidFill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5182188" y="1832700"/>
            <a:ext cx="2211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FORMULA COST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4532695" y="3737900"/>
            <a:ext cx="3510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Step1. Alegem valori initiale pentru m,n 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0358" y="2274425"/>
            <a:ext cx="3879925" cy="82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/>
          <p:nvPr/>
        </p:nvSpPr>
        <p:spPr>
          <a:xfrm>
            <a:off x="6217928" y="2321801"/>
            <a:ext cx="494400" cy="762000"/>
          </a:xfrm>
          <a:prstGeom prst="ellipse">
            <a:avLst/>
          </a:prstGeom>
          <a:noFill/>
          <a:ln cap="flat" cmpd="sng" w="351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25" lIns="84425" spcFirstLastPara="1" rIns="84425" wrap="square" tIns="8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2">
              <a:solidFill>
                <a:srgbClr val="FFFF01"/>
              </a:solidFill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5640125" y="1854500"/>
            <a:ext cx="2211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FORMULA COST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750" y="1996118"/>
            <a:ext cx="4325125" cy="287529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5234857" y="3808125"/>
            <a:ext cx="3510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Step2. Calculam gradientul pentru m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8" name="Google Shape;2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0358" y="2274425"/>
            <a:ext cx="3879925" cy="82551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/>
          <p:nvPr/>
        </p:nvSpPr>
        <p:spPr>
          <a:xfrm>
            <a:off x="6217928" y="2321801"/>
            <a:ext cx="494400" cy="762000"/>
          </a:xfrm>
          <a:prstGeom prst="ellipse">
            <a:avLst/>
          </a:prstGeom>
          <a:noFill/>
          <a:ln cap="flat" cmpd="sng" w="351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25" lIns="84425" spcFirstLastPara="1" rIns="84425" wrap="square" tIns="8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2">
              <a:solidFill>
                <a:srgbClr val="FFFF01"/>
              </a:solidFill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5640125" y="1854500"/>
            <a:ext cx="2211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FORMULA COST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5234857" y="3808125"/>
            <a:ext cx="3510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Step2. Calculam gradientul pentru n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6" name="Google Shape;30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4300" y="1998113"/>
            <a:ext cx="4519401" cy="28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2" name="Google Shape;3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5234857" y="3808125"/>
            <a:ext cx="3510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Step3. Scadem gradientul din m,n</a:t>
            </a:r>
            <a:endParaRPr b="1"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18" name="Google Shape;31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850" y="2120573"/>
            <a:ext cx="4386876" cy="22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4" name="Google Shape;3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1874875" y="1975825"/>
            <a:ext cx="56181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🔁Step4. Repetam pana ajungem la valoarea optima pentru m, n </a:t>
            </a:r>
            <a:endParaRPr b="1" i="0" sz="14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4" name="Google Shape;3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6" name="Google Shape;33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/>
          <p:nvPr/>
        </p:nvSpPr>
        <p:spPr>
          <a:xfrm>
            <a:off x="273275" y="1854575"/>
            <a:ext cx="87519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Learning rate (pasul de învățare)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⬆️ Prea mare → sărim peste minim (oscilații, instabil)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⬇️ Prea mic → ajungem la minim, dar extrem de lent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Scop: un pas suficient de mare ca să avansăm, dar suficient de mic ca să fim stabili</a:t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39" name="Google Shape;33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2100" y="322975"/>
            <a:ext cx="3413700" cy="24654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5" name="Google Shape;3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273275" y="1854575"/>
            <a:ext cx="8751900" cy="25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Analiza erorilor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Linia nu e totul → vrem să știm unde și cum greșește modelul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Reziduu = diferența dintre valoarea reală și cea prezisă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🌍 Ne arată ce parte din realitate nu a fost surprinsă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Model bun: reziduurile sunt aleatoare, fără tipar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🚨 Model prost: reziduurile formează modele clare (curbe, pâlnie)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50" name="Google Shape;35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2425" y="322975"/>
            <a:ext cx="3124200" cy="21828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6" name="Google Shape;3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0"/>
          <p:cNvSpPr/>
          <p:nvPr/>
        </p:nvSpPr>
        <p:spPr>
          <a:xfrm>
            <a:off x="273275" y="1854575"/>
            <a:ext cx="8751900" cy="25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Reziduurile sănătoase vs. „curba”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Sănătos: reziduuri ca un nor aleator în jurul lui 0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🚩 Curba: reziduuri în formă de U sau arc → modelul liniar ratează o relație neliniară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👀 Intuiție: linia e prea simplă pentru o relație curbată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61" name="Google Shape;36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0725" y="720350"/>
            <a:ext cx="5496000" cy="16728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7" name="Google Shape;3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9" name="Google Shape;36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273275" y="1854575"/>
            <a:ext cx="87519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Reziduurile „pâlnie” = heteroscedasticitate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⚖️ Ipoteză: erorile au varianță constantă → homoscedasticitate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🚩 Heteroscedasticitate = erorile devin mai mari pentru valori mai mari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🔔 Intuiție: modelul e mai sigur pentru valori mici și mai nesigur pentru valori mari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Exemplu real: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Salarii → pentru joburi entry-level toți câștigă similar (reziduuri mici).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CEO unii câștigă 10k€, alții 50k€ (reziduuri foarte mari).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72" name="Google Shape;37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2425" y="322975"/>
            <a:ext cx="3100800" cy="22413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8" name="Google Shape;3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9" name="Google Shape;37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0" name="Google Shape;38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invata un model?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2"/>
          <p:cNvSpPr/>
          <p:nvPr/>
        </p:nvSpPr>
        <p:spPr>
          <a:xfrm>
            <a:off x="273275" y="1854575"/>
            <a:ext cx="87519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Ipotezele modelului liniar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📈 Liniaritate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Erori distribuite normal (aprox.)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⚖️ Varianță constantă (homoscedasticitate)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🔗 Independență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Salarii → pentru joburi entry-level toți câștigă similar (reziduuri mici).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0" i="0" lang="en-GB" sz="15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CEO unii câștigă 10k€, alții 50k€ (reziduuri foarte mari).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83" name="Google Shape;383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2425" y="322975"/>
            <a:ext cx="3100800" cy="22413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9" name="Google Shape;3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3" name="Google Shape;39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3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3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