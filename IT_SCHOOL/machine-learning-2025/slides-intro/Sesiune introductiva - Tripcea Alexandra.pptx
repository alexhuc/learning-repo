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13716000" cx="24387175"/>
  <p:notesSz cx="13716000" cy="24387175"/>
  <p:embeddedFontLst>
    <p:embeddedFont>
      <p:font typeface="Asap"/>
      <p:regular r:id="rId20"/>
      <p:bold r:id="rId21"/>
      <p:italic r:id="rId22"/>
      <p:boldItalic r:id="rId23"/>
    </p:embeddedFont>
    <p:embeddedFont>
      <p:font typeface="Asap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a3IAb9v15R0cp+5ndxYDy5h1w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ap-regular.fntdata"/><Relationship Id="rId22" Type="http://schemas.openxmlformats.org/officeDocument/2006/relationships/font" Target="fonts/Asap-italic.fntdata"/><Relationship Id="rId21" Type="http://schemas.openxmlformats.org/officeDocument/2006/relationships/font" Target="fonts/Asap-bold.fntdata"/><Relationship Id="rId24" Type="http://schemas.openxmlformats.org/officeDocument/2006/relationships/font" Target="fonts/AsapMedium-regular.fntdata"/><Relationship Id="rId23" Type="http://schemas.openxmlformats.org/officeDocument/2006/relationships/font" Target="fonts/Asap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sapMedium-italic.fntdata"/><Relationship Id="rId25" Type="http://schemas.openxmlformats.org/officeDocument/2006/relationships/font" Target="fonts/AsapMedium-bold.fntdata"/><Relationship Id="rId28" Type="http://customschemas.google.com/relationships/presentationmetadata" Target="metadata"/><Relationship Id="rId27" Type="http://schemas.openxmlformats.org/officeDocument/2006/relationships/font" Target="fonts/Asap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1bafe8315_0_2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381bafe8315_0_2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0" name="Google Shape;250;g381bafe8315_0_2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5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subTitle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1219320" y="3209400"/>
            <a:ext cx="1071036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2" type="body"/>
          </p:nvPr>
        </p:nvSpPr>
        <p:spPr>
          <a:xfrm>
            <a:off x="12465720" y="3209400"/>
            <a:ext cx="1071036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idx="1" type="subTitle"/>
          </p:nvPr>
        </p:nvSpPr>
        <p:spPr>
          <a:xfrm>
            <a:off x="1219320" y="547200"/>
            <a:ext cx="2194776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2" type="body"/>
          </p:nvPr>
        </p:nvSpPr>
        <p:spPr>
          <a:xfrm>
            <a:off x="12465720" y="3209400"/>
            <a:ext cx="1071036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3" type="body"/>
          </p:nvPr>
        </p:nvSpPr>
        <p:spPr>
          <a:xfrm>
            <a:off x="1219320" y="736452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1219320" y="3209400"/>
            <a:ext cx="1071036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2"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3" type="body"/>
          </p:nvPr>
        </p:nvSpPr>
        <p:spPr>
          <a:xfrm>
            <a:off x="12465720" y="736452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3" type="body"/>
          </p:nvPr>
        </p:nvSpPr>
        <p:spPr>
          <a:xfrm>
            <a:off x="1219320" y="7364520"/>
            <a:ext cx="219477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1219320" y="3209400"/>
            <a:ext cx="219477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2" type="body"/>
          </p:nvPr>
        </p:nvSpPr>
        <p:spPr>
          <a:xfrm>
            <a:off x="1219320" y="7364520"/>
            <a:ext cx="219477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2"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3" type="body"/>
          </p:nvPr>
        </p:nvSpPr>
        <p:spPr>
          <a:xfrm>
            <a:off x="1219320" y="736452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4" type="body"/>
          </p:nvPr>
        </p:nvSpPr>
        <p:spPr>
          <a:xfrm>
            <a:off x="12465720" y="7364520"/>
            <a:ext cx="1071036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1219320" y="3209400"/>
            <a:ext cx="70668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2" type="body"/>
          </p:nvPr>
        </p:nvSpPr>
        <p:spPr>
          <a:xfrm>
            <a:off x="8640000" y="3209400"/>
            <a:ext cx="70668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3" type="body"/>
          </p:nvPr>
        </p:nvSpPr>
        <p:spPr>
          <a:xfrm>
            <a:off x="16060320" y="3209400"/>
            <a:ext cx="70668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4" type="body"/>
          </p:nvPr>
        </p:nvSpPr>
        <p:spPr>
          <a:xfrm>
            <a:off x="1219320" y="7364520"/>
            <a:ext cx="70668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5" type="body"/>
          </p:nvPr>
        </p:nvSpPr>
        <p:spPr>
          <a:xfrm>
            <a:off x="8640000" y="7364520"/>
            <a:ext cx="70668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6" type="body"/>
          </p:nvPr>
        </p:nvSpPr>
        <p:spPr>
          <a:xfrm>
            <a:off x="16060320" y="7364520"/>
            <a:ext cx="70668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1219320" y="547200"/>
            <a:ext cx="2194776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9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3" Type="http://schemas.openxmlformats.org/officeDocument/2006/relationships/image" Target="../media/image28.jp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12.png"/><Relationship Id="rId5" Type="http://schemas.openxmlformats.org/officeDocument/2006/relationships/image" Target="../media/image29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34.png"/><Relationship Id="rId9" Type="http://schemas.openxmlformats.org/officeDocument/2006/relationships/image" Target="../media/image12.png"/><Relationship Id="rId5" Type="http://schemas.openxmlformats.org/officeDocument/2006/relationships/image" Target="../media/image35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Relationship Id="rId9" Type="http://schemas.openxmlformats.org/officeDocument/2006/relationships/image" Target="../media/image12.png"/><Relationship Id="rId5" Type="http://schemas.openxmlformats.org/officeDocument/2006/relationships/image" Target="../media/image37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0.png"/><Relationship Id="rId13" Type="http://schemas.openxmlformats.org/officeDocument/2006/relationships/image" Target="../media/image3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9" Type="http://schemas.openxmlformats.org/officeDocument/2006/relationships/image" Target="../media/image1.png"/><Relationship Id="rId14" Type="http://schemas.openxmlformats.org/officeDocument/2006/relationships/image" Target="../media/image14.png"/><Relationship Id="rId5" Type="http://schemas.openxmlformats.org/officeDocument/2006/relationships/image" Target="../media/image63.png"/><Relationship Id="rId6" Type="http://schemas.openxmlformats.org/officeDocument/2006/relationships/image" Target="../media/image41.png"/><Relationship Id="rId7" Type="http://schemas.openxmlformats.org/officeDocument/2006/relationships/image" Target="../media/image36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0.png"/><Relationship Id="rId13" Type="http://schemas.openxmlformats.org/officeDocument/2006/relationships/image" Target="../media/image3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9" Type="http://schemas.openxmlformats.org/officeDocument/2006/relationships/image" Target="../media/image1.png"/><Relationship Id="rId14" Type="http://schemas.openxmlformats.org/officeDocument/2006/relationships/image" Target="../media/image14.png"/><Relationship Id="rId5" Type="http://schemas.openxmlformats.org/officeDocument/2006/relationships/image" Target="../media/image63.png"/><Relationship Id="rId6" Type="http://schemas.openxmlformats.org/officeDocument/2006/relationships/image" Target="../media/image41.png"/><Relationship Id="rId7" Type="http://schemas.openxmlformats.org/officeDocument/2006/relationships/image" Target="../media/image36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50.png"/><Relationship Id="rId9" Type="http://schemas.openxmlformats.org/officeDocument/2006/relationships/image" Target="../media/image12.png"/><Relationship Id="rId5" Type="http://schemas.openxmlformats.org/officeDocument/2006/relationships/image" Target="../media/image4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53.png"/><Relationship Id="rId13" Type="http://schemas.openxmlformats.org/officeDocument/2006/relationships/image" Target="../media/image55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45.png"/><Relationship Id="rId8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.png"/><Relationship Id="rId22" Type="http://schemas.openxmlformats.org/officeDocument/2006/relationships/image" Target="../media/image77.png"/><Relationship Id="rId21" Type="http://schemas.openxmlformats.org/officeDocument/2006/relationships/image" Target="../media/image76.png"/><Relationship Id="rId24" Type="http://schemas.openxmlformats.org/officeDocument/2006/relationships/image" Target="../media/image82.png"/><Relationship Id="rId23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40.png"/><Relationship Id="rId9" Type="http://schemas.openxmlformats.org/officeDocument/2006/relationships/image" Target="../media/image12.png"/><Relationship Id="rId26" Type="http://schemas.openxmlformats.org/officeDocument/2006/relationships/image" Target="../media/image86.png"/><Relationship Id="rId25" Type="http://schemas.openxmlformats.org/officeDocument/2006/relationships/image" Target="../media/image79.png"/><Relationship Id="rId28" Type="http://schemas.openxmlformats.org/officeDocument/2006/relationships/image" Target="../media/image78.png"/><Relationship Id="rId27" Type="http://schemas.openxmlformats.org/officeDocument/2006/relationships/image" Target="../media/image70.png"/><Relationship Id="rId5" Type="http://schemas.openxmlformats.org/officeDocument/2006/relationships/image" Target="../media/image63.png"/><Relationship Id="rId6" Type="http://schemas.openxmlformats.org/officeDocument/2006/relationships/image" Target="../media/image2.png"/><Relationship Id="rId29" Type="http://schemas.openxmlformats.org/officeDocument/2006/relationships/image" Target="../media/image7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Relationship Id="rId31" Type="http://schemas.openxmlformats.org/officeDocument/2006/relationships/image" Target="../media/image80.png"/><Relationship Id="rId30" Type="http://schemas.openxmlformats.org/officeDocument/2006/relationships/image" Target="../media/image83.png"/><Relationship Id="rId11" Type="http://schemas.openxmlformats.org/officeDocument/2006/relationships/image" Target="../media/image3.png"/><Relationship Id="rId33" Type="http://schemas.openxmlformats.org/officeDocument/2006/relationships/image" Target="../media/image81.png"/><Relationship Id="rId10" Type="http://schemas.openxmlformats.org/officeDocument/2006/relationships/image" Target="../media/image4.png"/><Relationship Id="rId32" Type="http://schemas.openxmlformats.org/officeDocument/2006/relationships/image" Target="../media/image85.png"/><Relationship Id="rId13" Type="http://schemas.openxmlformats.org/officeDocument/2006/relationships/image" Target="../media/image61.png"/><Relationship Id="rId35" Type="http://schemas.openxmlformats.org/officeDocument/2006/relationships/image" Target="../media/image84.png"/><Relationship Id="rId12" Type="http://schemas.openxmlformats.org/officeDocument/2006/relationships/image" Target="../media/image14.png"/><Relationship Id="rId34" Type="http://schemas.openxmlformats.org/officeDocument/2006/relationships/image" Target="../media/image88.png"/><Relationship Id="rId15" Type="http://schemas.openxmlformats.org/officeDocument/2006/relationships/image" Target="../media/image59.png"/><Relationship Id="rId14" Type="http://schemas.openxmlformats.org/officeDocument/2006/relationships/image" Target="../media/image66.png"/><Relationship Id="rId36" Type="http://schemas.openxmlformats.org/officeDocument/2006/relationships/image" Target="../media/image87.png"/><Relationship Id="rId17" Type="http://schemas.openxmlformats.org/officeDocument/2006/relationships/image" Target="../media/image60.png"/><Relationship Id="rId16" Type="http://schemas.openxmlformats.org/officeDocument/2006/relationships/image" Target="../media/image62.png"/><Relationship Id="rId19" Type="http://schemas.openxmlformats.org/officeDocument/2006/relationships/image" Target="../media/image73.png"/><Relationship Id="rId18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4.png"/><Relationship Id="rId11" Type="http://schemas.openxmlformats.org/officeDocument/2006/relationships/image" Target="../media/image18.png"/><Relationship Id="rId10" Type="http://schemas.openxmlformats.org/officeDocument/2006/relationships/image" Target="../media/image14.png"/><Relationship Id="rId13" Type="http://schemas.openxmlformats.org/officeDocument/2006/relationships/image" Target="../media/image89.png"/><Relationship Id="rId12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5" name="Google Shape;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6" name="Google Shape;6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32960" y="1523880"/>
            <a:ext cx="6553080" cy="106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2426040" y="4508640"/>
            <a:ext cx="15020640" cy="366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0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Felicitări</a:t>
            </a: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b="0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pentru că ești</a:t>
            </a: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b="1" i="0" lang="en-US" sz="14000" u="none" cap="none" strike="noStrike">
                <a:solidFill>
                  <a:srgbClr val="009DFF"/>
                </a:solidFill>
                <a:latin typeface="Asap"/>
                <a:ea typeface="Asap"/>
                <a:cs typeface="Asap"/>
                <a:sym typeface="Asap"/>
              </a:rPr>
              <a:t>AICI!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2426040" y="8839080"/>
            <a:ext cx="14698800" cy="8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— from zero to hero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2184840" y="2791800"/>
            <a:ext cx="2844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2311560" y="291852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1" name="Google Shape;7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640" y="304560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2" name="Google Shape;7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8280" y="372744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3" name="Google Shape;7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24840" y="333936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4" name="Google Shape;7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90440" y="305856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5" name="Google Shape;7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63920" y="316980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63920" y="352224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7" name="Google Shape;7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9600" y="3339360"/>
            <a:ext cx="55080" cy="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46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3" name="Google Shape;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20" y="294120"/>
            <a:ext cx="13436280" cy="13415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" name="Google Shape;8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880" y="2400480"/>
            <a:ext cx="8521560" cy="891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/>
          <p:nvPr/>
        </p:nvSpPr>
        <p:spPr>
          <a:xfrm>
            <a:off x="1702080" y="861120"/>
            <a:ext cx="2844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829160" y="98820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7" name="Google Shape;8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5880" y="111528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5520" y="179676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" name="Google Shape;8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42440" y="140904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0" name="Google Shape;9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07680" y="112788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1" name="Google Shape;9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1160" y="123948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1160" y="159192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3" name="Google Shape;93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36840" y="1409040"/>
            <a:ext cx="55080" cy="5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4" name="Google Shape;94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193560" y="0"/>
            <a:ext cx="1219248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12943080" y="5372280"/>
            <a:ext cx="1127376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Hello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2943080" y="7404120"/>
            <a:ext cx="11206080" cy="162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Arial"/>
              <a:buNone/>
            </a:pPr>
            <a:r>
              <a:rPr lang="en-US" sz="10600">
                <a:latin typeface="Asap"/>
                <a:ea typeface="Asap"/>
                <a:cs typeface="Asap"/>
                <a:sym typeface="Asap"/>
              </a:rPr>
              <a:t>Tripcea Alexandra</a:t>
            </a:r>
            <a:endParaRPr b="0" i="0" sz="10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7" name="Google Shape;97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032000" y="4003560"/>
            <a:ext cx="837360" cy="8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12041280" y="4978440"/>
            <a:ext cx="11125440" cy="4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2041280" y="55864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01 Facem cunoștință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2041280" y="6500880"/>
            <a:ext cx="1163484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02 Discutăm despre obiective și așteptări de la curs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2041280" y="73738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03 Prezentare generală a cursului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2041280" y="82882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04 Stabilim regulile comunității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2041280" y="92026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05 Sesiune generală de Q&amp;A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663920" y="4686480"/>
            <a:ext cx="8968680" cy="613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Arial"/>
              <a:buNone/>
            </a:pPr>
            <a:r>
              <a:rPr b="0" i="0" lang="en-US" sz="12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Ce vom face </a:t>
            </a:r>
            <a:r>
              <a:rPr b="1" i="0" lang="en-US" sz="12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astăzi împreună?</a:t>
            </a:r>
            <a:endParaRPr b="0" i="0" sz="1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9509480" y="25560"/>
            <a:ext cx="4851000" cy="4850280"/>
          </a:xfrm>
          <a:prstGeom prst="ellipse">
            <a:avLst/>
          </a:prstGeom>
          <a:solidFill>
            <a:srgbClr val="FFFFFF">
              <a:alpha val="8235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0193840" y="709560"/>
            <a:ext cx="3482280" cy="348192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0691360" y="1207080"/>
            <a:ext cx="2487240" cy="2507760"/>
          </a:xfrm>
          <a:prstGeom prst="roundRect">
            <a:avLst>
              <a:gd fmla="val 124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64200" y="1953360"/>
            <a:ext cx="1141920" cy="101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1536840" y="322344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6" name="Google Shape;11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3920" y="335052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7" name="Google Shape;11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3560" y="403200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" name="Google Shape;11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0120" y="364428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" name="Google Shape;11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5720" y="336312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0" name="Google Shape;12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89200" y="347472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1" name="Google Shape;121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89200" y="3826800"/>
            <a:ext cx="60696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2" name="Google Shape;122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44880" y="3644280"/>
            <a:ext cx="55080" cy="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1371600" y="3048120"/>
            <a:ext cx="21642480" cy="124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371600" y="2851200"/>
            <a:ext cx="2223504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Let's get to know </a:t>
            </a:r>
            <a:r>
              <a:rPr b="0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each other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676840"/>
            <a:ext cx="24386040" cy="8038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1600" y="1590840"/>
            <a:ext cx="837360" cy="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20220840" y="149616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47920" y="162324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5" name="Google Shape;13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57560" y="230472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6" name="Google Shape;13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34120" y="191700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7" name="Google Shape;13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99720" y="163584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8" name="Google Shape;138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473200" y="174744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9" name="Google Shape;139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473200" y="2099880"/>
            <a:ext cx="60696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0" name="Google Shape;140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628880" y="1917000"/>
            <a:ext cx="55080" cy="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D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20" y="294120"/>
            <a:ext cx="13436280" cy="13415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3560" y="0"/>
            <a:ext cx="1219248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12943080" y="3875040"/>
            <a:ext cx="1127376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Cine sunt eu?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2943080" y="5501880"/>
            <a:ext cx="11206080" cy="162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>
                <a:latin typeface="Asap"/>
                <a:ea typeface="Asap"/>
                <a:cs typeface="Asap"/>
                <a:sym typeface="Asap"/>
              </a:rPr>
              <a:t>Tripcea Alexandra</a:t>
            </a:r>
            <a:endParaRPr b="0" i="0" sz="6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t/>
            </a:r>
            <a:endParaRPr b="0" i="0" sz="6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descr=" "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84200" y="2212920"/>
            <a:ext cx="3552840" cy="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13082760" y="7891560"/>
            <a:ext cx="10710720" cy="504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ML Engineer </a:t>
            </a:r>
            <a:r>
              <a:rPr b="0" i="0" lang="en-US" sz="4000" u="none" cap="none" strike="noStrike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@ </a:t>
            </a:r>
            <a:r>
              <a:rPr lang="en-US" sz="4000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Qualcomm</a:t>
            </a:r>
            <a:endParaRPr b="0" i="0" sz="4000" u="none" cap="none" strike="noStrike">
              <a:solidFill>
                <a:schemeClr val="dk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Trainer @ IT School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0220840" y="206784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3" name="Google Shape;15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47920" y="219492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4" name="Google Shape;15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57560" y="287640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5" name="Google Shape;15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34120" y="248832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6" name="Google Shape;15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99720" y="220752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7" name="Google Shape;1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473200" y="231912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8" name="Google Shape;1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473200" y="267120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9" name="Google Shape;1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628880" y="2488680"/>
            <a:ext cx="55080" cy="5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5" title="e2f4a0ef-bb4f-4559-8f5b-0b48041f4810.jfif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05525" y="1451788"/>
            <a:ext cx="10315250" cy="1081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1371600" y="3048120"/>
            <a:ext cx="21642480" cy="124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371600" y="3175200"/>
            <a:ext cx="2223504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0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What about</a:t>
            </a: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you?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676840"/>
            <a:ext cx="24386040" cy="8038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0" name="Google Shape;17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4160" y="1590840"/>
            <a:ext cx="732600" cy="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20093760" y="1369440"/>
            <a:ext cx="2844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0220840" y="149616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47920" y="162324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4" name="Google Shape;1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57560" y="230472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5" name="Google Shape;17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34120" y="191700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6" name="Google Shape;17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99720" y="163584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7" name="Google Shape;17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473200" y="174744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8" name="Google Shape;17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473200" y="209988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9" name="Google Shape;17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628880" y="1917000"/>
            <a:ext cx="55080" cy="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12041280" y="5181480"/>
            <a:ext cx="1112544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2041280" y="51814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01 De unde ești?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2041280" y="60958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02 Care este experiența ta profesională?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2041280" y="70102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03 Ai mai interacționat până în prezent cu ...?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2041280" y="79246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04 Care este motivația ta pentru acest curs?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2041280" y="88390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05 Care sunt așteptările tale?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2041280" y="97534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06 Interese, pasiuni, hobby-uri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663920" y="5727600"/>
            <a:ext cx="11206080" cy="343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Arial"/>
              <a:buNone/>
            </a:pPr>
            <a:r>
              <a:rPr b="0" i="0" lang="en-US" sz="12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What </a:t>
            </a:r>
            <a:r>
              <a:rPr b="1" i="0" lang="en-US" sz="12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about you?</a:t>
            </a:r>
            <a:endParaRPr b="0" i="0" sz="1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9509480" y="25560"/>
            <a:ext cx="4851000" cy="4850280"/>
          </a:xfrm>
          <a:prstGeom prst="ellipse">
            <a:avLst/>
          </a:prstGeom>
          <a:solidFill>
            <a:srgbClr val="FFFFFF">
              <a:alpha val="8235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0193840" y="709560"/>
            <a:ext cx="3482280" cy="348192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0691360" y="1207080"/>
            <a:ext cx="2487240" cy="2378520"/>
          </a:xfrm>
          <a:prstGeom prst="roundRect">
            <a:avLst>
              <a:gd fmla="val 1306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97" name="Google Shape;1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18000" y="1953360"/>
            <a:ext cx="633960" cy="88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1536840" y="322344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99" name="Google Shape;1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3920" y="335052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0" name="Google Shape;20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3560" y="403200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1" name="Google Shape;20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0120" y="364428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2" name="Google Shape;20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5720" y="336312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3" name="Google Shape;20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89200" y="347472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4" name="Google Shape;204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89200" y="382680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5" name="Google Shape;20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44880" y="3644280"/>
            <a:ext cx="55080" cy="5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6" name="Google Shape;206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72640" y="8281080"/>
            <a:ext cx="4254120" cy="147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/>
        </p:nvSpPr>
        <p:spPr>
          <a:xfrm>
            <a:off x="1371600" y="3048120"/>
            <a:ext cx="21642480" cy="124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371600" y="2995200"/>
            <a:ext cx="2223504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Prezentarea</a:t>
            </a:r>
            <a:r>
              <a:rPr b="0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cursului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676840"/>
            <a:ext cx="24386040" cy="8038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6" name="Google Shape;21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3320" y="1643400"/>
            <a:ext cx="1046880" cy="73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20220840" y="149616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8" name="Google Shape;21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47920" y="162324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9" name="Google Shape;21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57560" y="230472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" name="Google Shape;22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34120" y="191700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" name="Google Shape;22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99720" y="163584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2" name="Google Shape;22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473200" y="174744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3" name="Google Shape;22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473200" y="2099880"/>
            <a:ext cx="60696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4" name="Google Shape;22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628880" y="1917000"/>
            <a:ext cx="55080" cy="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0" name="Google Shape;2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1" name="Google Shape;23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040" y="0"/>
            <a:ext cx="20862000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1120" y="0"/>
            <a:ext cx="15964920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" name="Google Shape;23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7725" y="2349348"/>
            <a:ext cx="12637075" cy="1107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10034280" y="3619440"/>
            <a:ext cx="11442960" cy="28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0034280" y="3571200"/>
            <a:ext cx="10874880" cy="29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Ce vom face </a:t>
            </a:r>
            <a:r>
              <a:rPr b="1" i="0" lang="en-US" sz="96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împreună?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0034280" y="7102482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01 </a:t>
            </a:r>
            <a:r>
              <a:rPr b="0" i="0" lang="en-US" sz="35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Limbajul</a:t>
            </a:r>
            <a:endParaRPr sz="3500"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– </a:t>
            </a:r>
            <a:r>
              <a:rPr lang="en-US" sz="3500">
                <a:latin typeface="Asap Medium"/>
                <a:ea typeface="Asap Medium"/>
                <a:cs typeface="Asap Medium"/>
                <a:sym typeface="Asap Medium"/>
              </a:rPr>
              <a:t>Python 3</a:t>
            </a:r>
            <a:endParaRPr sz="3500"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0034280" y="8952672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n-US" sz="3500" u="none" cap="none" strike="noStrike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02 Ce alte tehnologii vom studia?</a:t>
            </a:r>
            <a:endParaRPr i="0" sz="3500" u="none" cap="none" strike="noStrike">
              <a:solidFill>
                <a:schemeClr val="dk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– NumPy, Pandas (manipulare date)</a:t>
            </a:r>
            <a:endParaRPr sz="3500">
              <a:solidFill>
                <a:schemeClr val="dk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– Scikit-learn, PyTorch (algoritmi &amp; rețele neuronale)</a:t>
            </a:r>
            <a:endParaRPr sz="3500">
              <a:solidFill>
                <a:schemeClr val="dk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Asap Medium"/>
                <a:ea typeface="Asap Medium"/>
                <a:cs typeface="Asap Medium"/>
                <a:sym typeface="Asap Medium"/>
              </a:rPr>
              <a:t>– Hugging Face Transformers (LLM)</a:t>
            </a:r>
            <a:endParaRPr sz="3500">
              <a:solidFill>
                <a:schemeClr val="dk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descr=" " id="238" name="Google Shape;23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72437040" y="-121704120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2324520" y="102636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0" name="Google Shape;24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1240" y="115344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1" name="Google Shape;241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60880" y="183492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37800" y="144720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03040" y="116604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76520" y="127764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76520" y="1629720"/>
            <a:ext cx="60696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" name="Google Shape;246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32200" y="1447200"/>
            <a:ext cx="55080" cy="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2" name="Google Shape;252;g381bafe8315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3" name="Google Shape;253;g381bafe8315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040" y="0"/>
            <a:ext cx="20862001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4" name="Google Shape;254;g381bafe8315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1120" y="0"/>
            <a:ext cx="15964921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5" name="Google Shape;255;g381bafe8315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7725" y="2349348"/>
            <a:ext cx="12637075" cy="1107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81bafe8315_0_2"/>
          <p:cNvSpPr/>
          <p:nvPr/>
        </p:nvSpPr>
        <p:spPr>
          <a:xfrm>
            <a:off x="10034280" y="3619440"/>
            <a:ext cx="11442900" cy="28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81bafe8315_0_2"/>
          <p:cNvSpPr/>
          <p:nvPr/>
        </p:nvSpPr>
        <p:spPr>
          <a:xfrm>
            <a:off x="10034280" y="3571200"/>
            <a:ext cx="108750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Ce vom face </a:t>
            </a:r>
            <a:r>
              <a:rPr b="1" i="0" lang="en-US" sz="96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împreună?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81bafe8315_0_2"/>
          <p:cNvSpPr/>
          <p:nvPr/>
        </p:nvSpPr>
        <p:spPr>
          <a:xfrm>
            <a:off x="9968767" y="10621062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Obiectivul general</a:t>
            </a:r>
            <a:endParaRPr b="1" i="0" sz="40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latin typeface="Asap"/>
                <a:ea typeface="Asap"/>
                <a:cs typeface="Asap"/>
                <a:sym typeface="Asap"/>
              </a:rPr>
              <a:t>Să dobândim experiență practică end-to-end în dezvoltarea, deploy-ul și monitorizarea modelelor ML.</a:t>
            </a:r>
            <a:endParaRPr b="1" sz="3200"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descr=" " id="259" name="Google Shape;259;g381bafe8315_0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72437040" y="-121704120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81bafe8315_0_2"/>
          <p:cNvSpPr/>
          <p:nvPr/>
        </p:nvSpPr>
        <p:spPr>
          <a:xfrm>
            <a:off x="2324520" y="1026360"/>
            <a:ext cx="25902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61" name="Google Shape;261;g381bafe8315_0_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1240" y="115344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2" name="Google Shape;262;g381bafe8315_0_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60880" y="183492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" name="Google Shape;263;g381bafe8315_0_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37800" y="144720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g381bafe8315_0_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03040" y="116604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5" name="Google Shape;265;g381bafe8315_0_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76520" y="127764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6" name="Google Shape;266;g381bafe8315_0_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76520" y="1629720"/>
            <a:ext cx="60696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" name="Google Shape;267;g381bafe8315_0_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32200" y="1447200"/>
            <a:ext cx="55080" cy="550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81bafe8315_0_2"/>
          <p:cNvSpPr/>
          <p:nvPr/>
        </p:nvSpPr>
        <p:spPr>
          <a:xfrm>
            <a:off x="9968767" y="6596111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n-US" sz="35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03 Ce tool-uri vom folosi?</a:t>
            </a:r>
            <a:endParaRPr i="0" sz="35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– Git (versionare cod &amp; date)</a:t>
            </a:r>
            <a:endParaRPr sz="35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– Docker &amp; MLflow (containerizare &amp; experiment tracking)</a:t>
            </a:r>
            <a:endParaRPr sz="35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– Prometheus + Grafana (monitorizare &amp; vizualizare metrici)</a:t>
            </a:r>
            <a:endParaRPr sz="3500"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1371600" y="3048120"/>
            <a:ext cx="21642480" cy="124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371600" y="3067200"/>
            <a:ext cx="2223504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Regulile </a:t>
            </a:r>
            <a:r>
              <a:rPr b="0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comunității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77" name="Google Shape;2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676840"/>
            <a:ext cx="24386040" cy="8038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8" name="Google Shape;27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7880" y="1669320"/>
            <a:ext cx="811080" cy="68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0"/>
          <p:cNvSpPr/>
          <p:nvPr/>
        </p:nvSpPr>
        <p:spPr>
          <a:xfrm>
            <a:off x="20220840" y="149616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80" name="Google Shape;28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47920" y="162324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1" name="Google Shape;28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57560" y="230472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2" name="Google Shape;28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34120" y="191700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3" name="Google Shape;28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99720" y="163584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4" name="Google Shape;28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473200" y="174744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5" name="Google Shape;28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473200" y="209988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6" name="Google Shape;28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628880" y="1917000"/>
            <a:ext cx="55080" cy="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2" name="Google Shape;2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/>
          <p:nvPr/>
        </p:nvSpPr>
        <p:spPr>
          <a:xfrm>
            <a:off x="12041280" y="3200400"/>
            <a:ext cx="11125440" cy="888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2041280" y="320040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01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Nu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 ne judecăm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2041280" y="411480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02 Nicio întrebare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nu este greșită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2041280" y="502920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03 </a:t>
            </a:r>
            <a:r>
              <a:rPr lang="en-US" sz="4000">
                <a:latin typeface="Asap Medium"/>
                <a:ea typeface="Asap Medium"/>
                <a:cs typeface="Asap Medium"/>
                <a:sym typeface="Asap Medium"/>
              </a:rPr>
              <a:t>Camera </a:t>
            </a:r>
            <a:r>
              <a:rPr b="1" lang="en-US" sz="4000">
                <a:latin typeface="Asap"/>
                <a:ea typeface="Asap"/>
                <a:cs typeface="Asap"/>
                <a:sym typeface="Asap"/>
              </a:rPr>
              <a:t>pornită</a:t>
            </a:r>
            <a:endParaRPr b="1" i="0" sz="4000" u="none" cap="none" strike="noStrike">
              <a:solidFill>
                <a:srgbClr val="000000"/>
              </a:solidFill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12041280" y="594360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04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Raise hand :)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2041280" y="685800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05 Comunicăm pe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Discord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2041280" y="7772400"/>
            <a:ext cx="11295000" cy="113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06 Ce poți face dacă întârzii? Dar dacă nu poți      participa la curs?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2041280" y="929628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07 Teme / proiecte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2041280" y="10210680"/>
            <a:ext cx="11295000" cy="113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08 Elemente organizatorice (non-tehnice) office@...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2041280" y="11734560"/>
            <a:ext cx="1129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09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Examenul și proiectul final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663920" y="5727600"/>
            <a:ext cx="11206080" cy="343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Arial"/>
              <a:buNone/>
            </a:pPr>
            <a:r>
              <a:rPr b="0" i="0" lang="en-US" sz="12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Desfășurare</a:t>
            </a:r>
            <a:endParaRPr b="0" i="0" sz="1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Arial"/>
              <a:buNone/>
            </a:pPr>
            <a:r>
              <a:rPr b="1" i="0" lang="en-US" sz="12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curs</a:t>
            </a:r>
            <a:endParaRPr b="0" i="0" sz="1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9509480" y="25560"/>
            <a:ext cx="4851000" cy="4850280"/>
          </a:xfrm>
          <a:prstGeom prst="ellipse">
            <a:avLst/>
          </a:prstGeom>
          <a:solidFill>
            <a:srgbClr val="FFFFFF">
              <a:alpha val="8235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20193840" y="709560"/>
            <a:ext cx="3482280" cy="348192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20691720" y="1207080"/>
            <a:ext cx="2487240" cy="2378520"/>
          </a:xfrm>
          <a:prstGeom prst="roundRect">
            <a:avLst>
              <a:gd fmla="val 1306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7" name="Google Shape;3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18000" y="1953360"/>
            <a:ext cx="633960" cy="885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8" name="Google Shape;30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3920" y="335052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9" name="Google Shape;30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3560" y="403200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0" name="Google Shape;31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0120" y="364428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1" name="Google Shape;31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5720" y="336312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2" name="Google Shape;312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89200" y="347472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3" name="Google Shape;313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89200" y="382680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4" name="Google Shape;314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44880" y="3644280"/>
            <a:ext cx="55080" cy="5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5" name="Google Shape;315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77280" y="8379720"/>
            <a:ext cx="4749480" cy="147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1" name="Google Shape;3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3"/>
          <p:cNvSpPr/>
          <p:nvPr/>
        </p:nvSpPr>
        <p:spPr>
          <a:xfrm>
            <a:off x="1244880" y="2921040"/>
            <a:ext cx="21896280" cy="14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371600" y="3048120"/>
            <a:ext cx="21642480" cy="124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371600" y="3211200"/>
            <a:ext cx="2223504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0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Ecosistemul </a:t>
            </a: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IT School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5" name="Google Shape;3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" y="5683320"/>
            <a:ext cx="24386040" cy="8038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6" name="Google Shape;32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61560" y="7556400"/>
            <a:ext cx="8636040" cy="6158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7" name="Google Shape;32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6240" y="1591920"/>
            <a:ext cx="837360" cy="83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8" name="Google Shape;32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2680" y="8001000"/>
            <a:ext cx="9209880" cy="3402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9" name="Google Shape;32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73000" y="10677960"/>
            <a:ext cx="5797800" cy="543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0" name="Google Shape;33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10920" y="9149040"/>
            <a:ext cx="7859880" cy="1123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1" name="Google Shape;33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63240" y="8042040"/>
            <a:ext cx="1373760" cy="98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2" name="Google Shape;33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76240" y="8481240"/>
            <a:ext cx="2396160" cy="1053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3" name="Google Shape;33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76240" y="9869400"/>
            <a:ext cx="2396160" cy="1053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4" name="Google Shape;33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571880" y="9149760"/>
            <a:ext cx="220680" cy="219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40" name="Google Shape;3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6040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1" name="Google Shape;3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040" y="0"/>
            <a:ext cx="20862001" cy="13714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2" name="Google Shape;34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1120" y="0"/>
            <a:ext cx="1596492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4"/>
          <p:cNvSpPr/>
          <p:nvPr/>
        </p:nvSpPr>
        <p:spPr>
          <a:xfrm>
            <a:off x="1244880" y="2921040"/>
            <a:ext cx="21896280" cy="14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371600" y="3048120"/>
            <a:ext cx="21642480" cy="124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1076025" y="6435740"/>
            <a:ext cx="222351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Proiecte</a:t>
            </a:r>
            <a:endParaRPr b="0" i="0" sz="96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IT School 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4708520" y="139464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47" name="Google Shape;34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35600" y="152172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8" name="Google Shape;34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44880" y="220320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9" name="Google Shape;34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121800" y="181548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0" name="Google Shape;35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87040" y="153432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1" name="Google Shape;35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60520" y="164592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960520" y="1998000"/>
            <a:ext cx="60696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3" name="Google Shape;35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116200" y="1815480"/>
            <a:ext cx="55080" cy="5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4" name="Google Shape;35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44870" y="3833390"/>
            <a:ext cx="627480" cy="83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5" name="Google Shape;355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70360" y="4851360"/>
            <a:ext cx="6590880" cy="8863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6" name="Google Shape;35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457680" y="4851360"/>
            <a:ext cx="6590880" cy="886356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4"/>
          <p:cNvSpPr/>
          <p:nvPr/>
        </p:nvSpPr>
        <p:spPr>
          <a:xfrm>
            <a:off x="1956240" y="5842080"/>
            <a:ext cx="5435280" cy="1103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t/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9047880" y="12192120"/>
            <a:ext cx="5248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9DFF"/>
                </a:solidFill>
                <a:latin typeface="Asap Medium"/>
                <a:ea typeface="Asap Medium"/>
                <a:cs typeface="Asap Medium"/>
                <a:sym typeface="Asap Medium"/>
              </a:rPr>
              <a:t>juniors.ro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6135200" y="12192120"/>
            <a:ext cx="5248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9DFF"/>
                </a:solidFill>
                <a:latin typeface="Asap Medium"/>
                <a:ea typeface="Asap Medium"/>
                <a:cs typeface="Asap Medium"/>
                <a:sym typeface="Asap Medium"/>
              </a:rPr>
              <a:t>techevents.ro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9132480" y="5842080"/>
            <a:ext cx="5079600" cy="58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8980200" y="5842080"/>
            <a:ext cx="5435280" cy="21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Joburi Entry-level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2" name="Google Shape;362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75000" y="10756800"/>
            <a:ext cx="3994200" cy="931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3" name="Google Shape;363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822600" y="10758600"/>
            <a:ext cx="368640" cy="44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4" name="Google Shape;364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822240" y="11203560"/>
            <a:ext cx="369000" cy="443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5" name="Google Shape;365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783080" y="10989720"/>
            <a:ext cx="510120" cy="5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6" name="Google Shape;366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408400" y="10982160"/>
            <a:ext cx="519120" cy="515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7" name="Google Shape;367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2261600" y="10983960"/>
            <a:ext cx="556200" cy="52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8" name="Google Shape;368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2889800" y="10982160"/>
            <a:ext cx="327960" cy="515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4"/>
          <p:cNvSpPr/>
          <p:nvPr/>
        </p:nvSpPr>
        <p:spPr>
          <a:xfrm>
            <a:off x="15991200" y="5842080"/>
            <a:ext cx="5675040" cy="1103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Networking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70" name="Google Shape;370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978600" y="10578960"/>
            <a:ext cx="5320800" cy="109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1" name="Google Shape;371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7150040" y="11004480"/>
            <a:ext cx="357120" cy="57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2" name="Google Shape;372;p1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7510040" y="11151360"/>
            <a:ext cx="438480" cy="438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3" name="Google Shape;373;p1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8005400" y="11151360"/>
            <a:ext cx="391320" cy="439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4" name="Google Shape;374;p1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8459000" y="11004480"/>
            <a:ext cx="345600" cy="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5" name="Google Shape;375;p1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8934200" y="11005920"/>
            <a:ext cx="316800" cy="57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9288800" y="11149920"/>
            <a:ext cx="417600" cy="43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7" name="Google Shape;377;p1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9721880" y="11151360"/>
            <a:ext cx="438480" cy="438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8" name="Google Shape;378;p1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0241000" y="11149920"/>
            <a:ext cx="345600" cy="43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9" name="Google Shape;379;p1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20640600" y="11005920"/>
            <a:ext cx="204480" cy="57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0" name="Google Shape;380;p14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0905560" y="11143440"/>
            <a:ext cx="30636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1" name="Google Shape;381;p1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6116480" y="10611360"/>
            <a:ext cx="935640" cy="977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2" name="Google Shape;382;p14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6326720" y="11002320"/>
            <a:ext cx="102240" cy="102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3" name="Google Shape;383;p14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6533000" y="11002320"/>
            <a:ext cx="102240" cy="102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4" name="Google Shape;384;p14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6738920" y="11002320"/>
            <a:ext cx="102240" cy="10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466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0" name="Google Shape;3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20" y="294120"/>
            <a:ext cx="13436280" cy="13415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5"/>
          <p:cNvSpPr/>
          <p:nvPr/>
        </p:nvSpPr>
        <p:spPr>
          <a:xfrm>
            <a:off x="1829160" y="988200"/>
            <a:ext cx="2590200" cy="112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92" name="Google Shape;3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880" y="1115280"/>
            <a:ext cx="2336040" cy="86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3" name="Google Shape;39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5520" y="1796760"/>
            <a:ext cx="147024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4" name="Google Shape;39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42440" y="1409040"/>
            <a:ext cx="199368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5" name="Google Shape;39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7680" y="1127880"/>
            <a:ext cx="347760" cy="24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6" name="Google Shape;39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1160" y="1239480"/>
            <a:ext cx="60732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7" name="Google Shape;39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1160" y="1591920"/>
            <a:ext cx="60696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8" name="Google Shape;39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36840" y="1409040"/>
            <a:ext cx="55080" cy="5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9" name="Google Shape;39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193560" y="0"/>
            <a:ext cx="12192480" cy="13714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5"/>
          <p:cNvSpPr/>
          <p:nvPr/>
        </p:nvSpPr>
        <p:spPr>
          <a:xfrm>
            <a:off x="16054920" y="6502320"/>
            <a:ext cx="4110120" cy="18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b="1" i="0" lang="en-US" sz="140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Q&amp;A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01" name="Google Shape;40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289000" y="5133960"/>
            <a:ext cx="1047600" cy="83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2" name="Google Shape;40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55880" y="2527200"/>
            <a:ext cx="8534520" cy="893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