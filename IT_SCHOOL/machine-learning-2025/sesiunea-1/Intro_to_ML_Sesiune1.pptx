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Play"/>
      <p:regular r:id="rId28"/>
      <p:bold r:id="rId29"/>
    </p:embeddedFont>
    <p:embeddedFont>
      <p:font typeface="Asap SemiBold"/>
      <p:regular r:id="rId30"/>
      <p:bold r:id="rId31"/>
      <p:italic r:id="rId32"/>
      <p:boldItalic r:id="rId33"/>
    </p:embeddedFont>
    <p:embeddedFont>
      <p:font typeface="Asap"/>
      <p:regular r:id="rId34"/>
      <p:bold r:id="rId35"/>
      <p:italic r:id="rId36"/>
      <p:boldItalic r:id="rId37"/>
    </p:embeddedFont>
    <p:embeddedFont>
      <p:font typeface="Asap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2" roundtripDataSignature="AMtx7mhIEvq+pPGr/xdEJFA1Op58ir1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sapMedium-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AsapMedium-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sapSemiBold-bold.fntdata"/><Relationship Id="rId30" Type="http://schemas.openxmlformats.org/officeDocument/2006/relationships/font" Target="fonts/AsapSemiBold-regular.fntdata"/><Relationship Id="rId11" Type="http://schemas.openxmlformats.org/officeDocument/2006/relationships/slide" Target="slides/slide6.xml"/><Relationship Id="rId33" Type="http://schemas.openxmlformats.org/officeDocument/2006/relationships/font" Target="fonts/AsapSemiBold-boldItalic.fntdata"/><Relationship Id="rId10" Type="http://schemas.openxmlformats.org/officeDocument/2006/relationships/slide" Target="slides/slide5.xml"/><Relationship Id="rId32" Type="http://schemas.openxmlformats.org/officeDocument/2006/relationships/font" Target="fonts/AsapSemiBold-italic.fntdata"/><Relationship Id="rId13" Type="http://schemas.openxmlformats.org/officeDocument/2006/relationships/slide" Target="slides/slide8.xml"/><Relationship Id="rId35" Type="http://schemas.openxmlformats.org/officeDocument/2006/relationships/font" Target="fonts/Asap-bold.fntdata"/><Relationship Id="rId12" Type="http://schemas.openxmlformats.org/officeDocument/2006/relationships/slide" Target="slides/slide7.xml"/><Relationship Id="rId34" Type="http://schemas.openxmlformats.org/officeDocument/2006/relationships/font" Target="fonts/Asap-regular.fntdata"/><Relationship Id="rId15" Type="http://schemas.openxmlformats.org/officeDocument/2006/relationships/slide" Target="slides/slide10.xml"/><Relationship Id="rId37" Type="http://schemas.openxmlformats.org/officeDocument/2006/relationships/font" Target="fonts/Asap-boldItalic.fntdata"/><Relationship Id="rId14" Type="http://schemas.openxmlformats.org/officeDocument/2006/relationships/slide" Target="slides/slide9.xml"/><Relationship Id="rId36" Type="http://schemas.openxmlformats.org/officeDocument/2006/relationships/font" Target="fonts/Asap-italic.fntdata"/><Relationship Id="rId17" Type="http://schemas.openxmlformats.org/officeDocument/2006/relationships/slide" Target="slides/slide12.xml"/><Relationship Id="rId39" Type="http://schemas.openxmlformats.org/officeDocument/2006/relationships/font" Target="fonts/AsapMedium-bold.fntdata"/><Relationship Id="rId16" Type="http://schemas.openxmlformats.org/officeDocument/2006/relationships/slide" Target="slides/slide11.xml"/><Relationship Id="rId38" Type="http://schemas.openxmlformats.org/officeDocument/2006/relationships/font" Target="fonts/Asap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fcbf7b890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7fcbf7b890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a:p>
        </p:txBody>
      </p:sp>
      <p:sp>
        <p:nvSpPr>
          <p:cNvPr id="90" name="Google Shape;90;g37fcbf7b890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400"/>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t>Inteligența Artificială (AI)</a:t>
            </a:r>
            <a:br>
              <a:rPr b="1" lang="en-US" sz="1100"/>
            </a:br>
            <a:r>
              <a:rPr lang="en-US" sz="1100"/>
              <a:t> Orice sistem (software sau hardware) care încearcă să </a:t>
            </a:r>
            <a:r>
              <a:rPr b="1" lang="en-US" sz="1100"/>
              <a:t>simuleze sau să imite comportamente considerate “inteligente”</a:t>
            </a:r>
            <a:r>
              <a:rPr lang="en-US" sz="1100"/>
              <a:t> la oameni: raționament, planificare, recunoaștere a vorbirii, luare de decizii.</a:t>
            </a:r>
            <a:endParaRPr sz="1100"/>
          </a:p>
          <a:p>
            <a:pPr indent="-298450" lvl="0" marL="457200" rtl="0" algn="l">
              <a:lnSpc>
                <a:spcPct val="115000"/>
              </a:lnSpc>
              <a:spcBef>
                <a:spcPts val="1200"/>
              </a:spcBef>
              <a:spcAft>
                <a:spcPts val="0"/>
              </a:spcAft>
              <a:buClr>
                <a:schemeClr val="dk1"/>
              </a:buClr>
              <a:buSzPts val="1100"/>
              <a:buChar char="●"/>
            </a:pPr>
            <a:r>
              <a:rPr b="1" lang="en-US" sz="1100"/>
              <a:t>Exemplu:</a:t>
            </a:r>
            <a:r>
              <a:rPr lang="en-US" sz="1100"/>
              <a:t> Un chatbot care răspunde la întrebări bazându-se pe reguli logice prestabilite</a:t>
            </a:r>
            <a:endParaRPr sz="1100"/>
          </a:p>
          <a:p>
            <a:pPr indent="0" lvl="0" marL="0" rtl="0" algn="l">
              <a:lnSpc>
                <a:spcPct val="115000"/>
              </a:lnSpc>
              <a:spcBef>
                <a:spcPts val="1200"/>
              </a:spcBef>
              <a:spcAft>
                <a:spcPts val="0"/>
              </a:spcAft>
              <a:buClr>
                <a:schemeClr val="dk1"/>
              </a:buClr>
              <a:buSzPts val="1100"/>
              <a:buFont typeface="Arial"/>
              <a:buNone/>
            </a:pPr>
            <a:r>
              <a:rPr b="1" lang="en-US" sz="1100"/>
              <a:t>Învățarea Automată (ML)</a:t>
            </a:r>
            <a:br>
              <a:rPr b="1" lang="en-US" sz="1100"/>
            </a:br>
            <a:r>
              <a:rPr lang="en-US" sz="1100"/>
              <a:t> Subdomeniu al AI în care </a:t>
            </a:r>
            <a:r>
              <a:rPr b="1" lang="en-US" sz="1100"/>
              <a:t>sistemele „învață” direct din date</a:t>
            </a:r>
            <a:r>
              <a:rPr lang="en-US" sz="1100"/>
              <a:t>, fără a fi programate explicit pentru fiecare situație. Ele extrag pattern-uri statistice și își modifică comportamentul pe măsură ce primesc mai multe exemple.</a:t>
            </a:r>
            <a:endParaRPr sz="1100"/>
          </a:p>
          <a:p>
            <a:pPr indent="-298450" lvl="0" marL="457200" rtl="0" algn="l">
              <a:lnSpc>
                <a:spcPct val="115000"/>
              </a:lnSpc>
              <a:spcBef>
                <a:spcPts val="1200"/>
              </a:spcBef>
              <a:spcAft>
                <a:spcPts val="0"/>
              </a:spcAft>
              <a:buClr>
                <a:schemeClr val="dk1"/>
              </a:buClr>
              <a:buSzPts val="1100"/>
              <a:buChar char="●"/>
            </a:pPr>
            <a:r>
              <a:rPr b="1" lang="en-US" sz="1100"/>
              <a:t>Exemplu:</a:t>
            </a:r>
            <a:r>
              <a:rPr lang="en-US" sz="1100"/>
              <a:t> Un model care, primind sute de e-mailuri etichetate “spam” sau “non-spam”, învață să filtreze mesajele nedorite.</a:t>
            </a:r>
            <a:endParaRPr sz="1100"/>
          </a:p>
          <a:p>
            <a:pPr indent="0" lvl="0" marL="0" rtl="0" algn="l">
              <a:lnSpc>
                <a:spcPct val="115000"/>
              </a:lnSpc>
              <a:spcBef>
                <a:spcPts val="1200"/>
              </a:spcBef>
              <a:spcAft>
                <a:spcPts val="0"/>
              </a:spcAft>
              <a:buClr>
                <a:schemeClr val="dk1"/>
              </a:buClr>
              <a:buSzPts val="1100"/>
              <a:buFont typeface="Arial"/>
              <a:buNone/>
            </a:pPr>
            <a:r>
              <a:rPr b="1" lang="en-US" sz="1100"/>
              <a:t>Deep Learning (DL)</a:t>
            </a:r>
            <a:br>
              <a:rPr b="1" lang="en-US" sz="1100"/>
            </a:br>
            <a:r>
              <a:rPr lang="en-US" sz="1100"/>
              <a:t> Ramură a ML care folosește </a:t>
            </a:r>
            <a:r>
              <a:rPr b="1" lang="en-US" sz="1100"/>
              <a:t>rețele neuronale artificiale cu multe straturi</a:t>
            </a:r>
            <a:r>
              <a:rPr lang="en-US" sz="1100"/>
              <a:t> (layers) pentru a învăța reprezentări complexe ale datelor (imagini, sunet, text).</a:t>
            </a:r>
            <a:endParaRPr sz="1100"/>
          </a:p>
          <a:p>
            <a:pPr indent="-298450" lvl="0" marL="457200" rtl="0" algn="l">
              <a:lnSpc>
                <a:spcPct val="115000"/>
              </a:lnSpc>
              <a:spcBef>
                <a:spcPts val="1200"/>
              </a:spcBef>
              <a:spcAft>
                <a:spcPts val="0"/>
              </a:spcAft>
              <a:buClr>
                <a:schemeClr val="dk1"/>
              </a:buClr>
              <a:buSzPts val="1100"/>
              <a:buChar char="●"/>
            </a:pPr>
            <a:r>
              <a:rPr b="1" lang="en-US" sz="1100"/>
              <a:t>Exemplu:</a:t>
            </a:r>
            <a:r>
              <a:rPr lang="en-US" sz="1100"/>
              <a:t> Un CNN (Convolutional Neural Network) care recunoaște obiecte în fotografii și le clasifică cu precizie mare.</a:t>
            </a:r>
            <a:endParaRPr sz="1100"/>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4514fc5ec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84514fc5ec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Clr>
                <a:schemeClr val="dk1"/>
              </a:buClr>
              <a:buSzPts val="1100"/>
              <a:buFont typeface="Arial"/>
              <a:buNone/>
            </a:pPr>
            <a:r>
              <a:rPr lang="en-US" sz="1100"/>
              <a:t>La inceput ne bazam exclusiv pe reguli scrise de programatori. Se numea AI clasic sau symbolic AI.</a:t>
            </a:r>
            <a:endParaRPr sz="1100"/>
          </a:p>
          <a:p>
            <a:pPr indent="0" lvl="0" marL="0" rtl="0" algn="l">
              <a:lnSpc>
                <a:spcPct val="100000"/>
              </a:lnSpc>
              <a:spcBef>
                <a:spcPts val="0"/>
              </a:spcBef>
              <a:spcAft>
                <a:spcPts val="0"/>
              </a:spcAft>
              <a:buSzPts val="1400"/>
              <a:buNone/>
            </a:pPr>
            <a:r>
              <a:t/>
            </a:r>
            <a:endParaRPr/>
          </a:p>
        </p:txBody>
      </p:sp>
      <p:sp>
        <p:nvSpPr>
          <p:cNvPr id="126" name="Google Shape;126;g384514fc5ec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4514fc5ec_0_1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84514fc5ec_0_1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Clr>
                <a:schemeClr val="dk1"/>
              </a:buClr>
              <a:buSzPts val="1100"/>
              <a:buFont typeface="Arial"/>
              <a:buNone/>
            </a:pPr>
            <a:r>
              <a:rPr lang="en-US" sz="1100"/>
              <a:t>Deep Blue nu avea nicio rețea neuronală, niciun mecanism de învățare. În spate erau:</a:t>
            </a:r>
            <a:endParaRPr sz="1100"/>
          </a:p>
          <a:p>
            <a:pPr indent="-298450" lvl="0" marL="457200" rtl="0" algn="l">
              <a:lnSpc>
                <a:spcPct val="115000"/>
              </a:lnSpc>
              <a:spcBef>
                <a:spcPts val="1200"/>
              </a:spcBef>
              <a:spcAft>
                <a:spcPts val="0"/>
              </a:spcAft>
              <a:buClr>
                <a:schemeClr val="dk1"/>
              </a:buClr>
              <a:buSzPts val="1100"/>
              <a:buChar char="●"/>
            </a:pPr>
            <a:r>
              <a:rPr b="1" lang="en-US" sz="1100"/>
              <a:t>Brute-force</a:t>
            </a:r>
            <a:r>
              <a:rPr lang="en-US" sz="1100"/>
              <a:t>: 200 de milioane de poziții analizate pe secundă.</a:t>
            </a:r>
            <a:endParaRPr sz="1100"/>
          </a:p>
          <a:p>
            <a:pPr indent="-298450" lvl="0" marL="457200" rtl="0" algn="l">
              <a:lnSpc>
                <a:spcPct val="115000"/>
              </a:lnSpc>
              <a:spcBef>
                <a:spcPts val="0"/>
              </a:spcBef>
              <a:spcAft>
                <a:spcPts val="0"/>
              </a:spcAft>
              <a:buClr>
                <a:schemeClr val="dk1"/>
              </a:buClr>
              <a:buSzPts val="1100"/>
              <a:buChar char="●"/>
            </a:pPr>
            <a:r>
              <a:rPr b="1" lang="en-US" sz="1100"/>
              <a:t>Heuristici fixe</a:t>
            </a:r>
            <a:r>
              <a:rPr lang="en-US" sz="1100"/>
              <a:t>: fiecare piesă avea un punctaj — pion = 1, regină = 9 — și, conform acestor reguli, evaluau toate mutările posibile.</a:t>
            </a:r>
            <a:endParaRPr sz="1100"/>
          </a:p>
          <a:p>
            <a:pPr indent="0" lvl="0" marL="0" rtl="0" algn="l">
              <a:lnSpc>
                <a:spcPct val="115000"/>
              </a:lnSpc>
              <a:spcBef>
                <a:spcPts val="1200"/>
              </a:spcBef>
              <a:spcAft>
                <a:spcPts val="0"/>
              </a:spcAft>
              <a:buClr>
                <a:schemeClr val="dk1"/>
              </a:buClr>
              <a:buSzPts val="1100"/>
              <a:buFont typeface="Arial"/>
              <a:buNone/>
            </a:pPr>
            <a:r>
              <a:rPr b="1" lang="en-US" sz="1100"/>
              <a:t>De ce NU era ML</a:t>
            </a:r>
            <a:br>
              <a:rPr b="1" lang="en-US" sz="1100"/>
            </a:br>
            <a:r>
              <a:rPr lang="en-US" sz="1100"/>
              <a:t> „Dacă reluau aceeași poziție de 1.000 de ori, Deep Blue făcea aceeași mutare. Nu «învăța» nimic din partide. Era ca un GPS care știe toate drumurile, dar nu poate învăța să conducă.”</a:t>
            </a:r>
            <a:endParaRPr sz="1100"/>
          </a:p>
          <a:p>
            <a:pPr indent="0" lvl="0" marL="0" rtl="0" algn="l">
              <a:lnSpc>
                <a:spcPct val="100000"/>
              </a:lnSpc>
              <a:spcBef>
                <a:spcPts val="0"/>
              </a:spcBef>
              <a:spcAft>
                <a:spcPts val="0"/>
              </a:spcAft>
              <a:buSzPts val="1400"/>
              <a:buNone/>
            </a:pPr>
            <a:r>
              <a:t/>
            </a:r>
            <a:endParaRPr/>
          </a:p>
        </p:txBody>
      </p:sp>
      <p:sp>
        <p:nvSpPr>
          <p:cNvPr id="137" name="Google Shape;137;g384514fc5ec_0_1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4514fc5ec_0_3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84514fc5ec_0_3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rPr b="1" lang="en-US" sz="1100"/>
              <a:t>Ce s-a întâmplat</a:t>
            </a:r>
            <a:br>
              <a:rPr b="1" lang="en-US" sz="1100"/>
            </a:br>
            <a:r>
              <a:rPr lang="en-US" sz="1100"/>
              <a:t> „AlexNet, o rețea neuronală cu 8 straturi, câștigă competiția ImageNet reducând rata de eroare de la 26 % la 15 %.</a:t>
            </a:r>
            <a:endParaRPr sz="1100"/>
          </a:p>
          <a:p>
            <a:pPr indent="0" lvl="0" marL="0" rtl="0" algn="l">
              <a:spcBef>
                <a:spcPts val="0"/>
              </a:spcBef>
              <a:spcAft>
                <a:spcPts val="0"/>
              </a:spcAft>
              <a:buClr>
                <a:schemeClr val="dk1"/>
              </a:buClr>
              <a:buSzPts val="1100"/>
              <a:buFont typeface="Arial"/>
              <a:buNone/>
            </a:pPr>
            <a:r>
              <a:rPr lang="en-US" sz="1100"/>
              <a:t>ImageNet este o competitie in care avem un set de date cu imagini etichetate si scopul este sa antrenam algoritmi de recunoastere vizuala pentru a clasifica si detecta obiecte.</a:t>
            </a:r>
            <a:br>
              <a:rPr lang="en-US" sz="1100"/>
            </a:br>
            <a:r>
              <a:rPr lang="en-US" sz="1100"/>
              <a:t> Și, cel mai important, a folosit în premieră GPU-uri pentru antrenament masiv.”</a:t>
            </a:r>
            <a:br>
              <a:rPr lang="en-US" sz="1100"/>
            </a:br>
            <a:endParaRPr sz="1100"/>
          </a:p>
          <a:p>
            <a:pPr indent="0" lvl="0" marL="0" rtl="0" algn="l">
              <a:spcBef>
                <a:spcPts val="0"/>
              </a:spcBef>
              <a:spcAft>
                <a:spcPts val="0"/>
              </a:spcAft>
              <a:buSzPts val="1100"/>
              <a:buNone/>
            </a:pPr>
            <a:r>
              <a:rPr b="1" lang="en-US" sz="1100"/>
              <a:t>De ce contează</a:t>
            </a:r>
            <a:br>
              <a:rPr b="1" lang="en-US" sz="1100"/>
            </a:br>
            <a:r>
              <a:rPr lang="en-US" sz="1100"/>
              <a:t> „Până atunci, trebuia să definim manual ce să caute computerul într-o imagine — «caută linii, apoi forme rotunde pentru fețe». AlexNet a învățat singur, din 1.2 milioane de imagini, ce înseamnă «pisică», «câine» sau «mașină».</a:t>
            </a:r>
            <a:endParaRPr sz="1100"/>
          </a:p>
          <a:p>
            <a:pPr indent="0" lvl="0" marL="0" rtl="0" algn="l">
              <a:lnSpc>
                <a:spcPct val="100000"/>
              </a:lnSpc>
              <a:spcBef>
                <a:spcPts val="0"/>
              </a:spcBef>
              <a:spcAft>
                <a:spcPts val="0"/>
              </a:spcAft>
              <a:buSzPts val="1400"/>
              <a:buNone/>
            </a:pPr>
            <a:r>
              <a:t/>
            </a:r>
            <a:endParaRPr sz="1100"/>
          </a:p>
        </p:txBody>
      </p:sp>
      <p:sp>
        <p:nvSpPr>
          <p:cNvPr id="148" name="Google Shape;148;g384514fc5ec_0_3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4514fc5ec_0_4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84514fc5ec_0_4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1100"/>
          </a:p>
        </p:txBody>
      </p:sp>
      <p:sp>
        <p:nvSpPr>
          <p:cNvPr id="159" name="Google Shape;159;g384514fc5ec_0_4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4514fc5ec_0_5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84514fc5ec_0_5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rPr b="1" lang="en-US" sz="1100"/>
              <a:t>2018: BERT – focus pe înțelegerea limbajului.</a:t>
            </a:r>
            <a:endParaRPr b="1" sz="1100"/>
          </a:p>
          <a:p>
            <a:pPr indent="0" lvl="0" marL="0" rtl="0" algn="l">
              <a:spcBef>
                <a:spcPts val="0"/>
              </a:spcBef>
              <a:spcAft>
                <a:spcPts val="0"/>
              </a:spcAft>
              <a:buSzPts val="1100"/>
              <a:buNone/>
            </a:pPr>
            <a:r>
              <a:rPr b="1" lang="en-US" sz="1100"/>
              <a:t>2019: GPT-2 – generare de text realist.</a:t>
            </a:r>
            <a:endParaRPr b="1" sz="1100"/>
          </a:p>
          <a:p>
            <a:pPr indent="0" lvl="0" marL="0" rtl="0" algn="l">
              <a:spcBef>
                <a:spcPts val="0"/>
              </a:spcBef>
              <a:spcAft>
                <a:spcPts val="0"/>
              </a:spcAft>
              <a:buSzPts val="1100"/>
              <a:buNone/>
            </a:pPr>
            <a:r>
              <a:rPr b="1" lang="en-US" sz="1100"/>
              <a:t>2020: GPT-3 – 175 miliarde de parametri.</a:t>
            </a:r>
            <a:endParaRPr b="1" sz="1100"/>
          </a:p>
          <a:p>
            <a:pPr indent="0" lvl="0" marL="0" rtl="0" algn="l">
              <a:spcBef>
                <a:spcPts val="0"/>
              </a:spcBef>
              <a:spcAft>
                <a:spcPts val="0"/>
              </a:spcAft>
              <a:buSzPts val="1100"/>
              <a:buNone/>
            </a:pPr>
            <a:r>
              <a:rPr b="1" lang="en-US" sz="1100"/>
              <a:t>2022: ChatGPT – LLM-ul care a devenit viral.</a:t>
            </a:r>
            <a:endParaRPr b="1" sz="1100"/>
          </a:p>
          <a:p>
            <a:pPr indent="0" lvl="0" marL="0" rtl="0" algn="l">
              <a:spcBef>
                <a:spcPts val="0"/>
              </a:spcBef>
              <a:spcAft>
                <a:spcPts val="0"/>
              </a:spcAft>
              <a:buSzPts val="1100"/>
              <a:buNone/>
            </a:pPr>
            <a:r>
              <a:rPr b="1" lang="en-US" sz="1100"/>
              <a:t>2024: GPT-4, Claude, Gemini – performanțe apropiate de om.</a:t>
            </a:r>
            <a:endParaRPr b="1" sz="1100"/>
          </a:p>
        </p:txBody>
      </p:sp>
      <p:sp>
        <p:nvSpPr>
          <p:cNvPr id="170" name="Google Shape;170;g384514fc5ec_0_5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02e9e6971_0_10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802e9e6971_0_10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rPr lang="en-US"/>
              <a:t>E ca si atunci cand un copil invata cu ajutorul parintilor. De cate ori trece pe langa o pisica, parintii ii arata “uite, asta este o pisica”. In final, ajunge sa recunoasca pisica respectiva singur</a:t>
            </a:r>
            <a:endParaRPr/>
          </a:p>
        </p:txBody>
      </p:sp>
      <p:sp>
        <p:nvSpPr>
          <p:cNvPr id="180" name="Google Shape;180;g3802e9e6971_0_10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4514fc5ec_0_7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84514fc5ec_0_7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rPr lang="en-US"/>
              <a:t>În business, putem segmenta clienții în grupuri – unii cumpără des și puțin, alții rar dar mult. Sau putem detecta anomalii, cum ar fi tranzacții suspecte într-o bancă. Este folosită atunci când vrem să explorăm structura ascunsă a datelor.”</a:t>
            </a:r>
            <a:endParaRPr/>
          </a:p>
        </p:txBody>
      </p:sp>
      <p:sp>
        <p:nvSpPr>
          <p:cNvPr id="192" name="Google Shape;192;g384514fc5ec_0_7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4514fc5ec_0_8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84514fc5ec_0_8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rPr lang="en-US"/>
              <a:t>ex - invatarea mersului pe bicicleta</a:t>
            </a:r>
            <a:endParaRPr/>
          </a:p>
          <a:p>
            <a:pPr indent="0" lvl="0" marL="0" rtl="0" algn="l">
              <a:lnSpc>
                <a:spcPct val="100000"/>
              </a:lnSpc>
              <a:spcBef>
                <a:spcPts val="0"/>
              </a:spcBef>
              <a:spcAft>
                <a:spcPts val="0"/>
              </a:spcAft>
              <a:buSzPts val="1400"/>
              <a:buNone/>
            </a:pPr>
            <a:r>
              <a:rPr lang="en-US"/>
              <a:t>funcționează prin încercare și greșeală. Modelul primește recompense sau pedepse, exact ca un copil care învață să meargă pe bicicletă. Dacă face mișcarea corect, primește un reward. Dacă cade, primește penalizare. Așa învață AI-ul să joace jocuri precum Go sau șah – milioane de încercări până când găsește strategii bune. Același principiu se folosește la mașini autonome sau la algoritmi de trading, unde trebuie optimizate decizii complexe pe termen lung.”</a:t>
            </a:r>
            <a:endParaRPr/>
          </a:p>
        </p:txBody>
      </p:sp>
      <p:sp>
        <p:nvSpPr>
          <p:cNvPr id="204" name="Google Shape;204;g384514fc5ec_0_8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0f35ea841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80f35ea841_1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a:t>
            </a:r>
            <a:r>
              <a:rPr b="1" lang="en-US"/>
              <a:t>Supervised, </a:t>
            </a:r>
            <a:r>
              <a:rPr lang="en-US"/>
              <a:t>pentru ca avem </a:t>
            </a:r>
            <a:r>
              <a:rPr lang="en-US"/>
              <a:t>ai label-uite - salarii</a:t>
            </a:r>
            <a:endParaRPr/>
          </a:p>
        </p:txBody>
      </p:sp>
      <p:sp>
        <p:nvSpPr>
          <p:cNvPr id="216" name="Google Shape;216;g380f35ea841_1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4514fc5ec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84514fc5ec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a:t>
            </a:r>
            <a:endParaRPr/>
          </a:p>
          <a:p>
            <a:pPr indent="0" lvl="0" marL="0" rtl="0" algn="l">
              <a:lnSpc>
                <a:spcPct val="100000"/>
              </a:lnSpc>
              <a:spcBef>
                <a:spcPts val="0"/>
              </a:spcBef>
              <a:spcAft>
                <a:spcPts val="0"/>
              </a:spcAft>
              <a:buSzPts val="1400"/>
              <a:buNone/>
            </a:pPr>
            <a:r>
              <a:rPr lang="en-US"/>
              <a:t>Discutabil, poate fi mai multe </a:t>
            </a:r>
            <a:endParaRPr/>
          </a:p>
        </p:txBody>
      </p:sp>
      <p:sp>
        <p:nvSpPr>
          <p:cNvPr id="224" name="Google Shape;224;g384514fc5ec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4514fc5ec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84514fc5ec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Supervised - a vazut milioane de imagini cu pietoni, deci stie exact cand sa franeze</a:t>
            </a:r>
            <a:endParaRPr/>
          </a:p>
        </p:txBody>
      </p:sp>
      <p:sp>
        <p:nvSpPr>
          <p:cNvPr id="232" name="Google Shape;232;g384514fc5ec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4514fc5ec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84514fc5ec_0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Reinforcement - optimizeaza continuu pentru engagement: scroll rapid = penalizare, like = recompensa</a:t>
            </a:r>
            <a:endParaRPr/>
          </a:p>
        </p:txBody>
      </p:sp>
      <p:sp>
        <p:nvSpPr>
          <p:cNvPr id="240" name="Google Shape;240;g384514fc5ec_0_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4514fc5ec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84514fc5ec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Unsupervised - descopera singur pattern-urile din cosurile de cumparaturi.</a:t>
            </a:r>
            <a:endParaRPr/>
          </a:p>
          <a:p>
            <a:pPr indent="0" lvl="0" marL="0" rtl="0" algn="l">
              <a:lnSpc>
                <a:spcPct val="100000"/>
              </a:lnSpc>
              <a:spcBef>
                <a:spcPts val="0"/>
              </a:spcBef>
              <a:spcAft>
                <a:spcPts val="0"/>
              </a:spcAft>
              <a:buSzPts val="1400"/>
              <a:buNone/>
            </a:pPr>
            <a:r>
              <a:rPr lang="en-US"/>
              <a:t>Nu exista eticheta corecta “daca clientul cumpara o camasa, recomanda si pantaloni”</a:t>
            </a:r>
            <a:endParaRPr/>
          </a:p>
          <a:p>
            <a:pPr indent="0" lvl="0" marL="0" rtl="0" algn="l">
              <a:lnSpc>
                <a:spcPct val="100000"/>
              </a:lnSpc>
              <a:spcBef>
                <a:spcPts val="0"/>
              </a:spcBef>
              <a:spcAft>
                <a:spcPts val="0"/>
              </a:spcAft>
              <a:buSzPts val="1400"/>
              <a:buNone/>
            </a:pPr>
            <a:r>
              <a:rPr lang="en-US"/>
              <a:t>Exemplu - daca 70% dintre clientii care cumpara camasa iau si cravata, atunci recomandam cravata </a:t>
            </a:r>
            <a:endParaRPr/>
          </a:p>
          <a:p>
            <a:pPr indent="0" lvl="0" marL="0" rtl="0" algn="l">
              <a:lnSpc>
                <a:spcPct val="100000"/>
              </a:lnSpc>
              <a:spcBef>
                <a:spcPts val="0"/>
              </a:spcBef>
              <a:spcAft>
                <a:spcPts val="0"/>
              </a:spcAft>
              <a:buSzPts val="1400"/>
              <a:buNone/>
            </a:pPr>
            <a:r>
              <a:rPr lang="en-US"/>
              <a:t>Descoperim </a:t>
            </a:r>
            <a:r>
              <a:rPr b="1" lang="en-US"/>
              <a:t>pattern-uri ascunse</a:t>
            </a:r>
            <a:endParaRPr b="1"/>
          </a:p>
        </p:txBody>
      </p:sp>
      <p:sp>
        <p:nvSpPr>
          <p:cNvPr id="248" name="Google Shape;248;g384514fc5ec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4514fc5ec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84514fc5ec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poate fi supervised / unsupervised </a:t>
            </a:r>
            <a:endParaRPr/>
          </a:p>
          <a:p>
            <a:pPr indent="0" lvl="0" marL="0" rtl="0" algn="l">
              <a:lnSpc>
                <a:spcPct val="100000"/>
              </a:lnSpc>
              <a:spcBef>
                <a:spcPts val="0"/>
              </a:spcBef>
              <a:spcAft>
                <a:spcPts val="0"/>
              </a:spcAft>
              <a:buSzPts val="1400"/>
              <a:buNone/>
            </a:pPr>
            <a:r>
              <a:rPr lang="en-US"/>
              <a:t>supervised -&gt; antrenata initial sa clasifice unele situatii ca email uri spam</a:t>
            </a:r>
            <a:endParaRPr/>
          </a:p>
          <a:p>
            <a:pPr indent="0" lvl="0" marL="0" rtl="0" algn="l">
              <a:lnSpc>
                <a:spcPct val="100000"/>
              </a:lnSpc>
              <a:spcBef>
                <a:spcPts val="0"/>
              </a:spcBef>
              <a:spcAft>
                <a:spcPts val="0"/>
              </a:spcAft>
              <a:buSzPts val="1400"/>
              <a:buNone/>
            </a:pPr>
            <a:r>
              <a:rPr lang="en-US"/>
              <a:t>unsupervised -&gt; modelul invata ce arata “normal” pentru tine si matcheaza outliers ca spam</a:t>
            </a:r>
            <a:endParaRPr/>
          </a:p>
          <a:p>
            <a:pPr indent="0" lvl="0" marL="0" rtl="0" algn="l">
              <a:lnSpc>
                <a:spcPct val="100000"/>
              </a:lnSpc>
              <a:spcBef>
                <a:spcPts val="0"/>
              </a:spcBef>
              <a:spcAft>
                <a:spcPts val="0"/>
              </a:spcAft>
              <a:buSzPts val="1400"/>
              <a:buNone/>
            </a:pPr>
            <a:r>
              <a:rPr lang="en-US"/>
              <a:t>ex: daca tu primesti 47 de emailuri de la colegi si 3 cu oferte de cirptomonede, ultimele ies in evidenta</a:t>
            </a:r>
            <a:endParaRPr/>
          </a:p>
        </p:txBody>
      </p:sp>
      <p:sp>
        <p:nvSpPr>
          <p:cNvPr id="256" name="Google Shape;256;g384514fc5ec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4514fc5ec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84514fc5ec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Raspuns: unsupervised - clustering pentru a gasi subgrupuri de boli</a:t>
            </a:r>
            <a:endParaRPr/>
          </a:p>
        </p:txBody>
      </p:sp>
      <p:sp>
        <p:nvSpPr>
          <p:cNvPr id="264" name="Google Shape;264;g384514fc5ec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retelele neuronale proceseaza imaginile pe pasi: detecteaza margini, forme, parti de obiecte etc layered</a:t>
            </a:r>
            <a:endParaRPr/>
          </a:p>
          <a:p>
            <a:pPr indent="-317500" lvl="0" marL="457200" rtl="0" algn="l">
              <a:lnSpc>
                <a:spcPct val="100000"/>
              </a:lnSpc>
              <a:spcBef>
                <a:spcPts val="0"/>
              </a:spcBef>
              <a:spcAft>
                <a:spcPts val="0"/>
              </a:spcAft>
              <a:buSzPts val="1400"/>
              <a:buChar char="-"/>
            </a:pPr>
            <a:r>
              <a:rPr lang="en-US"/>
              <a:t>de ce functioneaza atat de bine acum? pentru ca avem miliarde de imagini</a:t>
            </a:r>
            <a:endParaRPr/>
          </a:p>
        </p:txBody>
      </p:sp>
      <p:sp>
        <p:nvSpPr>
          <p:cNvPr id="272" name="Google Shape;2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4514fc5ec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84514fc5ec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Inainte de 2017 aveam modele simple, ca si Bag of Words - se numarau cuvintele, dar sensul se pierdea</a:t>
            </a:r>
            <a:endParaRPr/>
          </a:p>
          <a:p>
            <a:pPr indent="-317500" lvl="0" marL="457200" rtl="0" algn="l">
              <a:lnSpc>
                <a:spcPct val="100000"/>
              </a:lnSpc>
              <a:spcBef>
                <a:spcPts val="0"/>
              </a:spcBef>
              <a:spcAft>
                <a:spcPts val="0"/>
              </a:spcAft>
              <a:buSzPts val="1400"/>
              <a:buChar char="-"/>
            </a:pPr>
            <a:r>
              <a:rPr lang="en-US"/>
              <a:t>Odata cu aparitia mecanismelor de atentie, am inceput sa luam in calcul si </a:t>
            </a:r>
            <a:r>
              <a:rPr b="1" lang="en-US"/>
              <a:t>contextul</a:t>
            </a:r>
            <a:r>
              <a:rPr lang="en-US"/>
              <a:t>. Adica nu luam doar un cuvant, luam toata structura</a:t>
            </a:r>
            <a:endParaRPr/>
          </a:p>
        </p:txBody>
      </p:sp>
      <p:sp>
        <p:nvSpPr>
          <p:cNvPr id="280" name="Google Shape;280;g384514fc5ec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4514fc5ec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84514fc5ec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t/>
            </a:r>
            <a:endParaRPr/>
          </a:p>
        </p:txBody>
      </p:sp>
      <p:sp>
        <p:nvSpPr>
          <p:cNvPr id="288" name="Google Shape;288;g384514fc5ec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4514fc5ec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84514fc5ec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t/>
            </a:r>
            <a:endParaRPr/>
          </a:p>
        </p:txBody>
      </p:sp>
      <p:sp>
        <p:nvSpPr>
          <p:cNvPr id="297" name="Google Shape;297;g384514fc5ec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5" name="Shape 15"/>
        <p:cNvGrpSpPr/>
        <p:nvPr/>
      </p:nvGrpSpPr>
      <p:grpSpPr>
        <a:xfrm>
          <a:off x="0" y="0"/>
          <a:ext cx="0" cy="0"/>
          <a:chOff x="0" y="0"/>
          <a:chExt cx="0" cy="0"/>
        </a:xfrm>
      </p:grpSpPr>
      <p:pic>
        <p:nvPicPr>
          <p:cNvPr descr="preencoded.png" id="16" name="Google Shape;16;g37fcbf7b890_0_8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preencoded.png" id="17" name="Google Shape;17;g37fcbf7b890_0_81"/>
          <p:cNvPicPr preferRelativeResize="0"/>
          <p:nvPr/>
        </p:nvPicPr>
        <p:blipFill rotWithShape="1">
          <a:blip r:embed="rId3">
            <a:alphaModFix/>
          </a:blip>
          <a:srcRect b="0" l="0" r="0" t="0"/>
          <a:stretch/>
        </p:blipFill>
        <p:spPr>
          <a:xfrm>
            <a:off x="850900" y="430647"/>
            <a:ext cx="1422400" cy="6881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sap Medium"/>
              <a:buNone/>
              <a:defRPr sz="6000">
                <a:latin typeface="Asap Medium"/>
                <a:ea typeface="Asap Medium"/>
                <a:cs typeface="Asap Medium"/>
                <a:sym typeface="Asap Mediu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Font typeface="Asap Medium"/>
              <a:buNone/>
              <a:defRPr sz="2400">
                <a:latin typeface="Asap Medium"/>
                <a:ea typeface="Asap Medium"/>
                <a:cs typeface="Asap Medium"/>
                <a:sym typeface="Asap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3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37"/>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7"/>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3" name="Google Shape;33;p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8"/>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39"/>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9"/>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9"/>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9"/>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9"/>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2"/>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4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4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3"/>
          <p:cNvSpPr/>
          <p:nvPr>
            <p:ph idx="2" type="pic"/>
          </p:nvPr>
        </p:nvSpPr>
        <p:spPr>
          <a:xfrm>
            <a:off x="5183188" y="987425"/>
            <a:ext cx="6172200" cy="4873500"/>
          </a:xfrm>
          <a:prstGeom prst="rect">
            <a:avLst/>
          </a:prstGeom>
          <a:noFill/>
          <a:ln>
            <a:noFill/>
          </a:ln>
        </p:spPr>
      </p:sp>
      <p:sp>
        <p:nvSpPr>
          <p:cNvPr id="71" name="Google Shape;71;p43"/>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4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4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4"/>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45"/>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5"/>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CD872"/>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pic>
        <p:nvPicPr>
          <p:cNvPr descr="preencoded.png" id="92" name="Google Shape;92;g37fcbf7b890_0_0"/>
          <p:cNvPicPr preferRelativeResize="0"/>
          <p:nvPr/>
        </p:nvPicPr>
        <p:blipFill rotWithShape="1">
          <a:blip r:embed="rId4">
            <a:alphaModFix/>
          </a:blip>
          <a:srcRect b="0" l="0" r="0" t="0"/>
          <a:stretch/>
        </p:blipFill>
        <p:spPr>
          <a:xfrm>
            <a:off x="738863" y="1016000"/>
            <a:ext cx="11453133" cy="4443349"/>
          </a:xfrm>
          <a:prstGeom prst="rect">
            <a:avLst/>
          </a:prstGeom>
          <a:noFill/>
          <a:ln>
            <a:noFill/>
          </a:ln>
        </p:spPr>
      </p:pic>
      <p:pic>
        <p:nvPicPr>
          <p:cNvPr descr="preencoded.png" id="93" name="Google Shape;93;g37fcbf7b890_0_0"/>
          <p:cNvPicPr preferRelativeResize="0"/>
          <p:nvPr/>
        </p:nvPicPr>
        <p:blipFill rotWithShape="1">
          <a:blip r:embed="rId5">
            <a:alphaModFix/>
          </a:blip>
          <a:srcRect b="0" l="0" r="0" t="0"/>
          <a:stretch/>
        </p:blipFill>
        <p:spPr>
          <a:xfrm>
            <a:off x="990600" y="1765300"/>
            <a:ext cx="11201398" cy="3575050"/>
          </a:xfrm>
          <a:prstGeom prst="rect">
            <a:avLst/>
          </a:prstGeom>
          <a:noFill/>
          <a:ln>
            <a:noFill/>
          </a:ln>
          <a:effectLst>
            <a:outerShdw blurRad="57150" rotWithShape="0" algn="bl" dir="9000000" dist="19050">
              <a:srgbClr val="313CFF">
                <a:alpha val="89803"/>
              </a:srgbClr>
            </a:outerShdw>
          </a:effectLst>
        </p:spPr>
      </p:pic>
      <p:pic>
        <p:nvPicPr>
          <p:cNvPr descr="preencoded.png" id="94" name="Google Shape;94;g37fcbf7b890_0_0"/>
          <p:cNvPicPr preferRelativeResize="0"/>
          <p:nvPr/>
        </p:nvPicPr>
        <p:blipFill rotWithShape="1">
          <a:blip r:embed="rId6">
            <a:alphaModFix/>
          </a:blip>
          <a:srcRect b="0" l="0" r="0" t="0"/>
          <a:stretch/>
        </p:blipFill>
        <p:spPr>
          <a:xfrm>
            <a:off x="973173" y="5022850"/>
            <a:ext cx="4749800" cy="819150"/>
          </a:xfrm>
          <a:prstGeom prst="rect">
            <a:avLst/>
          </a:prstGeom>
          <a:noFill/>
          <a:ln>
            <a:noFill/>
          </a:ln>
        </p:spPr>
      </p:pic>
      <p:pic>
        <p:nvPicPr>
          <p:cNvPr descr="preencoded.png" id="95" name="Google Shape;95;g37fcbf7b890_0_0"/>
          <p:cNvPicPr preferRelativeResize="0"/>
          <p:nvPr/>
        </p:nvPicPr>
        <p:blipFill rotWithShape="1">
          <a:blip r:embed="rId7">
            <a:alphaModFix/>
          </a:blip>
          <a:srcRect b="0" l="0" r="0" t="0"/>
          <a:stretch/>
        </p:blipFill>
        <p:spPr>
          <a:xfrm>
            <a:off x="850900" y="430647"/>
            <a:ext cx="1422400" cy="688111"/>
          </a:xfrm>
          <a:prstGeom prst="rect">
            <a:avLst/>
          </a:prstGeom>
          <a:noFill/>
          <a:ln>
            <a:noFill/>
          </a:ln>
        </p:spPr>
      </p:pic>
      <p:sp>
        <p:nvSpPr>
          <p:cNvPr id="96" name="Google Shape;96;g37fcbf7b890_0_0"/>
          <p:cNvSpPr/>
          <p:nvPr/>
        </p:nvSpPr>
        <p:spPr>
          <a:xfrm>
            <a:off x="1212850" y="2051050"/>
            <a:ext cx="10584000" cy="2654400"/>
          </a:xfrm>
          <a:prstGeom prst="rect">
            <a:avLst/>
          </a:prstGeom>
          <a:noFill/>
          <a:ln>
            <a:noFill/>
          </a:ln>
          <a:effectLst>
            <a:outerShdw rotWithShape="0" algn="bl">
              <a:srgbClr val="313CFF"/>
            </a:outerShdw>
          </a:effectLst>
        </p:spPr>
        <p:txBody>
          <a:bodyPr anchorCtr="0" anchor="t" bIns="0" lIns="0" spcFirstLastPara="1" rIns="0" wrap="square" tIns="0">
            <a:noAutofit/>
          </a:bodyPr>
          <a:lstStyle/>
          <a:p>
            <a:pPr indent="0" lvl="0" marL="0" marR="0" rtl="0" algn="ctr">
              <a:lnSpc>
                <a:spcPct val="97752"/>
              </a:lnSpc>
              <a:spcBef>
                <a:spcPts val="0"/>
              </a:spcBef>
              <a:spcAft>
                <a:spcPts val="0"/>
              </a:spcAft>
              <a:buClr>
                <a:srgbClr val="FFFFFF"/>
              </a:buClr>
              <a:buSzPts val="7000"/>
              <a:buFont typeface="Asap"/>
              <a:buNone/>
            </a:pPr>
            <a:r>
              <a:rPr b="1" i="0" lang="en-US" sz="6200" u="none" cap="none" strike="noStrike">
                <a:solidFill>
                  <a:srgbClr val="FFFFFF"/>
                </a:solidFill>
                <a:latin typeface="Asap"/>
                <a:ea typeface="Asap"/>
                <a:cs typeface="Asap"/>
                <a:sym typeface="Asap"/>
              </a:rPr>
              <a:t>Machine Learning </a:t>
            </a:r>
            <a:endParaRPr b="1" i="0" sz="6200" u="none" cap="none" strike="noStrike">
              <a:solidFill>
                <a:srgbClr val="FFFFFF"/>
              </a:solidFill>
              <a:latin typeface="Asap"/>
              <a:ea typeface="Asap"/>
              <a:cs typeface="Asap"/>
              <a:sym typeface="Asap"/>
            </a:endParaRPr>
          </a:p>
          <a:p>
            <a:pPr indent="-457200" lvl="0" marL="457200" marR="0" rtl="0" algn="ctr">
              <a:lnSpc>
                <a:spcPct val="97752"/>
              </a:lnSpc>
              <a:spcBef>
                <a:spcPts val="0"/>
              </a:spcBef>
              <a:spcAft>
                <a:spcPts val="0"/>
              </a:spcAft>
              <a:buClr>
                <a:srgbClr val="FFFFFF"/>
              </a:buClr>
              <a:buSzPts val="5100"/>
              <a:buFont typeface="Asap"/>
              <a:buChar char="-"/>
            </a:pPr>
            <a:r>
              <a:rPr b="1" i="0" lang="en-US" sz="5100" u="none" cap="none" strike="noStrike">
                <a:solidFill>
                  <a:srgbClr val="FFFFFF"/>
                </a:solidFill>
                <a:latin typeface="Asap"/>
                <a:ea typeface="Asap"/>
                <a:cs typeface="Asap"/>
                <a:sym typeface="Asap"/>
              </a:rPr>
              <a:t>curs - </a:t>
            </a:r>
            <a:endParaRPr b="1" i="0" sz="5100" u="none" cap="none" strike="noStrike">
              <a:solidFill>
                <a:srgbClr val="FFFFFF"/>
              </a:solidFill>
              <a:latin typeface="Asap"/>
              <a:ea typeface="Asap"/>
              <a:cs typeface="Asap"/>
              <a:sym typeface="Asap"/>
            </a:endParaRPr>
          </a:p>
        </p:txBody>
      </p:sp>
      <p:sp>
        <p:nvSpPr>
          <p:cNvPr id="97" name="Google Shape;97;g37fcbf7b890_0_0"/>
          <p:cNvSpPr/>
          <p:nvPr/>
        </p:nvSpPr>
        <p:spPr>
          <a:xfrm>
            <a:off x="1382873" y="5219000"/>
            <a:ext cx="3714900" cy="469500"/>
          </a:xfrm>
          <a:prstGeom prst="rect">
            <a:avLst/>
          </a:prstGeom>
          <a:noFill/>
          <a:ln>
            <a:noFill/>
          </a:ln>
        </p:spPr>
        <p:txBody>
          <a:bodyPr anchorCtr="0" anchor="t" bIns="0" lIns="0" spcFirstLastPara="1" rIns="0" wrap="square" tIns="0">
            <a:noAutofit/>
          </a:bodyPr>
          <a:lstStyle/>
          <a:p>
            <a:pPr indent="0" lvl="0" marL="0" marR="0" rtl="0" algn="l">
              <a:lnSpc>
                <a:spcPct val="95625"/>
              </a:lnSpc>
              <a:spcBef>
                <a:spcPts val="0"/>
              </a:spcBef>
              <a:spcAft>
                <a:spcPts val="0"/>
              </a:spcAft>
              <a:buClr>
                <a:srgbClr val="313CFF"/>
              </a:buClr>
              <a:buSzPts val="3200"/>
              <a:buFont typeface="Asap Medium"/>
              <a:buNone/>
            </a:pPr>
            <a:r>
              <a:rPr b="0" i="0" lang="en-US" sz="3200" u="none" cap="none" strike="noStrike">
                <a:solidFill>
                  <a:srgbClr val="313CFF"/>
                </a:solidFill>
                <a:latin typeface="Asap Medium"/>
                <a:ea typeface="Asap Medium"/>
                <a:cs typeface="Asap Medium"/>
                <a:sym typeface="Asap Medium"/>
              </a:rPr>
              <a:t>— Sesiunea </a:t>
            </a:r>
            <a:r>
              <a:rPr lang="en-US" sz="3200">
                <a:solidFill>
                  <a:srgbClr val="313CFF"/>
                </a:solidFill>
                <a:latin typeface="Asap Medium"/>
                <a:ea typeface="Asap Medium"/>
                <a:cs typeface="Asap Medium"/>
                <a:sym typeface="Asap Medium"/>
              </a:rPr>
              <a:t>1</a:t>
            </a:r>
            <a:endParaRPr b="0" i="0" sz="3200" u="none" cap="none" strike="noStrike">
              <a:solidFill>
                <a:schemeClr val="dk1"/>
              </a:solidFill>
              <a:latin typeface="Calibri"/>
              <a:ea typeface="Calibri"/>
              <a:cs typeface="Calibri"/>
              <a:sym typeface="Calibri"/>
            </a:endParaRPr>
          </a:p>
        </p:txBody>
      </p:sp>
      <p:sp>
        <p:nvSpPr>
          <p:cNvPr id="98" name="Google Shape;98;g37fcbf7b890_0_0"/>
          <p:cNvSpPr txBox="1"/>
          <p:nvPr/>
        </p:nvSpPr>
        <p:spPr>
          <a:xfrm>
            <a:off x="1212850" y="3973350"/>
            <a:ext cx="10584000" cy="38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i="1" lang="en-US" sz="4000">
                <a:solidFill>
                  <a:srgbClr val="FFFF01"/>
                </a:solidFill>
                <a:latin typeface="Asap SemiBold"/>
                <a:ea typeface="Asap SemiBold"/>
                <a:cs typeface="Asap SemiBold"/>
                <a:sym typeface="Asap SemiBold"/>
              </a:rPr>
              <a:t>Introduction in ML</a:t>
            </a:r>
            <a:endParaRPr b="0" i="1" sz="4000" u="none" cap="none" strike="noStrike">
              <a:solidFill>
                <a:srgbClr val="FFFF01"/>
              </a:solidFill>
              <a:latin typeface="Asap SemiBold"/>
              <a:ea typeface="Asap SemiBold"/>
              <a:cs typeface="Asap SemiBold"/>
              <a:sym typeface="Asap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descr="preencoded.png" id="103" name="Google Shape;103;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04" name="Google Shape;104;p2"/>
          <p:cNvPicPr preferRelativeResize="0"/>
          <p:nvPr/>
        </p:nvPicPr>
        <p:blipFill rotWithShape="1">
          <a:blip r:embed="rId4">
            <a:alphaModFix/>
          </a:blip>
          <a:srcRect b="0" l="0" r="0" t="0"/>
          <a:stretch/>
        </p:blipFill>
        <p:spPr>
          <a:xfrm>
            <a:off x="5797553" y="0"/>
            <a:ext cx="6394445" cy="6858000"/>
          </a:xfrm>
          <a:prstGeom prst="rect">
            <a:avLst/>
          </a:prstGeom>
          <a:noFill/>
          <a:ln>
            <a:noFill/>
          </a:ln>
        </p:spPr>
      </p:pic>
      <p:pic>
        <p:nvPicPr>
          <p:cNvPr descr="preencoded.png" id="105" name="Google Shape;105;p2"/>
          <p:cNvPicPr preferRelativeResize="0"/>
          <p:nvPr/>
        </p:nvPicPr>
        <p:blipFill rotWithShape="1">
          <a:blip r:embed="rId5">
            <a:alphaModFix/>
          </a:blip>
          <a:srcRect b="0" l="0" r="0" t="0"/>
          <a:stretch/>
        </p:blipFill>
        <p:spPr>
          <a:xfrm>
            <a:off x="0" y="1440150"/>
            <a:ext cx="9659700" cy="5417700"/>
          </a:xfrm>
          <a:prstGeom prst="round2SameRect">
            <a:avLst>
              <a:gd fmla="val 8143" name="adj1"/>
              <a:gd fmla="val 0" name="adj2"/>
            </a:avLst>
          </a:prstGeom>
          <a:noFill/>
          <a:ln>
            <a:noFill/>
          </a:ln>
        </p:spPr>
      </p:pic>
      <p:pic>
        <p:nvPicPr>
          <p:cNvPr descr="preencoded.png" id="106" name="Google Shape;106;p2"/>
          <p:cNvPicPr preferRelativeResize="0"/>
          <p:nvPr/>
        </p:nvPicPr>
        <p:blipFill rotWithShape="1">
          <a:blip r:embed="rId6">
            <a:alphaModFix/>
          </a:blip>
          <a:srcRect b="0" l="0" r="0" t="0"/>
          <a:stretch/>
        </p:blipFill>
        <p:spPr>
          <a:xfrm>
            <a:off x="850900" y="430647"/>
            <a:ext cx="1422400" cy="688111"/>
          </a:xfrm>
          <a:prstGeom prst="rect">
            <a:avLst/>
          </a:prstGeom>
          <a:noFill/>
          <a:ln>
            <a:noFill/>
          </a:ln>
        </p:spPr>
      </p:pic>
      <p:sp>
        <p:nvSpPr>
          <p:cNvPr id="107" name="Google Shape;107;p2"/>
          <p:cNvSpPr txBox="1"/>
          <p:nvPr>
            <p:ph idx="1" type="subTitle"/>
          </p:nvPr>
        </p:nvSpPr>
        <p:spPr>
          <a:xfrm>
            <a:off x="178175" y="3094425"/>
            <a:ext cx="8373900" cy="30156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b="1" lang="en-US">
                <a:solidFill>
                  <a:schemeClr val="lt1"/>
                </a:solidFill>
                <a:latin typeface="Asap"/>
                <a:ea typeface="Asap"/>
                <a:cs typeface="Asap"/>
                <a:sym typeface="Asap"/>
              </a:rPr>
              <a:t>Introducere in ML</a:t>
            </a:r>
            <a:endParaRPr b="1">
              <a:solidFill>
                <a:schemeClr val="lt1"/>
              </a:solidFill>
              <a:latin typeface="Asap"/>
              <a:ea typeface="Asap"/>
              <a:cs typeface="Asap"/>
              <a:sym typeface="Asap"/>
            </a:endParaRPr>
          </a:p>
          <a:p>
            <a:pPr indent="0" lvl="0" marL="0" rtl="0" algn="l">
              <a:lnSpc>
                <a:spcPct val="90000"/>
              </a:lnSpc>
              <a:spcBef>
                <a:spcPts val="0"/>
              </a:spcBef>
              <a:spcAft>
                <a:spcPts val="0"/>
              </a:spcAft>
              <a:buClr>
                <a:schemeClr val="dk1"/>
              </a:buClr>
              <a:buSzPts val="2400"/>
              <a:buNone/>
            </a:pPr>
            <a:r>
              <a:t/>
            </a:r>
            <a:endParaRPr>
              <a:solidFill>
                <a:schemeClr val="lt1"/>
              </a:solidFill>
              <a:latin typeface="Asap"/>
              <a:ea typeface="Asap"/>
              <a:cs typeface="Asap"/>
              <a:sym typeface="Asap"/>
            </a:endParaRPr>
          </a:p>
          <a:p>
            <a:pPr indent="-342900" lvl="0" marL="342900" rtl="0" algn="just">
              <a:lnSpc>
                <a:spcPct val="90000"/>
              </a:lnSpc>
              <a:spcBef>
                <a:spcPts val="1000"/>
              </a:spcBef>
              <a:spcAft>
                <a:spcPts val="0"/>
              </a:spcAft>
              <a:buClr>
                <a:srgbClr val="FFFF01"/>
              </a:buClr>
              <a:buSzPts val="2050"/>
              <a:buFont typeface="Asap"/>
              <a:buChar char="➔"/>
            </a:pPr>
            <a:r>
              <a:rPr lang="en-US" sz="2050">
                <a:solidFill>
                  <a:schemeClr val="lt1"/>
                </a:solidFill>
                <a:latin typeface="Asap"/>
                <a:ea typeface="Asap"/>
                <a:cs typeface="Asap"/>
                <a:sym typeface="Asap"/>
              </a:rPr>
              <a:t>Istorie si introducere</a:t>
            </a:r>
            <a:endParaRPr sz="2050">
              <a:solidFill>
                <a:schemeClr val="lt1"/>
              </a:solidFill>
              <a:latin typeface="Asap"/>
              <a:ea typeface="Asap"/>
              <a:cs typeface="Asap"/>
              <a:sym typeface="Asap"/>
            </a:endParaRPr>
          </a:p>
          <a:p>
            <a:pPr indent="-342900" lvl="0" marL="342900" rtl="0" algn="just">
              <a:lnSpc>
                <a:spcPct val="90000"/>
              </a:lnSpc>
              <a:spcBef>
                <a:spcPts val="1000"/>
              </a:spcBef>
              <a:spcAft>
                <a:spcPts val="0"/>
              </a:spcAft>
              <a:buClr>
                <a:srgbClr val="FFFF01"/>
              </a:buClr>
              <a:buSzPts val="2050"/>
              <a:buFont typeface="Asap"/>
              <a:buChar char="➔"/>
            </a:pPr>
            <a:r>
              <a:rPr lang="en-US" sz="2050">
                <a:solidFill>
                  <a:schemeClr val="lt1"/>
                </a:solidFill>
                <a:latin typeface="Asap"/>
                <a:ea typeface="Asap"/>
                <a:cs typeface="Asap"/>
                <a:sym typeface="Asap"/>
              </a:rPr>
              <a:t>Tipuri de invatare - Supervised, unsupervised &amp; reinforcement</a:t>
            </a:r>
            <a:endParaRPr sz="2050">
              <a:solidFill>
                <a:schemeClr val="lt1"/>
              </a:solidFill>
              <a:latin typeface="Asap"/>
              <a:ea typeface="Asap"/>
              <a:cs typeface="Asap"/>
              <a:sym typeface="Asap"/>
            </a:endParaRPr>
          </a:p>
          <a:p>
            <a:pPr indent="-342900" lvl="0" marL="342900" rtl="0" algn="just">
              <a:lnSpc>
                <a:spcPct val="90000"/>
              </a:lnSpc>
              <a:spcBef>
                <a:spcPts val="1000"/>
              </a:spcBef>
              <a:spcAft>
                <a:spcPts val="0"/>
              </a:spcAft>
              <a:buClr>
                <a:srgbClr val="FFFF01"/>
              </a:buClr>
              <a:buSzPts val="2050"/>
              <a:buFont typeface="Asap"/>
              <a:buChar char="➔"/>
            </a:pPr>
            <a:r>
              <a:rPr lang="en-US" sz="2050">
                <a:solidFill>
                  <a:schemeClr val="lt1"/>
                </a:solidFill>
                <a:latin typeface="Asap"/>
                <a:ea typeface="Asap"/>
                <a:cs typeface="Asap"/>
                <a:sym typeface="Asap"/>
              </a:rPr>
              <a:t>Arii de aplicare &amp; trend-uri actuale</a:t>
            </a:r>
            <a:endParaRPr sz="2050">
              <a:solidFill>
                <a:schemeClr val="lt1"/>
              </a:solidFill>
              <a:latin typeface="Asap"/>
              <a:ea typeface="Asap"/>
              <a:cs typeface="Asap"/>
              <a:sym typeface="Asap"/>
            </a:endParaRPr>
          </a:p>
          <a:p>
            <a:pPr indent="0" lvl="0" marL="457200" rtl="0" algn="just">
              <a:lnSpc>
                <a:spcPct val="90000"/>
              </a:lnSpc>
              <a:spcBef>
                <a:spcPts val="1000"/>
              </a:spcBef>
              <a:spcAft>
                <a:spcPts val="0"/>
              </a:spcAft>
              <a:buNone/>
            </a:pPr>
            <a:r>
              <a:t/>
            </a:r>
            <a:endParaRPr sz="2050">
              <a:solidFill>
                <a:schemeClr val="lt1"/>
              </a:solidFill>
              <a:latin typeface="Asap"/>
              <a:ea typeface="Asap"/>
              <a:cs typeface="Asap"/>
              <a:sym typeface="Asap"/>
            </a:endParaRPr>
          </a:p>
          <a:p>
            <a:pPr indent="0" lvl="0" marL="0" rtl="0" algn="l">
              <a:lnSpc>
                <a:spcPct val="90000"/>
              </a:lnSpc>
              <a:spcBef>
                <a:spcPts val="1000"/>
              </a:spcBef>
              <a:spcAft>
                <a:spcPts val="0"/>
              </a:spcAft>
              <a:buNone/>
            </a:pPr>
            <a:r>
              <a:t/>
            </a:r>
            <a:endParaRPr sz="2050">
              <a:solidFill>
                <a:schemeClr val="lt1"/>
              </a:solidFill>
              <a:latin typeface="Asap"/>
              <a:ea typeface="Asap"/>
              <a:cs typeface="Asap"/>
              <a:sym typeface="Asap"/>
            </a:endParaRPr>
          </a:p>
          <a:p>
            <a:pPr indent="0" lvl="0" marL="0" rtl="0" algn="ctr">
              <a:lnSpc>
                <a:spcPct val="90000"/>
              </a:lnSpc>
              <a:spcBef>
                <a:spcPts val="1000"/>
              </a:spcBef>
              <a:spcAft>
                <a:spcPts val="0"/>
              </a:spcAft>
              <a:buClr>
                <a:schemeClr val="dk1"/>
              </a:buClr>
              <a:buSzPts val="2400"/>
              <a:buNone/>
            </a:pPr>
            <a:r>
              <a:t/>
            </a:r>
            <a:endParaRPr>
              <a:latin typeface="Asap"/>
              <a:ea typeface="Asap"/>
              <a:cs typeface="Asap"/>
              <a:sym typeface="Asap"/>
            </a:endParaRPr>
          </a:p>
        </p:txBody>
      </p:sp>
      <p:sp>
        <p:nvSpPr>
          <p:cNvPr id="108" name="Google Shape;108;p2"/>
          <p:cNvSpPr/>
          <p:nvPr/>
        </p:nvSpPr>
        <p:spPr>
          <a:xfrm>
            <a:off x="6480290" y="911540"/>
            <a:ext cx="3038400" cy="438300"/>
          </a:xfrm>
          <a:prstGeom prst="rect">
            <a:avLst/>
          </a:prstGeom>
          <a:noFill/>
          <a:ln>
            <a:noFill/>
          </a:ln>
          <a:effectLst>
            <a:outerShdw blurRad="57150" rotWithShape="0" algn="bl" dir="7800000" dist="19050">
              <a:srgbClr val="000000">
                <a:alpha val="20784"/>
              </a:srgbClr>
            </a:outerShdw>
          </a:effectLst>
        </p:spPr>
        <p:txBody>
          <a:bodyPr anchorCtr="0" anchor="t" bIns="0" lIns="0" spcFirstLastPara="1" rIns="0" wrap="square" tIns="0">
            <a:noAutofit/>
          </a:bodyPr>
          <a:lstStyle/>
          <a:p>
            <a:pPr indent="0" lvl="0" marL="0" marR="0" rtl="0" algn="ctr">
              <a:lnSpc>
                <a:spcPct val="124898"/>
              </a:lnSpc>
              <a:spcBef>
                <a:spcPts val="0"/>
              </a:spcBef>
              <a:spcAft>
                <a:spcPts val="0"/>
              </a:spcAft>
              <a:buClr>
                <a:srgbClr val="FFFF01"/>
              </a:buClr>
              <a:buSzPts val="4900"/>
              <a:buFont typeface="Asap"/>
              <a:buNone/>
            </a:pPr>
            <a:r>
              <a:rPr b="1" i="0" lang="en-US" sz="3500" u="none" cap="none" strike="noStrike">
                <a:solidFill>
                  <a:srgbClr val="4A86E8"/>
                </a:solidFill>
                <a:latin typeface="Asap"/>
                <a:ea typeface="Asap"/>
                <a:cs typeface="Asap"/>
                <a:sym typeface="Asap"/>
              </a:rPr>
              <a:t>SHORT GUIDE</a:t>
            </a:r>
            <a:endParaRPr b="0" i="0" sz="3300" u="none" cap="none" strike="noStrike">
              <a:solidFill>
                <a:srgbClr val="4A86E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p:nvPr/>
        </p:nvSpPr>
        <p:spPr>
          <a:xfrm>
            <a:off x="139046" y="909121"/>
            <a:ext cx="11655000" cy="369300"/>
          </a:xfrm>
          <a:prstGeom prst="rect">
            <a:avLst/>
          </a:prstGeom>
          <a:noFill/>
          <a:ln>
            <a:noFill/>
          </a:ln>
          <a:effectLst>
            <a:outerShdw blurRad="57150" rotWithShape="0" algn="bl" dir="5400000" dist="1905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lang="en-US" sz="4900">
                <a:solidFill>
                  <a:srgbClr val="FFFF01"/>
                </a:solidFill>
                <a:latin typeface="Asap"/>
                <a:ea typeface="Asap"/>
                <a:cs typeface="Asap"/>
                <a:sym typeface="Asap"/>
              </a:rPr>
              <a:t>AI vs ML vs DL</a:t>
            </a:r>
            <a:endParaRPr b="1" i="0" sz="4900" u="none" cap="none" strike="noStrike">
              <a:solidFill>
                <a:srgbClr val="FFFF01"/>
              </a:solidFill>
              <a:latin typeface="Asap"/>
              <a:ea typeface="Asap"/>
              <a:cs typeface="Asap"/>
              <a:sym typeface="Asap"/>
            </a:endParaRPr>
          </a:p>
        </p:txBody>
      </p:sp>
      <p:pic>
        <p:nvPicPr>
          <p:cNvPr descr="preencoded.png" id="115" name="Google Shape;115;p5"/>
          <p:cNvPicPr preferRelativeResize="0"/>
          <p:nvPr/>
        </p:nvPicPr>
        <p:blipFill rotWithShape="1">
          <a:blip r:embed="rId3">
            <a:alphaModFix/>
          </a:blip>
          <a:srcRect b="0" l="0" r="0" t="0"/>
          <a:stretch/>
        </p:blipFill>
        <p:spPr>
          <a:xfrm>
            <a:off x="0" y="1697950"/>
            <a:ext cx="12192000" cy="5160000"/>
          </a:xfrm>
          <a:prstGeom prst="round2SameRect">
            <a:avLst>
              <a:gd fmla="val 16667" name="adj1"/>
              <a:gd fmla="val 0" name="adj2"/>
            </a:avLst>
          </a:prstGeom>
          <a:noFill/>
          <a:ln>
            <a:noFill/>
          </a:ln>
        </p:spPr>
      </p:pic>
      <p:pic>
        <p:nvPicPr>
          <p:cNvPr id="116" name="Google Shape;116;p5" title="image-removebg-preview (1).png"/>
          <p:cNvPicPr preferRelativeResize="0"/>
          <p:nvPr/>
        </p:nvPicPr>
        <p:blipFill>
          <a:blip r:embed="rId4">
            <a:alphaModFix/>
          </a:blip>
          <a:stretch>
            <a:fillRect/>
          </a:stretch>
        </p:blipFill>
        <p:spPr>
          <a:xfrm>
            <a:off x="3571013" y="1915741"/>
            <a:ext cx="4791075" cy="4724400"/>
          </a:xfrm>
          <a:prstGeom prst="rect">
            <a:avLst/>
          </a:prstGeom>
          <a:noFill/>
          <a:ln>
            <a:noFill/>
          </a:ln>
        </p:spPr>
      </p:pic>
      <p:sp>
        <p:nvSpPr>
          <p:cNvPr id="117" name="Google Shape;117;p5"/>
          <p:cNvSpPr/>
          <p:nvPr/>
        </p:nvSpPr>
        <p:spPr>
          <a:xfrm>
            <a:off x="0" y="1915750"/>
            <a:ext cx="4492200" cy="169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lang="en-US" sz="1500">
                <a:solidFill>
                  <a:schemeClr val="lt1"/>
                </a:solidFill>
                <a:latin typeface="Asap"/>
                <a:ea typeface="Asap"/>
                <a:cs typeface="Asap"/>
                <a:sym typeface="Asap"/>
              </a:rPr>
              <a:t>incearca sa simuleze/imite comportamente considerate inteligente la oameni</a:t>
            </a:r>
            <a:endParaRPr b="1" i="0" sz="1500" u="none" cap="none" strike="noStrike">
              <a:solidFill>
                <a:schemeClr val="lt1"/>
              </a:solidFill>
              <a:latin typeface="Asap"/>
              <a:ea typeface="Asap"/>
              <a:cs typeface="Asap"/>
              <a:sym typeface="Asap"/>
            </a:endParaRPr>
          </a:p>
        </p:txBody>
      </p:sp>
      <p:cxnSp>
        <p:nvCxnSpPr>
          <p:cNvPr id="118" name="Google Shape;118;p5"/>
          <p:cNvCxnSpPr/>
          <p:nvPr/>
        </p:nvCxnSpPr>
        <p:spPr>
          <a:xfrm rot="10800000">
            <a:off x="3575900" y="3112475"/>
            <a:ext cx="690300" cy="608700"/>
          </a:xfrm>
          <a:prstGeom prst="straightConnector1">
            <a:avLst/>
          </a:prstGeom>
          <a:noFill/>
          <a:ln cap="flat" cmpd="sng" w="28575">
            <a:solidFill>
              <a:schemeClr val="lt1"/>
            </a:solidFill>
            <a:prstDash val="solid"/>
            <a:round/>
            <a:headEnd len="med" w="med" type="none"/>
            <a:tailEnd len="med" w="med" type="triangle"/>
          </a:ln>
        </p:spPr>
      </p:cxnSp>
      <p:cxnSp>
        <p:nvCxnSpPr>
          <p:cNvPr id="119" name="Google Shape;119;p5"/>
          <p:cNvCxnSpPr/>
          <p:nvPr/>
        </p:nvCxnSpPr>
        <p:spPr>
          <a:xfrm>
            <a:off x="7672475" y="3893775"/>
            <a:ext cx="1081200" cy="0"/>
          </a:xfrm>
          <a:prstGeom prst="straightConnector1">
            <a:avLst/>
          </a:prstGeom>
          <a:noFill/>
          <a:ln cap="flat" cmpd="sng" w="28575">
            <a:solidFill>
              <a:schemeClr val="lt1"/>
            </a:solidFill>
            <a:prstDash val="solid"/>
            <a:round/>
            <a:headEnd len="med" w="med" type="none"/>
            <a:tailEnd len="med" w="med" type="triangle"/>
          </a:ln>
        </p:spPr>
      </p:cxnSp>
      <p:sp>
        <p:nvSpPr>
          <p:cNvPr id="120" name="Google Shape;120;p5"/>
          <p:cNvSpPr/>
          <p:nvPr/>
        </p:nvSpPr>
        <p:spPr>
          <a:xfrm>
            <a:off x="8853325" y="3035300"/>
            <a:ext cx="3194400" cy="169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lang="en-US" sz="1500">
                <a:solidFill>
                  <a:schemeClr val="lt1"/>
                </a:solidFill>
                <a:latin typeface="Asap"/>
                <a:ea typeface="Asap"/>
                <a:cs typeface="Asap"/>
                <a:sym typeface="Asap"/>
              </a:rPr>
              <a:t>“invata” direct din date, fara a fi programat explicit pentru fiecare situatie</a:t>
            </a:r>
            <a:endParaRPr b="1" i="0" sz="1500" u="none" cap="none" strike="noStrike">
              <a:solidFill>
                <a:schemeClr val="lt1"/>
              </a:solidFill>
              <a:latin typeface="Asap"/>
              <a:ea typeface="Asap"/>
              <a:cs typeface="Asap"/>
              <a:sym typeface="Asap"/>
            </a:endParaRPr>
          </a:p>
        </p:txBody>
      </p:sp>
      <p:cxnSp>
        <p:nvCxnSpPr>
          <p:cNvPr id="121" name="Google Shape;121;p5"/>
          <p:cNvCxnSpPr/>
          <p:nvPr/>
        </p:nvCxnSpPr>
        <p:spPr>
          <a:xfrm>
            <a:off x="7370700" y="5517700"/>
            <a:ext cx="910500" cy="410700"/>
          </a:xfrm>
          <a:prstGeom prst="straightConnector1">
            <a:avLst/>
          </a:prstGeom>
          <a:noFill/>
          <a:ln cap="flat" cmpd="sng" w="28575">
            <a:solidFill>
              <a:schemeClr val="lt1"/>
            </a:solidFill>
            <a:prstDash val="solid"/>
            <a:round/>
            <a:headEnd len="med" w="med" type="none"/>
            <a:tailEnd len="med" w="med" type="triangle"/>
          </a:ln>
        </p:spPr>
      </p:cxnSp>
      <p:sp>
        <p:nvSpPr>
          <p:cNvPr id="122" name="Google Shape;122;p5"/>
          <p:cNvSpPr/>
          <p:nvPr/>
        </p:nvSpPr>
        <p:spPr>
          <a:xfrm>
            <a:off x="8362100" y="5159050"/>
            <a:ext cx="3194400" cy="169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lang="en-US" sz="1500">
                <a:solidFill>
                  <a:schemeClr val="lt1"/>
                </a:solidFill>
                <a:latin typeface="Asap"/>
                <a:ea typeface="Asap"/>
                <a:cs typeface="Asap"/>
                <a:sym typeface="Asap"/>
              </a:rPr>
              <a:t>foloseste retele neuronale pentru a invata reprezentari complexe ale datelor</a:t>
            </a:r>
            <a:endParaRPr b="1" i="0" sz="1500" u="none" cap="none" strike="noStrike">
              <a:solidFill>
                <a:schemeClr val="lt1"/>
              </a:solidFill>
              <a:latin typeface="Asap"/>
              <a:ea typeface="Asap"/>
              <a:cs typeface="Asap"/>
              <a:sym typeface="Asa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preencoded.png" id="128" name="Google Shape;128;g384514fc5ec_0_0"/>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29" name="Google Shape;129;g384514fc5ec_0_0"/>
          <p:cNvPicPr preferRelativeResize="0"/>
          <p:nvPr/>
        </p:nvPicPr>
        <p:blipFill rotWithShape="1">
          <a:blip r:embed="rId4">
            <a:alphaModFix/>
          </a:blip>
          <a:srcRect b="0" l="0" r="0" t="0"/>
          <a:stretch/>
        </p:blipFill>
        <p:spPr>
          <a:xfrm>
            <a:off x="298450" y="2298700"/>
            <a:ext cx="11893551" cy="4559300"/>
          </a:xfrm>
          <a:prstGeom prst="rect">
            <a:avLst/>
          </a:prstGeom>
          <a:noFill/>
          <a:ln>
            <a:noFill/>
          </a:ln>
        </p:spPr>
      </p:pic>
      <p:pic>
        <p:nvPicPr>
          <p:cNvPr descr="preencoded.png" id="130" name="Google Shape;130;g384514fc5ec_0_0"/>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31" name="Google Shape;131;g384514fc5ec_0_0"/>
          <p:cNvSpPr/>
          <p:nvPr/>
        </p:nvSpPr>
        <p:spPr>
          <a:xfrm>
            <a:off x="298450" y="1678665"/>
            <a:ext cx="5334900" cy="794100"/>
          </a:xfrm>
          <a:prstGeom prst="rect">
            <a:avLst/>
          </a:prstGeom>
          <a:noFill/>
          <a:ln>
            <a:noFill/>
          </a:ln>
          <a:effectLst>
            <a:outerShdw blurRad="57150" rotWithShape="0" algn="bl" dir="5400000" dist="19050">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3500">
                <a:solidFill>
                  <a:srgbClr val="FFFF01"/>
                </a:solidFill>
                <a:latin typeface="Asap"/>
                <a:ea typeface="Asap"/>
                <a:cs typeface="Asap"/>
                <a:sym typeface="Asap"/>
              </a:rPr>
              <a:t>ISTORIA ML-ULUI</a:t>
            </a:r>
            <a:endParaRPr b="0" i="0" sz="3500" u="none" cap="none" strike="noStrike">
              <a:solidFill>
                <a:schemeClr val="dk1"/>
              </a:solidFill>
              <a:latin typeface="Calibri"/>
              <a:ea typeface="Calibri"/>
              <a:cs typeface="Calibri"/>
              <a:sym typeface="Calibri"/>
            </a:endParaRPr>
          </a:p>
        </p:txBody>
      </p:sp>
      <p:sp>
        <p:nvSpPr>
          <p:cNvPr id="132" name="Google Shape;132;g384514fc5ec_0_0"/>
          <p:cNvSpPr/>
          <p:nvPr/>
        </p:nvSpPr>
        <p:spPr>
          <a:xfrm>
            <a:off x="364350" y="2472775"/>
            <a:ext cx="10573200" cy="348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b="1" lang="en-US" sz="2400">
                <a:solidFill>
                  <a:schemeClr val="lt1"/>
                </a:solidFill>
                <a:latin typeface="Asap"/>
                <a:ea typeface="Asap"/>
                <a:cs typeface="Asap"/>
                <a:sym typeface="Asap"/>
              </a:rPr>
              <a:t>AI clasic (1950 - 1990)</a:t>
            </a:r>
            <a:endParaRPr b="1" sz="24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Expert Systems: „Dacă febră &gt; 38°C ȘI tuse → gripă”</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Symbolic AI &amp; Heuristics: backtracking, tree search</a:t>
            </a:r>
            <a:endParaRPr sz="2000">
              <a:solidFill>
                <a:schemeClr val="lt1"/>
              </a:solidFill>
              <a:latin typeface="Asap"/>
              <a:ea typeface="Asap"/>
              <a:cs typeface="Asap"/>
              <a:sym typeface="Asap"/>
            </a:endParaRPr>
          </a:p>
          <a:p>
            <a:pPr indent="0" lvl="0" marL="457200" marR="0" rtl="0" algn="l">
              <a:lnSpc>
                <a:spcPct val="100000"/>
              </a:lnSpc>
              <a:spcBef>
                <a:spcPts val="0"/>
              </a:spcBef>
              <a:spcAft>
                <a:spcPts val="0"/>
              </a:spcAft>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rPr b="1" lang="en-US" sz="2100">
                <a:solidFill>
                  <a:schemeClr val="lt1"/>
                </a:solidFill>
                <a:latin typeface="Asap"/>
                <a:ea typeface="Asap"/>
                <a:cs typeface="Asap"/>
                <a:sym typeface="Asap"/>
              </a:rPr>
              <a:t>❌ZERO adaptabilitate - programatorii trebuiau sa prevada toate cazurile</a:t>
            </a:r>
            <a:endParaRPr b="1" i="0" sz="1700" u="none" cap="none" strike="noStrike">
              <a:solidFill>
                <a:schemeClr val="lt1"/>
              </a:solidFill>
              <a:latin typeface="Asap"/>
              <a:ea typeface="Asap"/>
              <a:cs typeface="Asap"/>
              <a:sym typeface="Asap"/>
            </a:endParaRPr>
          </a:p>
        </p:txBody>
      </p:sp>
      <p:pic>
        <p:nvPicPr>
          <p:cNvPr id="133" name="Google Shape;133;g384514fc5ec_0_0" title="OQECVU0.jpg"/>
          <p:cNvPicPr preferRelativeResize="0"/>
          <p:nvPr/>
        </p:nvPicPr>
        <p:blipFill>
          <a:blip r:embed="rId6">
            <a:alphaModFix/>
          </a:blip>
          <a:stretch>
            <a:fillRect/>
          </a:stretch>
        </p:blipFill>
        <p:spPr>
          <a:xfrm>
            <a:off x="6882750" y="714900"/>
            <a:ext cx="4559400" cy="45594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preencoded.png" id="139" name="Google Shape;139;g384514fc5ec_0_19"/>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40" name="Google Shape;140;g384514fc5ec_0_19"/>
          <p:cNvPicPr preferRelativeResize="0"/>
          <p:nvPr/>
        </p:nvPicPr>
        <p:blipFill rotWithShape="1">
          <a:blip r:embed="rId4">
            <a:alphaModFix/>
          </a:blip>
          <a:srcRect b="0" l="0" r="0" t="0"/>
          <a:stretch/>
        </p:blipFill>
        <p:spPr>
          <a:xfrm>
            <a:off x="298450" y="2298700"/>
            <a:ext cx="11893551" cy="4559300"/>
          </a:xfrm>
          <a:prstGeom prst="rect">
            <a:avLst/>
          </a:prstGeom>
          <a:noFill/>
          <a:ln>
            <a:noFill/>
          </a:ln>
        </p:spPr>
      </p:pic>
      <p:pic>
        <p:nvPicPr>
          <p:cNvPr descr="preencoded.png" id="141" name="Google Shape;141;g384514fc5ec_0_19"/>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42" name="Google Shape;142;g384514fc5ec_0_19"/>
          <p:cNvSpPr/>
          <p:nvPr/>
        </p:nvSpPr>
        <p:spPr>
          <a:xfrm>
            <a:off x="298450" y="1678665"/>
            <a:ext cx="5334900" cy="794100"/>
          </a:xfrm>
          <a:prstGeom prst="rect">
            <a:avLst/>
          </a:prstGeom>
          <a:noFill/>
          <a:ln>
            <a:noFill/>
          </a:ln>
          <a:effectLst>
            <a:outerShdw blurRad="57150" rotWithShape="0" algn="bl" dir="5400000" dist="19050">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3500">
                <a:solidFill>
                  <a:srgbClr val="FFFF01"/>
                </a:solidFill>
                <a:latin typeface="Asap"/>
                <a:ea typeface="Asap"/>
                <a:cs typeface="Asap"/>
                <a:sym typeface="Asap"/>
              </a:rPr>
              <a:t>ISTORIA ML-ULUI</a:t>
            </a:r>
            <a:endParaRPr b="0" i="0" sz="3500" u="none" cap="none" strike="noStrike">
              <a:solidFill>
                <a:schemeClr val="dk1"/>
              </a:solidFill>
              <a:latin typeface="Calibri"/>
              <a:ea typeface="Calibri"/>
              <a:cs typeface="Calibri"/>
              <a:sym typeface="Calibri"/>
            </a:endParaRPr>
          </a:p>
        </p:txBody>
      </p:sp>
      <p:sp>
        <p:nvSpPr>
          <p:cNvPr id="143" name="Google Shape;143;g384514fc5ec_0_19"/>
          <p:cNvSpPr/>
          <p:nvPr/>
        </p:nvSpPr>
        <p:spPr>
          <a:xfrm>
            <a:off x="364350" y="2472775"/>
            <a:ext cx="10573200" cy="348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b="1" lang="en-US" sz="2400">
                <a:solidFill>
                  <a:schemeClr val="lt1"/>
                </a:solidFill>
                <a:latin typeface="Asap"/>
                <a:ea typeface="Asap"/>
                <a:cs typeface="Asap"/>
                <a:sym typeface="Asap"/>
              </a:rPr>
              <a:t>DeepBlue vs Kasparov (1997)</a:t>
            </a:r>
            <a:endParaRPr b="1" sz="24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Brute force + heuristici fixe</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Daca relua o pozitie, muta la fel de fiecare data</a:t>
            </a:r>
            <a:endParaRPr sz="2000">
              <a:solidFill>
                <a:schemeClr val="lt1"/>
              </a:solidFill>
              <a:latin typeface="Asap"/>
              <a:ea typeface="Asap"/>
              <a:cs typeface="Asap"/>
              <a:sym typeface="Asap"/>
            </a:endParaRPr>
          </a:p>
          <a:p>
            <a:pPr indent="0" lvl="0" marL="457200" marR="0" rtl="0" algn="l">
              <a:lnSpc>
                <a:spcPct val="100000"/>
              </a:lnSpc>
              <a:spcBef>
                <a:spcPts val="0"/>
              </a:spcBef>
              <a:spcAft>
                <a:spcPts val="0"/>
              </a:spcAft>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rPr b="1" lang="en-US" sz="2100">
                <a:solidFill>
                  <a:schemeClr val="lt1"/>
                </a:solidFill>
                <a:latin typeface="Asap"/>
                <a:ea typeface="Asap"/>
                <a:cs typeface="Asap"/>
                <a:sym typeface="Asap"/>
              </a:rPr>
              <a:t>❌ZERO adaptabilitate, din nou - programatorii trebuiau sa prevada toate cazurile</a:t>
            </a:r>
            <a:endParaRPr b="1" i="0" sz="1700" u="none" cap="none" strike="noStrike">
              <a:solidFill>
                <a:schemeClr val="lt1"/>
              </a:solidFill>
              <a:latin typeface="Asap"/>
              <a:ea typeface="Asap"/>
              <a:cs typeface="Asap"/>
              <a:sym typeface="Asap"/>
            </a:endParaRPr>
          </a:p>
        </p:txBody>
      </p:sp>
      <p:pic>
        <p:nvPicPr>
          <p:cNvPr id="144" name="Google Shape;144;g384514fc5ec_0_19" title="chess.jpg"/>
          <p:cNvPicPr preferRelativeResize="0"/>
          <p:nvPr/>
        </p:nvPicPr>
        <p:blipFill>
          <a:blip r:embed="rId6">
            <a:alphaModFix/>
          </a:blip>
          <a:stretch>
            <a:fillRect/>
          </a:stretch>
        </p:blipFill>
        <p:spPr>
          <a:xfrm>
            <a:off x="6650033" y="1491050"/>
            <a:ext cx="5226300" cy="34833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preencoded.png" id="150" name="Google Shape;150;g384514fc5ec_0_32"/>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51" name="Google Shape;151;g384514fc5ec_0_32"/>
          <p:cNvPicPr preferRelativeResize="0"/>
          <p:nvPr/>
        </p:nvPicPr>
        <p:blipFill rotWithShape="1">
          <a:blip r:embed="rId4">
            <a:alphaModFix/>
          </a:blip>
          <a:srcRect b="0" l="0" r="0" t="0"/>
          <a:stretch/>
        </p:blipFill>
        <p:spPr>
          <a:xfrm>
            <a:off x="298450" y="2298700"/>
            <a:ext cx="11893551" cy="4559300"/>
          </a:xfrm>
          <a:prstGeom prst="rect">
            <a:avLst/>
          </a:prstGeom>
          <a:noFill/>
          <a:ln>
            <a:noFill/>
          </a:ln>
        </p:spPr>
      </p:pic>
      <p:pic>
        <p:nvPicPr>
          <p:cNvPr descr="preencoded.png" id="152" name="Google Shape;152;g384514fc5ec_0_32"/>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53" name="Google Shape;153;g384514fc5ec_0_32"/>
          <p:cNvSpPr/>
          <p:nvPr/>
        </p:nvSpPr>
        <p:spPr>
          <a:xfrm>
            <a:off x="298450" y="1678665"/>
            <a:ext cx="5334900" cy="794100"/>
          </a:xfrm>
          <a:prstGeom prst="rect">
            <a:avLst/>
          </a:prstGeom>
          <a:noFill/>
          <a:ln>
            <a:noFill/>
          </a:ln>
          <a:effectLst>
            <a:outerShdw blurRad="57150" rotWithShape="0" algn="bl" dir="5400000" dist="19050">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3500">
                <a:solidFill>
                  <a:srgbClr val="FFFF01"/>
                </a:solidFill>
                <a:latin typeface="Asap"/>
                <a:ea typeface="Asap"/>
                <a:cs typeface="Asap"/>
                <a:sym typeface="Asap"/>
              </a:rPr>
              <a:t>ISTORIA ML-ULUI</a:t>
            </a:r>
            <a:endParaRPr b="0" i="0" sz="3500" u="none" cap="none" strike="noStrike">
              <a:solidFill>
                <a:schemeClr val="dk1"/>
              </a:solidFill>
              <a:latin typeface="Calibri"/>
              <a:ea typeface="Calibri"/>
              <a:cs typeface="Calibri"/>
              <a:sym typeface="Calibri"/>
            </a:endParaRPr>
          </a:p>
        </p:txBody>
      </p:sp>
      <p:sp>
        <p:nvSpPr>
          <p:cNvPr id="154" name="Google Shape;154;g384514fc5ec_0_32"/>
          <p:cNvSpPr/>
          <p:nvPr/>
        </p:nvSpPr>
        <p:spPr>
          <a:xfrm>
            <a:off x="364350" y="2472775"/>
            <a:ext cx="10573200" cy="348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b="1" lang="en-US" sz="2400">
                <a:solidFill>
                  <a:schemeClr val="lt1"/>
                </a:solidFill>
                <a:latin typeface="Asap"/>
                <a:ea typeface="Asap"/>
                <a:cs typeface="Asap"/>
                <a:sym typeface="Asap"/>
              </a:rPr>
              <a:t>AlexNet (2012)</a:t>
            </a:r>
            <a:endParaRPr b="1" sz="24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Error ↓ de la 26% -&gt; 15% </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Milioane de parametrii</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GPU revolution</a:t>
            </a:r>
            <a:endParaRPr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rPr b="1" lang="en-US" sz="2100">
                <a:solidFill>
                  <a:schemeClr val="lt1"/>
                </a:solidFill>
                <a:latin typeface="Asap"/>
                <a:ea typeface="Asap"/>
                <a:cs typeface="Asap"/>
                <a:sym typeface="Asap"/>
              </a:rPr>
              <a:t>✅Sistemul a inceput sa gandeasca pattern-uri noi, nu doar sa aplice reguli</a:t>
            </a:r>
            <a:endParaRPr b="1" sz="2100">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800"/>
              <a:buFont typeface="Arial"/>
              <a:buNone/>
            </a:pPr>
            <a:r>
              <a:rPr b="1" lang="en-US" sz="2100">
                <a:solidFill>
                  <a:schemeClr val="lt1"/>
                </a:solidFill>
                <a:latin typeface="Asap"/>
                <a:ea typeface="Asap"/>
                <a:cs typeface="Asap"/>
                <a:sym typeface="Asap"/>
              </a:rPr>
              <a:t>✅ Modelul AlexNet invata singur din 1.2M imagini</a:t>
            </a:r>
            <a:endParaRPr b="1" sz="2100">
              <a:solidFill>
                <a:schemeClr val="lt1"/>
              </a:solidFill>
              <a:latin typeface="Asap"/>
              <a:ea typeface="Asap"/>
              <a:cs typeface="Asap"/>
              <a:sym typeface="Asap"/>
            </a:endParaRPr>
          </a:p>
        </p:txBody>
      </p:sp>
      <p:pic>
        <p:nvPicPr>
          <p:cNvPr id="155" name="Google Shape;155;g384514fc5ec_0_32" title="digital-art-ai-technology-background.jpg"/>
          <p:cNvPicPr preferRelativeResize="0"/>
          <p:nvPr/>
        </p:nvPicPr>
        <p:blipFill>
          <a:blip r:embed="rId6">
            <a:alphaModFix/>
          </a:blip>
          <a:stretch>
            <a:fillRect/>
          </a:stretch>
        </p:blipFill>
        <p:spPr>
          <a:xfrm>
            <a:off x="4455900" y="1118750"/>
            <a:ext cx="7273200" cy="40914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preencoded.png" id="161" name="Google Shape;161;g384514fc5ec_0_47"/>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62" name="Google Shape;162;g384514fc5ec_0_47"/>
          <p:cNvPicPr preferRelativeResize="0"/>
          <p:nvPr/>
        </p:nvPicPr>
        <p:blipFill rotWithShape="1">
          <a:blip r:embed="rId4">
            <a:alphaModFix/>
          </a:blip>
          <a:srcRect b="0" l="0" r="0" t="0"/>
          <a:stretch/>
        </p:blipFill>
        <p:spPr>
          <a:xfrm>
            <a:off x="298450" y="2298700"/>
            <a:ext cx="11893551" cy="4559300"/>
          </a:xfrm>
          <a:prstGeom prst="rect">
            <a:avLst/>
          </a:prstGeom>
          <a:noFill/>
          <a:ln>
            <a:noFill/>
          </a:ln>
        </p:spPr>
      </p:pic>
      <p:pic>
        <p:nvPicPr>
          <p:cNvPr descr="preencoded.png" id="163" name="Google Shape;163;g384514fc5ec_0_47"/>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64" name="Google Shape;164;g384514fc5ec_0_47"/>
          <p:cNvSpPr/>
          <p:nvPr/>
        </p:nvSpPr>
        <p:spPr>
          <a:xfrm>
            <a:off x="298450" y="1678665"/>
            <a:ext cx="5334900" cy="794100"/>
          </a:xfrm>
          <a:prstGeom prst="rect">
            <a:avLst/>
          </a:prstGeom>
          <a:noFill/>
          <a:ln>
            <a:noFill/>
          </a:ln>
          <a:effectLst>
            <a:outerShdw blurRad="57150" rotWithShape="0" algn="bl" dir="5400000" dist="19050">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3500">
                <a:solidFill>
                  <a:srgbClr val="FFFF01"/>
                </a:solidFill>
                <a:latin typeface="Asap"/>
                <a:ea typeface="Asap"/>
                <a:cs typeface="Asap"/>
                <a:sym typeface="Asap"/>
              </a:rPr>
              <a:t>ISTORIA ML-ULUI</a:t>
            </a:r>
            <a:endParaRPr b="0" i="0" sz="3500" u="none" cap="none" strike="noStrike">
              <a:solidFill>
                <a:schemeClr val="dk1"/>
              </a:solidFill>
              <a:latin typeface="Calibri"/>
              <a:ea typeface="Calibri"/>
              <a:cs typeface="Calibri"/>
              <a:sym typeface="Calibri"/>
            </a:endParaRPr>
          </a:p>
        </p:txBody>
      </p:sp>
      <p:sp>
        <p:nvSpPr>
          <p:cNvPr id="165" name="Google Shape;165;g384514fc5ec_0_47"/>
          <p:cNvSpPr/>
          <p:nvPr/>
        </p:nvSpPr>
        <p:spPr>
          <a:xfrm>
            <a:off x="364350" y="2472775"/>
            <a:ext cx="10573200" cy="348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b="1" lang="en-US" sz="2400">
                <a:solidFill>
                  <a:schemeClr val="lt1"/>
                </a:solidFill>
                <a:latin typeface="Asap"/>
                <a:ea typeface="Asap"/>
                <a:cs typeface="Asap"/>
                <a:sym typeface="Asap"/>
              </a:rPr>
              <a:t>Explozia Computer Vision (2016-2017)</a:t>
            </a:r>
            <a:endParaRPr b="1" sz="24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b="1" sz="20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lang="en-US" sz="2000">
                <a:solidFill>
                  <a:schemeClr val="lt1"/>
                </a:solidFill>
                <a:latin typeface="Asap"/>
                <a:ea typeface="Asap"/>
                <a:cs typeface="Asap"/>
                <a:sym typeface="Asap"/>
              </a:rPr>
              <a:t>Posibila pentru ca:</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Aveam date suficiente</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GPU Power si cloud</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Arhitecturi noi aparute</a:t>
            </a:r>
            <a:endParaRPr sz="2000">
              <a:solidFill>
                <a:schemeClr val="lt1"/>
              </a:solidFill>
              <a:latin typeface="Asap"/>
              <a:ea typeface="Asap"/>
              <a:cs typeface="Asap"/>
              <a:sym typeface="Asap"/>
            </a:endParaRPr>
          </a:p>
          <a:p>
            <a:pPr indent="0" lvl="0" marL="0" rtl="0" algn="l">
              <a:lnSpc>
                <a:spcPct val="115000"/>
              </a:lnSpc>
              <a:spcBef>
                <a:spcPts val="0"/>
              </a:spcBef>
              <a:spcAft>
                <a:spcPts val="0"/>
              </a:spcAft>
              <a:buNone/>
            </a:pPr>
            <a:r>
              <a:t/>
            </a:r>
            <a:endParaRPr sz="2000">
              <a:solidFill>
                <a:schemeClr val="lt1"/>
              </a:solidFill>
              <a:latin typeface="Asap"/>
              <a:ea typeface="Asap"/>
              <a:cs typeface="Asap"/>
              <a:sym typeface="Asap"/>
            </a:endParaRPr>
          </a:p>
          <a:p>
            <a:pPr indent="0" lvl="0" marL="0" rtl="0" algn="l">
              <a:lnSpc>
                <a:spcPct val="115000"/>
              </a:lnSpc>
              <a:spcBef>
                <a:spcPts val="0"/>
              </a:spcBef>
              <a:spcAft>
                <a:spcPts val="0"/>
              </a:spcAft>
              <a:buNone/>
            </a:pPr>
            <a:r>
              <a:rPr lang="en-US" sz="2000">
                <a:solidFill>
                  <a:schemeClr val="lt1"/>
                </a:solidFill>
                <a:latin typeface="Asap"/>
                <a:ea typeface="Asap"/>
                <a:cs typeface="Asap"/>
                <a:sym typeface="Asap"/>
              </a:rPr>
              <a:t>Piata a explodat in cativa ani:</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Recunoastere faciala pe Iphone X</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Pilot automat in masini Tesla</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Diagnosticare medicala asistata de AI (ex. detectie tumori)</a:t>
            </a:r>
            <a:endParaRPr sz="2000">
              <a:solidFill>
                <a:schemeClr val="lt1"/>
              </a:solidFill>
              <a:latin typeface="Asap"/>
              <a:ea typeface="Asap"/>
              <a:cs typeface="Asap"/>
              <a:sym typeface="Asap"/>
            </a:endParaRPr>
          </a:p>
        </p:txBody>
      </p:sp>
      <p:pic>
        <p:nvPicPr>
          <p:cNvPr id="166" name="Google Shape;166;g384514fc5ec_0_47"/>
          <p:cNvPicPr preferRelativeResize="0"/>
          <p:nvPr/>
        </p:nvPicPr>
        <p:blipFill>
          <a:blip r:embed="rId6">
            <a:alphaModFix/>
          </a:blip>
          <a:stretch>
            <a:fillRect/>
          </a:stretch>
        </p:blipFill>
        <p:spPr>
          <a:xfrm>
            <a:off x="6236818" y="850800"/>
            <a:ext cx="4509900" cy="4497000"/>
          </a:xfrm>
          <a:prstGeom prst="roundRect">
            <a:avLst>
              <a:gd fmla="val 10514"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preencoded.png" id="172" name="Google Shape;172;g384514fc5ec_0_58"/>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73" name="Google Shape;173;g384514fc5ec_0_58"/>
          <p:cNvPicPr preferRelativeResize="0"/>
          <p:nvPr/>
        </p:nvPicPr>
        <p:blipFill rotWithShape="1">
          <a:blip r:embed="rId4">
            <a:alphaModFix/>
          </a:blip>
          <a:srcRect b="0" l="0" r="0" t="0"/>
          <a:stretch/>
        </p:blipFill>
        <p:spPr>
          <a:xfrm>
            <a:off x="298450" y="2298700"/>
            <a:ext cx="11893551" cy="4559300"/>
          </a:xfrm>
          <a:prstGeom prst="rect">
            <a:avLst/>
          </a:prstGeom>
          <a:noFill/>
          <a:ln>
            <a:noFill/>
          </a:ln>
        </p:spPr>
      </p:pic>
      <p:pic>
        <p:nvPicPr>
          <p:cNvPr descr="preencoded.png" id="174" name="Google Shape;174;g384514fc5ec_0_58"/>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75" name="Google Shape;175;g384514fc5ec_0_58"/>
          <p:cNvSpPr/>
          <p:nvPr/>
        </p:nvSpPr>
        <p:spPr>
          <a:xfrm>
            <a:off x="298450" y="1678665"/>
            <a:ext cx="5334900" cy="794100"/>
          </a:xfrm>
          <a:prstGeom prst="rect">
            <a:avLst/>
          </a:prstGeom>
          <a:noFill/>
          <a:ln>
            <a:noFill/>
          </a:ln>
          <a:effectLst>
            <a:outerShdw blurRad="57150" rotWithShape="0" algn="bl" dir="5400000" dist="19050">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3500">
                <a:solidFill>
                  <a:srgbClr val="FFFF01"/>
                </a:solidFill>
                <a:latin typeface="Asap"/>
                <a:ea typeface="Asap"/>
                <a:cs typeface="Asap"/>
                <a:sym typeface="Asap"/>
              </a:rPr>
              <a:t>ISTORIA ML-ULUI</a:t>
            </a:r>
            <a:endParaRPr b="0" i="0" sz="3500" u="none" cap="none" strike="noStrike">
              <a:solidFill>
                <a:schemeClr val="dk1"/>
              </a:solidFill>
              <a:latin typeface="Calibri"/>
              <a:ea typeface="Calibri"/>
              <a:cs typeface="Calibri"/>
              <a:sym typeface="Calibri"/>
            </a:endParaRPr>
          </a:p>
        </p:txBody>
      </p:sp>
      <p:sp>
        <p:nvSpPr>
          <p:cNvPr id="176" name="Google Shape;176;g384514fc5ec_0_58"/>
          <p:cNvSpPr/>
          <p:nvPr/>
        </p:nvSpPr>
        <p:spPr>
          <a:xfrm>
            <a:off x="364350" y="2472775"/>
            <a:ext cx="10573200" cy="348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rPr b="1" lang="en-US" sz="2400">
                <a:solidFill>
                  <a:schemeClr val="lt1"/>
                </a:solidFill>
                <a:latin typeface="Asap"/>
                <a:ea typeface="Asap"/>
                <a:cs typeface="Asap"/>
                <a:sym typeface="Asap"/>
              </a:rPr>
              <a:t>Transformers &amp; LLMs (2017-prezent)</a:t>
            </a:r>
            <a:endParaRPr b="1" sz="24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800"/>
              <a:buFont typeface="Arial"/>
              <a:buNone/>
            </a:pPr>
            <a:r>
              <a:t/>
            </a:r>
            <a:endParaRPr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2017 -&gt; </a:t>
            </a:r>
            <a:r>
              <a:rPr b="1" lang="en-US" sz="2000">
                <a:solidFill>
                  <a:schemeClr val="lt1"/>
                </a:solidFill>
                <a:latin typeface="Asap"/>
                <a:ea typeface="Asap"/>
                <a:cs typeface="Asap"/>
                <a:sym typeface="Asap"/>
              </a:rPr>
              <a:t>Attention Is All You Need</a:t>
            </a:r>
            <a:endParaRPr b="1" sz="2000">
              <a:solidFill>
                <a:schemeClr val="lt1"/>
              </a:solidFill>
              <a:latin typeface="Asap"/>
              <a:ea typeface="Asap"/>
              <a:cs typeface="Asap"/>
              <a:sym typeface="Asap"/>
            </a:endParaRPr>
          </a:p>
          <a:p>
            <a:pPr indent="-355600" lvl="0" marL="4572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In loc sa parcurga textul cuvant cu cuvant, modelele de atentie privesc intreaga propozitie simultan </a:t>
            </a:r>
            <a:endParaRPr sz="2000">
              <a:solidFill>
                <a:schemeClr val="lt1"/>
              </a:solidFill>
              <a:latin typeface="Asap"/>
              <a:ea typeface="Asap"/>
              <a:cs typeface="Asap"/>
              <a:sym typeface="Asap"/>
            </a:endParaRPr>
          </a:p>
          <a:p>
            <a:pPr indent="0" lvl="0" marL="457200" rtl="0" algn="l">
              <a:lnSpc>
                <a:spcPct val="115000"/>
              </a:lnSpc>
              <a:spcBef>
                <a:spcPts val="0"/>
              </a:spcBef>
              <a:spcAft>
                <a:spcPts val="0"/>
              </a:spcAft>
              <a:buNone/>
            </a:pPr>
            <a:r>
              <a:t/>
            </a:r>
            <a:endParaRPr b="1" sz="2000">
              <a:solidFill>
                <a:schemeClr val="lt1"/>
              </a:solidFill>
              <a:latin typeface="Asap"/>
              <a:ea typeface="Asap"/>
              <a:cs typeface="Asap"/>
              <a:sym typeface="Asa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preencoded.png" id="182" name="Google Shape;182;g3802e9e6971_0_103"/>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83" name="Google Shape;183;g3802e9e6971_0_103"/>
          <p:cNvPicPr preferRelativeResize="0"/>
          <p:nvPr/>
        </p:nvPicPr>
        <p:blipFill rotWithShape="1">
          <a:blip r:embed="rId4">
            <a:alphaModFix/>
          </a:blip>
          <a:srcRect b="0" l="0" r="0" t="0"/>
          <a:stretch/>
        </p:blipFill>
        <p:spPr>
          <a:xfrm>
            <a:off x="298450" y="2298700"/>
            <a:ext cx="9944398" cy="4559300"/>
          </a:xfrm>
          <a:prstGeom prst="rect">
            <a:avLst/>
          </a:prstGeom>
          <a:noFill/>
          <a:ln>
            <a:noFill/>
          </a:ln>
        </p:spPr>
      </p:pic>
      <p:pic>
        <p:nvPicPr>
          <p:cNvPr descr="preencoded.png" id="184" name="Google Shape;184;g3802e9e6971_0_103"/>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85" name="Google Shape;185;g3802e9e6971_0_103"/>
          <p:cNvSpPr/>
          <p:nvPr/>
        </p:nvSpPr>
        <p:spPr>
          <a:xfrm>
            <a:off x="298450" y="1469300"/>
            <a:ext cx="6912600" cy="687900"/>
          </a:xfrm>
          <a:prstGeom prst="rect">
            <a:avLst/>
          </a:prstGeom>
          <a:noFill/>
          <a:ln>
            <a:noFill/>
          </a:ln>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4900">
                <a:solidFill>
                  <a:srgbClr val="FFFF01"/>
                </a:solidFill>
                <a:latin typeface="Asap"/>
                <a:ea typeface="Asap"/>
                <a:cs typeface="Asap"/>
                <a:sym typeface="Asap"/>
              </a:rPr>
              <a:t>TIPURI DE INVATARE</a:t>
            </a:r>
            <a:endParaRPr b="0" i="0" sz="4900" u="none" cap="none" strike="noStrike">
              <a:solidFill>
                <a:schemeClr val="dk1"/>
              </a:solidFill>
              <a:latin typeface="Calibri"/>
              <a:ea typeface="Calibri"/>
              <a:cs typeface="Calibri"/>
              <a:sym typeface="Calibri"/>
            </a:endParaRPr>
          </a:p>
        </p:txBody>
      </p:sp>
      <p:sp>
        <p:nvSpPr>
          <p:cNvPr id="186" name="Google Shape;186;g3802e9e6971_0_103"/>
          <p:cNvSpPr/>
          <p:nvPr/>
        </p:nvSpPr>
        <p:spPr>
          <a:xfrm>
            <a:off x="1480150" y="2453875"/>
            <a:ext cx="3378300" cy="303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2000"/>
              <a:buFont typeface="Asap Medium"/>
              <a:buNone/>
            </a:pPr>
            <a:r>
              <a:rPr b="1" lang="en-US" sz="2500">
                <a:solidFill>
                  <a:srgbClr val="FFFF01"/>
                </a:solidFill>
                <a:latin typeface="Asap"/>
                <a:ea typeface="Asap"/>
                <a:cs typeface="Asap"/>
                <a:sym typeface="Asap"/>
              </a:rPr>
              <a:t>SUPERVISED LEARNING</a:t>
            </a:r>
            <a:endParaRPr b="1" i="0" sz="2500" u="none" cap="none" strike="noStrike">
              <a:solidFill>
                <a:srgbClr val="FFFF01"/>
              </a:solidFill>
              <a:latin typeface="Calibri"/>
              <a:ea typeface="Calibri"/>
              <a:cs typeface="Calibri"/>
              <a:sym typeface="Calibri"/>
            </a:endParaRPr>
          </a:p>
        </p:txBody>
      </p:sp>
      <p:sp>
        <p:nvSpPr>
          <p:cNvPr id="187" name="Google Shape;187;g3802e9e6971_0_103"/>
          <p:cNvSpPr/>
          <p:nvPr/>
        </p:nvSpPr>
        <p:spPr>
          <a:xfrm>
            <a:off x="806651" y="3136900"/>
            <a:ext cx="8626800" cy="3492600"/>
          </a:xfrm>
          <a:prstGeom prst="rect">
            <a:avLst/>
          </a:prstGeom>
          <a:noFill/>
          <a:ln>
            <a:noFill/>
          </a:ln>
        </p:spPr>
        <p:txBody>
          <a:bodyPr anchorCtr="0" anchor="t" bIns="0" lIns="0" spcFirstLastPara="1" rIns="0" wrap="square" tIns="0">
            <a:noAutofit/>
          </a:bodyPr>
          <a:lstStyle/>
          <a:p>
            <a:pPr indent="-171450" lvl="0" marL="285750" rtl="0" algn="l">
              <a:lnSpc>
                <a:spcPct val="150000"/>
              </a:lnSpc>
              <a:spcBef>
                <a:spcPts val="0"/>
              </a:spcBef>
              <a:spcAft>
                <a:spcPts val="0"/>
              </a:spcAft>
              <a:buNone/>
            </a:pPr>
            <a:r>
              <a:rPr lang="en-US" sz="2000">
                <a:solidFill>
                  <a:schemeClr val="lt1"/>
                </a:solidFill>
                <a:latin typeface="Asap Medium"/>
                <a:ea typeface="Asap Medium"/>
                <a:cs typeface="Asap Medium"/>
                <a:sym typeface="Asap Medium"/>
              </a:rPr>
              <a:t>✅ Învață din exemple cu răspunsuri corecte</a:t>
            </a:r>
            <a:endParaRPr sz="2000">
              <a:solidFill>
                <a:schemeClr val="lt1"/>
              </a:solidFill>
              <a:latin typeface="Asap Medium"/>
              <a:ea typeface="Asap Medium"/>
              <a:cs typeface="Asap Medium"/>
              <a:sym typeface="Asap Medium"/>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lt1"/>
                </a:solidFill>
                <a:latin typeface="Asap Medium"/>
                <a:ea typeface="Asap Medium"/>
                <a:cs typeface="Asap Medium"/>
                <a:sym typeface="Asap Medium"/>
              </a:rPr>
              <a:t>Exemple:</a:t>
            </a:r>
            <a:endParaRPr sz="2000">
              <a:solidFill>
                <a:schemeClr val="lt1"/>
              </a:solidFill>
              <a:latin typeface="Asap Medium"/>
              <a:ea typeface="Asap Medium"/>
              <a:cs typeface="Asap Medium"/>
              <a:sym typeface="Asap Medium"/>
            </a:endParaRPr>
          </a:p>
          <a:p>
            <a:pPr indent="-298450" lvl="0" marL="457200" rtl="0" algn="l">
              <a:lnSpc>
                <a:spcPct val="115000"/>
              </a:lnSpc>
              <a:spcBef>
                <a:spcPts val="1200"/>
              </a:spcBef>
              <a:spcAft>
                <a:spcPts val="0"/>
              </a:spcAft>
              <a:buClr>
                <a:srgbClr val="FFFF01"/>
              </a:buClr>
              <a:buSzPts val="1100"/>
              <a:buChar char="●"/>
            </a:pPr>
            <a:r>
              <a:rPr lang="en-US" sz="2000">
                <a:solidFill>
                  <a:schemeClr val="lt1"/>
                </a:solidFill>
                <a:latin typeface="Asap Medium"/>
                <a:ea typeface="Asap Medium"/>
                <a:cs typeface="Asap Medium"/>
                <a:sym typeface="Asap Medium"/>
              </a:rPr>
              <a:t>Detectarea spam-ului în email</a:t>
            </a:r>
            <a:endParaRPr sz="2000">
              <a:solidFill>
                <a:schemeClr val="lt1"/>
              </a:solidFill>
              <a:latin typeface="Asap Medium"/>
              <a:ea typeface="Asap Medium"/>
              <a:cs typeface="Asap Medium"/>
              <a:sym typeface="Asap Medium"/>
            </a:endParaRPr>
          </a:p>
          <a:p>
            <a:pPr indent="-298450" lvl="0" marL="457200" rtl="0" algn="l">
              <a:lnSpc>
                <a:spcPct val="115000"/>
              </a:lnSpc>
              <a:spcBef>
                <a:spcPts val="0"/>
              </a:spcBef>
              <a:spcAft>
                <a:spcPts val="0"/>
              </a:spcAft>
              <a:buClr>
                <a:srgbClr val="FFFF01"/>
              </a:buClr>
              <a:buSzPts val="1100"/>
              <a:buChar char="●"/>
            </a:pPr>
            <a:r>
              <a:rPr lang="en-US" sz="2000">
                <a:solidFill>
                  <a:schemeClr val="lt1"/>
                </a:solidFill>
                <a:latin typeface="Asap Medium"/>
                <a:ea typeface="Asap Medium"/>
                <a:cs typeface="Asap Medium"/>
                <a:sym typeface="Asap Medium"/>
              </a:rPr>
              <a:t>Recunoașterea imaginilor</a:t>
            </a:r>
            <a:endParaRPr sz="2000">
              <a:solidFill>
                <a:schemeClr val="lt1"/>
              </a:solidFill>
              <a:latin typeface="Asap Medium"/>
              <a:ea typeface="Asap Medium"/>
              <a:cs typeface="Asap Medium"/>
              <a:sym typeface="Asap Medium"/>
            </a:endParaRPr>
          </a:p>
          <a:p>
            <a:pPr indent="-298450" lvl="0" marL="457200" rtl="0" algn="l">
              <a:lnSpc>
                <a:spcPct val="115000"/>
              </a:lnSpc>
              <a:spcBef>
                <a:spcPts val="0"/>
              </a:spcBef>
              <a:spcAft>
                <a:spcPts val="0"/>
              </a:spcAft>
              <a:buClr>
                <a:srgbClr val="FFFF01"/>
              </a:buClr>
              <a:buSzPts val="1100"/>
              <a:buChar char="●"/>
            </a:pPr>
            <a:r>
              <a:rPr lang="en-US" sz="2000">
                <a:solidFill>
                  <a:schemeClr val="lt1"/>
                </a:solidFill>
                <a:latin typeface="Asap Medium"/>
                <a:ea typeface="Asap Medium"/>
                <a:cs typeface="Asap Medium"/>
                <a:sym typeface="Asap Medium"/>
              </a:rPr>
              <a:t>Predicția prețurilor caselor</a:t>
            </a:r>
            <a:endParaRPr sz="2000">
              <a:solidFill>
                <a:schemeClr val="lt1"/>
              </a:solidFill>
              <a:latin typeface="Asap Medium"/>
              <a:ea typeface="Asap Medium"/>
              <a:cs typeface="Asap Medium"/>
              <a:sym typeface="Asap Medium"/>
            </a:endParaRPr>
          </a:p>
          <a:p>
            <a:pPr indent="0" lvl="0" marL="0" rtl="0" algn="l">
              <a:lnSpc>
                <a:spcPct val="115000"/>
              </a:lnSpc>
              <a:spcBef>
                <a:spcPts val="1200"/>
              </a:spcBef>
              <a:spcAft>
                <a:spcPts val="0"/>
              </a:spcAft>
              <a:buNone/>
            </a:pPr>
            <a:r>
              <a:rPr b="1" lang="en-US" sz="2000">
                <a:solidFill>
                  <a:schemeClr val="lt1"/>
                </a:solidFill>
                <a:latin typeface="Asap"/>
                <a:ea typeface="Asap"/>
                <a:cs typeface="Asap"/>
                <a:sym typeface="Asap"/>
              </a:rPr>
              <a:t>📌 Se folosește când: ai multe date label-uite (etichetate)</a:t>
            </a:r>
            <a:endParaRPr b="1" sz="20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2000">
              <a:solidFill>
                <a:schemeClr val="lt1"/>
              </a:solidFill>
              <a:latin typeface="Asap Medium"/>
              <a:ea typeface="Asap Medium"/>
              <a:cs typeface="Asap Medium"/>
              <a:sym typeface="Asap Medium"/>
            </a:endParaRPr>
          </a:p>
        </p:txBody>
      </p:sp>
      <p:sp>
        <p:nvSpPr>
          <p:cNvPr id="188" name="Google Shape;188;g3802e9e6971_0_103"/>
          <p:cNvSpPr txBox="1"/>
          <p:nvPr/>
        </p:nvSpPr>
        <p:spPr>
          <a:xfrm>
            <a:off x="806650" y="2362350"/>
            <a:ext cx="629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t>🎯</a:t>
            </a:r>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preencoded.png" id="194" name="Google Shape;194;g384514fc5ec_0_71"/>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195" name="Google Shape;195;g384514fc5ec_0_71"/>
          <p:cNvPicPr preferRelativeResize="0"/>
          <p:nvPr/>
        </p:nvPicPr>
        <p:blipFill rotWithShape="1">
          <a:blip r:embed="rId4">
            <a:alphaModFix/>
          </a:blip>
          <a:srcRect b="0" l="0" r="0" t="0"/>
          <a:stretch/>
        </p:blipFill>
        <p:spPr>
          <a:xfrm>
            <a:off x="298450" y="2298700"/>
            <a:ext cx="9944398" cy="4559300"/>
          </a:xfrm>
          <a:prstGeom prst="rect">
            <a:avLst/>
          </a:prstGeom>
          <a:noFill/>
          <a:ln>
            <a:noFill/>
          </a:ln>
        </p:spPr>
      </p:pic>
      <p:pic>
        <p:nvPicPr>
          <p:cNvPr descr="preencoded.png" id="196" name="Google Shape;196;g384514fc5ec_0_71"/>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197" name="Google Shape;197;g384514fc5ec_0_71"/>
          <p:cNvSpPr/>
          <p:nvPr/>
        </p:nvSpPr>
        <p:spPr>
          <a:xfrm>
            <a:off x="298450" y="1469300"/>
            <a:ext cx="6912600" cy="687900"/>
          </a:xfrm>
          <a:prstGeom prst="rect">
            <a:avLst/>
          </a:prstGeom>
          <a:noFill/>
          <a:ln>
            <a:noFill/>
          </a:ln>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4900">
                <a:solidFill>
                  <a:srgbClr val="FFFF01"/>
                </a:solidFill>
                <a:latin typeface="Asap"/>
                <a:ea typeface="Asap"/>
                <a:cs typeface="Asap"/>
                <a:sym typeface="Asap"/>
              </a:rPr>
              <a:t>TIPURI DE INVATARE</a:t>
            </a:r>
            <a:endParaRPr b="0" i="0" sz="4900" u="none" cap="none" strike="noStrike">
              <a:solidFill>
                <a:schemeClr val="dk1"/>
              </a:solidFill>
              <a:latin typeface="Calibri"/>
              <a:ea typeface="Calibri"/>
              <a:cs typeface="Calibri"/>
              <a:sym typeface="Calibri"/>
            </a:endParaRPr>
          </a:p>
        </p:txBody>
      </p:sp>
      <p:sp>
        <p:nvSpPr>
          <p:cNvPr id="198" name="Google Shape;198;g384514fc5ec_0_71"/>
          <p:cNvSpPr/>
          <p:nvPr/>
        </p:nvSpPr>
        <p:spPr>
          <a:xfrm>
            <a:off x="1480150" y="2453875"/>
            <a:ext cx="5054100" cy="303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2000"/>
              <a:buFont typeface="Asap Medium"/>
              <a:buNone/>
            </a:pPr>
            <a:r>
              <a:rPr b="1" lang="en-US" sz="2500">
                <a:solidFill>
                  <a:srgbClr val="FFFF01"/>
                </a:solidFill>
                <a:latin typeface="Asap"/>
                <a:ea typeface="Asap"/>
                <a:cs typeface="Asap"/>
                <a:sym typeface="Asap"/>
              </a:rPr>
              <a:t>UN</a:t>
            </a:r>
            <a:r>
              <a:rPr b="1" lang="en-US" sz="2500">
                <a:solidFill>
                  <a:srgbClr val="FFFF01"/>
                </a:solidFill>
                <a:latin typeface="Asap"/>
                <a:ea typeface="Asap"/>
                <a:cs typeface="Asap"/>
                <a:sym typeface="Asap"/>
              </a:rPr>
              <a:t>SUPERVISED LEARNING</a:t>
            </a:r>
            <a:endParaRPr b="1" i="0" sz="2500" u="none" cap="none" strike="noStrike">
              <a:solidFill>
                <a:srgbClr val="FFFF01"/>
              </a:solidFill>
              <a:latin typeface="Calibri"/>
              <a:ea typeface="Calibri"/>
              <a:cs typeface="Calibri"/>
              <a:sym typeface="Calibri"/>
            </a:endParaRPr>
          </a:p>
        </p:txBody>
      </p:sp>
      <p:sp>
        <p:nvSpPr>
          <p:cNvPr id="199" name="Google Shape;199;g384514fc5ec_0_71"/>
          <p:cNvSpPr/>
          <p:nvPr/>
        </p:nvSpPr>
        <p:spPr>
          <a:xfrm>
            <a:off x="806651" y="3136900"/>
            <a:ext cx="8626800" cy="3492600"/>
          </a:xfrm>
          <a:prstGeom prst="rect">
            <a:avLst/>
          </a:prstGeom>
          <a:noFill/>
          <a:ln>
            <a:noFill/>
          </a:ln>
        </p:spPr>
        <p:txBody>
          <a:bodyPr anchorCtr="0" anchor="t" bIns="0" lIns="0" spcFirstLastPara="1" rIns="0" wrap="square" tIns="0">
            <a:noAutofit/>
          </a:bodyPr>
          <a:lstStyle/>
          <a:p>
            <a:pPr indent="-171450" lvl="0" marL="285750" rtl="0" algn="l">
              <a:lnSpc>
                <a:spcPct val="150000"/>
              </a:lnSpc>
              <a:spcBef>
                <a:spcPts val="0"/>
              </a:spcBef>
              <a:spcAft>
                <a:spcPts val="0"/>
              </a:spcAft>
              <a:buNone/>
            </a:pPr>
            <a:r>
              <a:rPr lang="en-US" sz="2000">
                <a:solidFill>
                  <a:schemeClr val="lt1"/>
                </a:solidFill>
                <a:latin typeface="Asap Medium"/>
                <a:ea typeface="Asap Medium"/>
                <a:cs typeface="Asap Medium"/>
                <a:sym typeface="Asap Medium"/>
              </a:rPr>
              <a:t>✅ Descopera pattern-uri ascunse </a:t>
            </a:r>
            <a:endParaRPr sz="2000">
              <a:solidFill>
                <a:schemeClr val="lt1"/>
              </a:solidFill>
              <a:latin typeface="Asap Medium"/>
              <a:ea typeface="Asap Medium"/>
              <a:cs typeface="Asap Medium"/>
              <a:sym typeface="Asap Medium"/>
            </a:endParaRPr>
          </a:p>
          <a:p>
            <a:pPr indent="-171450" lvl="0" marL="285750" rtl="0" algn="l">
              <a:lnSpc>
                <a:spcPct val="150000"/>
              </a:lnSpc>
              <a:spcBef>
                <a:spcPts val="0"/>
              </a:spcBef>
              <a:spcAft>
                <a:spcPts val="0"/>
              </a:spcAft>
              <a:buNone/>
            </a:pPr>
            <a:r>
              <a:t/>
            </a:r>
            <a:endParaRPr sz="2000">
              <a:solidFill>
                <a:schemeClr val="lt1"/>
              </a:solidFill>
              <a:latin typeface="Asap Medium"/>
              <a:ea typeface="Asap Medium"/>
              <a:cs typeface="Asap Medium"/>
              <a:sym typeface="Asap Medium"/>
            </a:endParaRPr>
          </a:p>
          <a:p>
            <a:pPr indent="0" lvl="0" marL="0" rtl="0" algn="l">
              <a:lnSpc>
                <a:spcPct val="115000"/>
              </a:lnSpc>
              <a:spcBef>
                <a:spcPts val="1200"/>
              </a:spcBef>
              <a:spcAft>
                <a:spcPts val="0"/>
              </a:spcAft>
              <a:buNone/>
            </a:pPr>
            <a:r>
              <a:rPr lang="en-US" sz="2000">
                <a:solidFill>
                  <a:schemeClr val="lt1"/>
                </a:solidFill>
                <a:latin typeface="Asap Medium"/>
                <a:ea typeface="Asap Medium"/>
                <a:cs typeface="Asap Medium"/>
                <a:sym typeface="Asap Medium"/>
              </a:rPr>
              <a:t>Exemple:</a:t>
            </a:r>
            <a:endParaRPr sz="2000">
              <a:solidFill>
                <a:schemeClr val="lt1"/>
              </a:solidFill>
              <a:latin typeface="Asap Medium"/>
              <a:ea typeface="Asap Medium"/>
              <a:cs typeface="Asap Medium"/>
              <a:sym typeface="Asap Medium"/>
            </a:endParaRPr>
          </a:p>
          <a:p>
            <a:pPr indent="-298450" lvl="0" marL="457200" rtl="0" algn="l">
              <a:lnSpc>
                <a:spcPct val="115000"/>
              </a:lnSpc>
              <a:spcBef>
                <a:spcPts val="1200"/>
              </a:spcBef>
              <a:spcAft>
                <a:spcPts val="0"/>
              </a:spcAft>
              <a:buClr>
                <a:srgbClr val="FFFF01"/>
              </a:buClr>
              <a:buSzPts val="1100"/>
              <a:buChar char="●"/>
            </a:pPr>
            <a:r>
              <a:rPr lang="en-US" sz="2000">
                <a:solidFill>
                  <a:schemeClr val="lt1"/>
                </a:solidFill>
                <a:latin typeface="Asap Medium"/>
                <a:ea typeface="Asap Medium"/>
                <a:cs typeface="Asap Medium"/>
                <a:sym typeface="Asap Medium"/>
              </a:rPr>
              <a:t>Segmentarea clienților</a:t>
            </a:r>
            <a:endParaRPr sz="2000">
              <a:solidFill>
                <a:schemeClr val="lt1"/>
              </a:solidFill>
              <a:latin typeface="Asap Medium"/>
              <a:ea typeface="Asap Medium"/>
              <a:cs typeface="Asap Medium"/>
              <a:sym typeface="Asap Medium"/>
            </a:endParaRPr>
          </a:p>
          <a:p>
            <a:pPr indent="-298450" lvl="0" marL="457200" rtl="0" algn="l">
              <a:lnSpc>
                <a:spcPct val="115000"/>
              </a:lnSpc>
              <a:spcBef>
                <a:spcPts val="0"/>
              </a:spcBef>
              <a:spcAft>
                <a:spcPts val="0"/>
              </a:spcAft>
              <a:buClr>
                <a:srgbClr val="FFFF01"/>
              </a:buClr>
              <a:buSzPts val="1100"/>
              <a:buChar char="●"/>
            </a:pPr>
            <a:r>
              <a:rPr lang="en-US" sz="2000">
                <a:solidFill>
                  <a:schemeClr val="lt1"/>
                </a:solidFill>
                <a:latin typeface="Asap Medium"/>
                <a:ea typeface="Asap Medium"/>
                <a:cs typeface="Asap Medium"/>
                <a:sym typeface="Asap Medium"/>
              </a:rPr>
              <a:t>Detectarea anomaliilor în tranzacții</a:t>
            </a:r>
            <a:endParaRPr sz="2000">
              <a:solidFill>
                <a:schemeClr val="lt1"/>
              </a:solidFill>
              <a:latin typeface="Asap Medium"/>
              <a:ea typeface="Asap Medium"/>
              <a:cs typeface="Asap Medium"/>
              <a:sym typeface="Asap Medium"/>
            </a:endParaRPr>
          </a:p>
          <a:p>
            <a:pPr indent="-298450" lvl="0" marL="457200" rtl="0" algn="l">
              <a:lnSpc>
                <a:spcPct val="115000"/>
              </a:lnSpc>
              <a:spcBef>
                <a:spcPts val="0"/>
              </a:spcBef>
              <a:spcAft>
                <a:spcPts val="0"/>
              </a:spcAft>
              <a:buClr>
                <a:srgbClr val="FFFF01"/>
              </a:buClr>
              <a:buSzPts val="1100"/>
              <a:buChar char="●"/>
            </a:pPr>
            <a:r>
              <a:rPr lang="en-US" sz="2000">
                <a:solidFill>
                  <a:schemeClr val="lt1"/>
                </a:solidFill>
                <a:latin typeface="Asap Medium"/>
                <a:ea typeface="Asap Medium"/>
                <a:cs typeface="Asap Medium"/>
                <a:sym typeface="Asap Medium"/>
              </a:rPr>
              <a:t>Gruparea știrilor pe subiecte</a:t>
            </a:r>
            <a:endParaRPr sz="2000">
              <a:solidFill>
                <a:schemeClr val="lt1"/>
              </a:solidFill>
              <a:latin typeface="Asap Medium"/>
              <a:ea typeface="Asap Medium"/>
              <a:cs typeface="Asap Medium"/>
              <a:sym typeface="Asap Medium"/>
            </a:endParaRPr>
          </a:p>
          <a:p>
            <a:pPr indent="0" lvl="0" marL="457200" rtl="0" algn="l">
              <a:lnSpc>
                <a:spcPct val="115000"/>
              </a:lnSpc>
              <a:spcBef>
                <a:spcPts val="1200"/>
              </a:spcBef>
              <a:spcAft>
                <a:spcPts val="0"/>
              </a:spcAft>
              <a:buNone/>
            </a:pPr>
            <a:r>
              <a:t/>
            </a:r>
            <a:endParaRPr sz="2000">
              <a:solidFill>
                <a:schemeClr val="lt1"/>
              </a:solidFill>
              <a:latin typeface="Asap Medium"/>
              <a:ea typeface="Asap Medium"/>
              <a:cs typeface="Asap Medium"/>
              <a:sym typeface="Asap Medium"/>
            </a:endParaRPr>
          </a:p>
          <a:p>
            <a:pPr indent="0" lvl="0" marL="0" rtl="0" algn="l">
              <a:lnSpc>
                <a:spcPct val="115000"/>
              </a:lnSpc>
              <a:spcBef>
                <a:spcPts val="1200"/>
              </a:spcBef>
              <a:spcAft>
                <a:spcPts val="0"/>
              </a:spcAft>
              <a:buNone/>
            </a:pPr>
            <a:r>
              <a:rPr b="1" lang="en-US" sz="2000">
                <a:solidFill>
                  <a:schemeClr val="lt1"/>
                </a:solidFill>
                <a:latin typeface="Asap"/>
                <a:ea typeface="Asap"/>
                <a:cs typeface="Asap"/>
                <a:sym typeface="Asap"/>
              </a:rPr>
              <a:t>📌 Se folosește când vrem sa descoperim structuri necunoscute</a:t>
            </a:r>
            <a:endParaRPr b="1" sz="20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2000">
              <a:solidFill>
                <a:schemeClr val="lt1"/>
              </a:solidFill>
              <a:latin typeface="Asap Medium"/>
              <a:ea typeface="Asap Medium"/>
              <a:cs typeface="Asap Medium"/>
              <a:sym typeface="Asap Medium"/>
            </a:endParaRPr>
          </a:p>
        </p:txBody>
      </p:sp>
      <p:sp>
        <p:nvSpPr>
          <p:cNvPr id="200" name="Google Shape;200;g384514fc5ec_0_71"/>
          <p:cNvSpPr txBox="1"/>
          <p:nvPr/>
        </p:nvSpPr>
        <p:spPr>
          <a:xfrm>
            <a:off x="806650" y="2362350"/>
            <a:ext cx="629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t>🎯</a:t>
            </a:r>
            <a:endParaRPr sz="2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preencoded.png" id="206" name="Google Shape;206;g384514fc5ec_0_85"/>
          <p:cNvPicPr preferRelativeResize="0"/>
          <p:nvPr/>
        </p:nvPicPr>
        <p:blipFill rotWithShape="1">
          <a:blip r:embed="rId3">
            <a:alphaModFix/>
          </a:blip>
          <a:srcRect b="0" l="0" r="0" t="0"/>
          <a:stretch/>
        </p:blipFill>
        <p:spPr>
          <a:xfrm>
            <a:off x="5797553" y="0"/>
            <a:ext cx="6394445" cy="6858000"/>
          </a:xfrm>
          <a:prstGeom prst="rect">
            <a:avLst/>
          </a:prstGeom>
          <a:noFill/>
          <a:ln>
            <a:noFill/>
          </a:ln>
        </p:spPr>
      </p:pic>
      <p:pic>
        <p:nvPicPr>
          <p:cNvPr descr="preencoded.png" id="207" name="Google Shape;207;g384514fc5ec_0_85"/>
          <p:cNvPicPr preferRelativeResize="0"/>
          <p:nvPr/>
        </p:nvPicPr>
        <p:blipFill rotWithShape="1">
          <a:blip r:embed="rId4">
            <a:alphaModFix/>
          </a:blip>
          <a:srcRect b="0" l="0" r="0" t="0"/>
          <a:stretch/>
        </p:blipFill>
        <p:spPr>
          <a:xfrm>
            <a:off x="298450" y="2298700"/>
            <a:ext cx="9944398" cy="4559300"/>
          </a:xfrm>
          <a:prstGeom prst="rect">
            <a:avLst/>
          </a:prstGeom>
          <a:noFill/>
          <a:ln>
            <a:noFill/>
          </a:ln>
        </p:spPr>
      </p:pic>
      <p:pic>
        <p:nvPicPr>
          <p:cNvPr descr="preencoded.png" id="208" name="Google Shape;208;g384514fc5ec_0_85"/>
          <p:cNvPicPr preferRelativeResize="0"/>
          <p:nvPr/>
        </p:nvPicPr>
        <p:blipFill rotWithShape="1">
          <a:blip r:embed="rId5">
            <a:alphaModFix/>
          </a:blip>
          <a:srcRect b="0" l="0" r="0" t="0"/>
          <a:stretch/>
        </p:blipFill>
        <p:spPr>
          <a:xfrm>
            <a:off x="850900" y="430647"/>
            <a:ext cx="1422400" cy="688111"/>
          </a:xfrm>
          <a:prstGeom prst="rect">
            <a:avLst/>
          </a:prstGeom>
          <a:noFill/>
          <a:ln>
            <a:noFill/>
          </a:ln>
        </p:spPr>
      </p:pic>
      <p:sp>
        <p:nvSpPr>
          <p:cNvPr id="209" name="Google Shape;209;g384514fc5ec_0_85"/>
          <p:cNvSpPr/>
          <p:nvPr/>
        </p:nvSpPr>
        <p:spPr>
          <a:xfrm>
            <a:off x="298450" y="1469300"/>
            <a:ext cx="6912600" cy="687900"/>
          </a:xfrm>
          <a:prstGeom prst="rect">
            <a:avLst/>
          </a:prstGeom>
          <a:noFill/>
          <a:ln>
            <a:noFill/>
          </a:ln>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4900"/>
              <a:buFont typeface="Asap"/>
              <a:buNone/>
            </a:pPr>
            <a:r>
              <a:rPr b="1" lang="en-US" sz="4900">
                <a:solidFill>
                  <a:srgbClr val="FFFF01"/>
                </a:solidFill>
                <a:latin typeface="Asap"/>
                <a:ea typeface="Asap"/>
                <a:cs typeface="Asap"/>
                <a:sym typeface="Asap"/>
              </a:rPr>
              <a:t>TIPURI DE INVATARE</a:t>
            </a:r>
            <a:endParaRPr b="0" i="0" sz="4900" u="none" cap="none" strike="noStrike">
              <a:solidFill>
                <a:schemeClr val="dk1"/>
              </a:solidFill>
              <a:latin typeface="Calibri"/>
              <a:ea typeface="Calibri"/>
              <a:cs typeface="Calibri"/>
              <a:sym typeface="Calibri"/>
            </a:endParaRPr>
          </a:p>
        </p:txBody>
      </p:sp>
      <p:sp>
        <p:nvSpPr>
          <p:cNvPr id="210" name="Google Shape;210;g384514fc5ec_0_85"/>
          <p:cNvSpPr/>
          <p:nvPr/>
        </p:nvSpPr>
        <p:spPr>
          <a:xfrm>
            <a:off x="1480150" y="2453875"/>
            <a:ext cx="5054100" cy="303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2000"/>
              <a:buFont typeface="Asap Medium"/>
              <a:buNone/>
            </a:pPr>
            <a:r>
              <a:rPr b="1" lang="en-US" sz="2500">
                <a:solidFill>
                  <a:srgbClr val="FFFF01"/>
                </a:solidFill>
                <a:latin typeface="Asap"/>
                <a:ea typeface="Asap"/>
                <a:cs typeface="Asap"/>
                <a:sym typeface="Asap"/>
              </a:rPr>
              <a:t>REINFORCEMENT LEARNING</a:t>
            </a:r>
            <a:endParaRPr b="1" i="0" sz="2500" u="none" cap="none" strike="noStrike">
              <a:solidFill>
                <a:srgbClr val="FFFF01"/>
              </a:solidFill>
              <a:latin typeface="Calibri"/>
              <a:ea typeface="Calibri"/>
              <a:cs typeface="Calibri"/>
              <a:sym typeface="Calibri"/>
            </a:endParaRPr>
          </a:p>
        </p:txBody>
      </p:sp>
      <p:sp>
        <p:nvSpPr>
          <p:cNvPr id="211" name="Google Shape;211;g384514fc5ec_0_85"/>
          <p:cNvSpPr/>
          <p:nvPr/>
        </p:nvSpPr>
        <p:spPr>
          <a:xfrm>
            <a:off x="806651" y="3136900"/>
            <a:ext cx="8626800" cy="3492600"/>
          </a:xfrm>
          <a:prstGeom prst="rect">
            <a:avLst/>
          </a:prstGeom>
          <a:noFill/>
          <a:ln>
            <a:noFill/>
          </a:ln>
        </p:spPr>
        <p:txBody>
          <a:bodyPr anchorCtr="0" anchor="t" bIns="0" lIns="0" spcFirstLastPara="1" rIns="0" wrap="square" tIns="0">
            <a:noAutofit/>
          </a:bodyPr>
          <a:lstStyle/>
          <a:p>
            <a:pPr indent="0" lvl="0" marL="457200" rtl="0" algn="l">
              <a:lnSpc>
                <a:spcPct val="150000"/>
              </a:lnSpc>
              <a:spcBef>
                <a:spcPts val="0"/>
              </a:spcBef>
              <a:spcAft>
                <a:spcPts val="0"/>
              </a:spcAft>
              <a:buNone/>
            </a:pPr>
            <a:r>
              <a:rPr lang="en-US" sz="2000">
                <a:solidFill>
                  <a:schemeClr val="lt1"/>
                </a:solidFill>
                <a:latin typeface="Asap Medium"/>
                <a:ea typeface="Asap Medium"/>
                <a:cs typeface="Asap Medium"/>
                <a:sym typeface="Asap Medium"/>
              </a:rPr>
              <a:t>✅ Învață prin interacțiune și feedback (reward/punishment)</a:t>
            </a:r>
            <a:br>
              <a:rPr lang="en-US" sz="2000">
                <a:solidFill>
                  <a:schemeClr val="lt1"/>
                </a:solidFill>
                <a:latin typeface="Asap Medium"/>
                <a:ea typeface="Asap Medium"/>
                <a:cs typeface="Asap Medium"/>
                <a:sym typeface="Asap Medium"/>
              </a:rPr>
            </a:br>
            <a:endParaRPr sz="2000">
              <a:solidFill>
                <a:schemeClr val="lt1"/>
              </a:solidFill>
              <a:latin typeface="Asap Medium"/>
              <a:ea typeface="Asap Medium"/>
              <a:cs typeface="Asap Medium"/>
              <a:sym typeface="Asap Medium"/>
            </a:endParaRPr>
          </a:p>
          <a:p>
            <a:pPr indent="0" lvl="0" marL="0" rtl="0" algn="l">
              <a:lnSpc>
                <a:spcPct val="150000"/>
              </a:lnSpc>
              <a:spcBef>
                <a:spcPts val="0"/>
              </a:spcBef>
              <a:spcAft>
                <a:spcPts val="0"/>
              </a:spcAft>
              <a:buNone/>
            </a:pPr>
            <a:r>
              <a:rPr lang="en-US" sz="2000">
                <a:solidFill>
                  <a:schemeClr val="lt1"/>
                </a:solidFill>
                <a:latin typeface="Asap Medium"/>
                <a:ea typeface="Asap Medium"/>
                <a:cs typeface="Asap Medium"/>
                <a:sym typeface="Asap Medium"/>
              </a:rPr>
              <a:t> Exemple:</a:t>
            </a:r>
            <a:endParaRPr sz="2000">
              <a:solidFill>
                <a:schemeClr val="lt1"/>
              </a:solidFill>
              <a:latin typeface="Asap Medium"/>
              <a:ea typeface="Asap Medium"/>
              <a:cs typeface="Asap Medium"/>
              <a:sym typeface="Asap Medium"/>
            </a:endParaRPr>
          </a:p>
          <a:p>
            <a:pPr indent="-355600" lvl="0" marL="457200" rtl="0" algn="l">
              <a:lnSpc>
                <a:spcPct val="115000"/>
              </a:lnSpc>
              <a:spcBef>
                <a:spcPts val="1200"/>
              </a:spcBef>
              <a:spcAft>
                <a:spcPts val="0"/>
              </a:spcAft>
              <a:buClr>
                <a:schemeClr val="lt1"/>
              </a:buClr>
              <a:buSzPts val="2000"/>
              <a:buFont typeface="Asap Medium"/>
              <a:buChar char="●"/>
            </a:pPr>
            <a:r>
              <a:rPr lang="en-US" sz="2000">
                <a:solidFill>
                  <a:schemeClr val="lt1"/>
                </a:solidFill>
                <a:latin typeface="Asap Medium"/>
                <a:ea typeface="Asap Medium"/>
                <a:cs typeface="Asap Medium"/>
                <a:sym typeface="Asap Medium"/>
              </a:rPr>
              <a:t>AI-ul care joacă chess/Go</a:t>
            </a:r>
            <a:endParaRPr sz="2000">
              <a:solidFill>
                <a:schemeClr val="lt1"/>
              </a:solidFill>
              <a:latin typeface="Asap Medium"/>
              <a:ea typeface="Asap Medium"/>
              <a:cs typeface="Asap Medium"/>
              <a:sym typeface="Asap Medium"/>
            </a:endParaRPr>
          </a:p>
          <a:p>
            <a:pPr indent="-355600" lvl="0" marL="457200" rtl="0" algn="l">
              <a:lnSpc>
                <a:spcPct val="115000"/>
              </a:lnSpc>
              <a:spcBef>
                <a:spcPts val="0"/>
              </a:spcBef>
              <a:spcAft>
                <a:spcPts val="0"/>
              </a:spcAft>
              <a:buClr>
                <a:schemeClr val="lt1"/>
              </a:buClr>
              <a:buSzPts val="2000"/>
              <a:buFont typeface="Asap Medium"/>
              <a:buChar char="●"/>
            </a:pPr>
            <a:r>
              <a:rPr lang="en-US" sz="2000">
                <a:solidFill>
                  <a:schemeClr val="lt1"/>
                </a:solidFill>
                <a:latin typeface="Asap Medium"/>
                <a:ea typeface="Asap Medium"/>
                <a:cs typeface="Asap Medium"/>
                <a:sym typeface="Asap Medium"/>
              </a:rPr>
              <a:t>Mașinile autonome</a:t>
            </a:r>
            <a:endParaRPr sz="2000">
              <a:solidFill>
                <a:schemeClr val="lt1"/>
              </a:solidFill>
              <a:latin typeface="Asap Medium"/>
              <a:ea typeface="Asap Medium"/>
              <a:cs typeface="Asap Medium"/>
              <a:sym typeface="Asap Medium"/>
            </a:endParaRPr>
          </a:p>
          <a:p>
            <a:pPr indent="-355600" lvl="0" marL="457200" rtl="0" algn="l">
              <a:lnSpc>
                <a:spcPct val="115000"/>
              </a:lnSpc>
              <a:spcBef>
                <a:spcPts val="0"/>
              </a:spcBef>
              <a:spcAft>
                <a:spcPts val="0"/>
              </a:spcAft>
              <a:buClr>
                <a:schemeClr val="lt1"/>
              </a:buClr>
              <a:buSzPts val="2000"/>
              <a:buFont typeface="Asap Medium"/>
              <a:buChar char="●"/>
            </a:pPr>
            <a:r>
              <a:rPr lang="en-US" sz="2000">
                <a:solidFill>
                  <a:schemeClr val="lt1"/>
                </a:solidFill>
                <a:latin typeface="Asap Medium"/>
                <a:ea typeface="Asap Medium"/>
                <a:cs typeface="Asap Medium"/>
                <a:sym typeface="Asap Medium"/>
              </a:rPr>
              <a:t>Algoritmi de trading</a:t>
            </a:r>
            <a:br>
              <a:rPr lang="en-US" sz="2000">
                <a:solidFill>
                  <a:schemeClr val="lt1"/>
                </a:solidFill>
                <a:latin typeface="Asap Medium"/>
                <a:ea typeface="Asap Medium"/>
                <a:cs typeface="Asap Medium"/>
                <a:sym typeface="Asap Medium"/>
              </a:rPr>
            </a:br>
            <a:endParaRPr sz="2000">
              <a:solidFill>
                <a:schemeClr val="lt1"/>
              </a:solidFill>
              <a:latin typeface="Asap Medium"/>
              <a:ea typeface="Asap Medium"/>
              <a:cs typeface="Asap Medium"/>
              <a:sym typeface="Asap Medium"/>
            </a:endParaRPr>
          </a:p>
          <a:p>
            <a:pPr indent="0" lvl="0" marL="0" rtl="0" algn="l">
              <a:lnSpc>
                <a:spcPct val="115000"/>
              </a:lnSpc>
              <a:spcBef>
                <a:spcPts val="1200"/>
              </a:spcBef>
              <a:spcAft>
                <a:spcPts val="0"/>
              </a:spcAft>
              <a:buNone/>
            </a:pPr>
            <a:r>
              <a:rPr lang="en-US" sz="2000">
                <a:solidFill>
                  <a:schemeClr val="lt1"/>
                </a:solidFill>
                <a:latin typeface="Asap Medium"/>
                <a:ea typeface="Asap Medium"/>
                <a:cs typeface="Asap Medium"/>
                <a:sym typeface="Asap Medium"/>
              </a:rPr>
              <a:t>📌 Folosește când: optimizezi decizii complexe pe termen lung</a:t>
            </a:r>
            <a:endParaRPr sz="2000">
              <a:solidFill>
                <a:schemeClr val="lt1"/>
              </a:solidFill>
              <a:latin typeface="Asap Medium"/>
              <a:ea typeface="Asap Medium"/>
              <a:cs typeface="Asap Medium"/>
              <a:sym typeface="Asap Medium"/>
            </a:endParaRPr>
          </a:p>
          <a:p>
            <a:pPr indent="0" lvl="0" marL="457200" marR="0" rtl="0" algn="l">
              <a:lnSpc>
                <a:spcPct val="150000"/>
              </a:lnSpc>
              <a:spcBef>
                <a:spcPts val="0"/>
              </a:spcBef>
              <a:spcAft>
                <a:spcPts val="0"/>
              </a:spcAft>
              <a:buNone/>
            </a:pPr>
            <a:r>
              <a:t/>
            </a:r>
            <a:endParaRPr sz="2000">
              <a:solidFill>
                <a:schemeClr val="lt1"/>
              </a:solidFill>
              <a:latin typeface="Asap Medium"/>
              <a:ea typeface="Asap Medium"/>
              <a:cs typeface="Asap Medium"/>
              <a:sym typeface="Asap Medium"/>
            </a:endParaRPr>
          </a:p>
        </p:txBody>
      </p:sp>
      <p:sp>
        <p:nvSpPr>
          <p:cNvPr id="212" name="Google Shape;212;g384514fc5ec_0_85"/>
          <p:cNvSpPr txBox="1"/>
          <p:nvPr/>
        </p:nvSpPr>
        <p:spPr>
          <a:xfrm>
            <a:off x="806650" y="2362350"/>
            <a:ext cx="629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t>🎯</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preencoded.png" id="218" name="Google Shape;218;g380f35ea841_1_44"/>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19" name="Google Shape;219;g380f35ea841_1_44"/>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20" name="Google Shape;220;g380f35ea841_1_44"/>
          <p:cNvSpPr txBox="1"/>
          <p:nvPr/>
        </p:nvSpPr>
        <p:spPr>
          <a:xfrm>
            <a:off x="1378821" y="2983600"/>
            <a:ext cx="9879600" cy="3555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Ai un istoric de salarii pentru mii de angajati, impreuna cu vechime, rol si locatie. Vrei sa prezici salariul unui nou angajat. Ce tip de ML credeti ca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preencoded.png" id="226" name="Google Shape;226;g384514fc5ec_0_127"/>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27" name="Google Shape;227;g384514fc5ec_0_127"/>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28" name="Google Shape;228;g384514fc5ec_0_127"/>
          <p:cNvSpPr txBox="1"/>
          <p:nvPr/>
        </p:nvSpPr>
        <p:spPr>
          <a:xfrm>
            <a:off x="1378821" y="2983600"/>
            <a:ext cx="9879600" cy="3555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Uber ajusteaza pretul in timp real in functie de cerere si oferta</a:t>
            </a:r>
            <a:r>
              <a:rPr b="1" lang="en-US" sz="2100">
                <a:solidFill>
                  <a:schemeClr val="lt1"/>
                </a:solidFill>
                <a:latin typeface="Asap"/>
                <a:ea typeface="Asap"/>
                <a:cs typeface="Asap"/>
                <a:sym typeface="Asap"/>
              </a:rPr>
              <a:t>. Ce tip de ML credeti ca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preencoded.png" id="234" name="Google Shape;234;g384514fc5ec_0_120"/>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35" name="Google Shape;235;g384514fc5ec_0_120"/>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36" name="Google Shape;236;g384514fc5ec_0_120"/>
          <p:cNvSpPr txBox="1"/>
          <p:nvPr/>
        </p:nvSpPr>
        <p:spPr>
          <a:xfrm>
            <a:off x="1378821" y="2983600"/>
            <a:ext cx="9879600" cy="3070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Tesla franeaza automat cand vede un pieton. Ce tip de ML credeti ca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preencoded.png" id="242" name="Google Shape;242;g384514fc5ec_0_99"/>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43" name="Google Shape;243;g384514fc5ec_0_99"/>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44" name="Google Shape;244;g384514fc5ec_0_99"/>
          <p:cNvSpPr txBox="1"/>
          <p:nvPr/>
        </p:nvSpPr>
        <p:spPr>
          <a:xfrm>
            <a:off x="1378821" y="2983600"/>
            <a:ext cx="9879600" cy="3070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Cu cat scrollezi mai mult pe reels-uri, cu atat devin mai bune. Ce tip de ML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preencoded.png" id="250" name="Google Shape;250;g384514fc5ec_0_106"/>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51" name="Google Shape;251;g384514fc5ec_0_106"/>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52" name="Google Shape;252;g384514fc5ec_0_106"/>
          <p:cNvSpPr txBox="1"/>
          <p:nvPr/>
        </p:nvSpPr>
        <p:spPr>
          <a:xfrm>
            <a:off x="1378821" y="2983600"/>
            <a:ext cx="9879600" cy="3070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Te uiti la o camasa si vezi “Clientii au mai cumparat si… “</a:t>
            </a:r>
            <a:r>
              <a:rPr b="1" lang="en-US" sz="2100">
                <a:solidFill>
                  <a:schemeClr val="lt1"/>
                </a:solidFill>
                <a:latin typeface="Asap"/>
                <a:ea typeface="Asap"/>
                <a:cs typeface="Asap"/>
                <a:sym typeface="Asap"/>
              </a:rPr>
              <a:t>. Ce tip de ML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preencoded.png" id="258" name="Google Shape;258;g384514fc5ec_0_113"/>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59" name="Google Shape;259;g384514fc5ec_0_113"/>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60" name="Google Shape;260;g384514fc5ec_0_113"/>
          <p:cNvSpPr txBox="1"/>
          <p:nvPr/>
        </p:nvSpPr>
        <p:spPr>
          <a:xfrm>
            <a:off x="1378821" y="2983600"/>
            <a:ext cx="9879600" cy="3070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Detectia de spam-uri la email-uri</a:t>
            </a:r>
            <a:r>
              <a:rPr b="1" lang="en-US" sz="2100">
                <a:solidFill>
                  <a:schemeClr val="lt1"/>
                </a:solidFill>
                <a:latin typeface="Asap"/>
                <a:ea typeface="Asap"/>
                <a:cs typeface="Asap"/>
                <a:sym typeface="Asap"/>
              </a:rPr>
              <a:t>. Ce tip de ML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preencoded.png" id="266" name="Google Shape;266;g384514fc5ec_0_134"/>
          <p:cNvPicPr preferRelativeResize="0"/>
          <p:nvPr/>
        </p:nvPicPr>
        <p:blipFill rotWithShape="1">
          <a:blip r:embed="rId3">
            <a:alphaModFix/>
          </a:blip>
          <a:srcRect b="0" l="0" r="0" t="0"/>
          <a:stretch/>
        </p:blipFill>
        <p:spPr>
          <a:xfrm>
            <a:off x="461400" y="2558650"/>
            <a:ext cx="11730600" cy="4299300"/>
          </a:xfrm>
          <a:prstGeom prst="round2SameRect">
            <a:avLst>
              <a:gd fmla="val 16667" name="adj1"/>
              <a:gd fmla="val 0" name="adj2"/>
            </a:avLst>
          </a:prstGeom>
          <a:noFill/>
          <a:ln>
            <a:noFill/>
          </a:ln>
        </p:spPr>
      </p:pic>
      <p:sp>
        <p:nvSpPr>
          <p:cNvPr id="267" name="Google Shape;267;g384514fc5ec_0_134"/>
          <p:cNvSpPr txBox="1"/>
          <p:nvPr/>
        </p:nvSpPr>
        <p:spPr>
          <a:xfrm>
            <a:off x="461400" y="2025500"/>
            <a:ext cx="6382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900">
                <a:solidFill>
                  <a:srgbClr val="FFFF01"/>
                </a:solidFill>
              </a:rPr>
              <a:t>QUIZ</a:t>
            </a:r>
            <a:endParaRPr b="1" i="0" sz="2300" u="none" cap="none" strike="noStrike">
              <a:solidFill>
                <a:srgbClr val="FFFF01"/>
              </a:solidFill>
              <a:latin typeface="Asap"/>
              <a:ea typeface="Asap"/>
              <a:cs typeface="Asap"/>
              <a:sym typeface="Asap"/>
            </a:endParaRPr>
          </a:p>
        </p:txBody>
      </p:sp>
      <p:sp>
        <p:nvSpPr>
          <p:cNvPr id="268" name="Google Shape;268;g384514fc5ec_0_134"/>
          <p:cNvSpPr txBox="1"/>
          <p:nvPr/>
        </p:nvSpPr>
        <p:spPr>
          <a:xfrm>
            <a:off x="1378821" y="2983600"/>
            <a:ext cx="9879600" cy="3555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100">
                <a:solidFill>
                  <a:schemeClr val="lt1"/>
                </a:solidFill>
                <a:latin typeface="Asap"/>
                <a:ea typeface="Asap"/>
                <a:cs typeface="Asap"/>
                <a:sym typeface="Asap"/>
              </a:rPr>
              <a:t>Un model analizeaza radiografii. Nu are diagnostice, dar vrei sa descopere pacienti cu pattern-uri asemanatoare.</a:t>
            </a:r>
            <a:r>
              <a:rPr b="1" lang="en-US" sz="2100">
                <a:solidFill>
                  <a:schemeClr val="lt1"/>
                </a:solidFill>
                <a:latin typeface="Asap"/>
                <a:ea typeface="Asap"/>
                <a:cs typeface="Asap"/>
                <a:sym typeface="Asap"/>
              </a:rPr>
              <a:t> Ce tip de ML e? </a:t>
            </a:r>
            <a:endParaRPr b="1" sz="21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0" lvl="0" marL="457200" marR="0" rtl="0" algn="l">
              <a:lnSpc>
                <a:spcPct val="150000"/>
              </a:lnSpc>
              <a:spcBef>
                <a:spcPts val="0"/>
              </a:spcBef>
              <a:spcAft>
                <a:spcPts val="0"/>
              </a:spcAft>
              <a:buNone/>
            </a:pPr>
            <a:r>
              <a:t/>
            </a:r>
            <a:endParaRPr sz="18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Unsupervised Learning</a:t>
            </a:r>
            <a:endParaRPr sz="2000">
              <a:solidFill>
                <a:schemeClr val="lt1"/>
              </a:solidFill>
              <a:latin typeface="Asap"/>
              <a:ea typeface="Asap"/>
              <a:cs typeface="Asap"/>
              <a:sym typeface="Asap"/>
            </a:endParaRPr>
          </a:p>
          <a:p>
            <a:pPr indent="-298450" lvl="0" marL="285750" marR="0" rtl="0" algn="l">
              <a:lnSpc>
                <a:spcPct val="150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Reinforcement Learning</a:t>
            </a:r>
            <a:endParaRPr sz="2000">
              <a:solidFill>
                <a:schemeClr val="lt1"/>
              </a:solidFill>
              <a:latin typeface="Asap"/>
              <a:ea typeface="Asap"/>
              <a:cs typeface="Asap"/>
              <a:sym typeface="Asap"/>
            </a:endParaRPr>
          </a:p>
          <a:p>
            <a:pPr indent="-171450" lvl="1" marL="742950" marR="0" rtl="0" algn="l">
              <a:lnSpc>
                <a:spcPct val="15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Asap"/>
              <a:ea typeface="Asap"/>
              <a:cs typeface="Asap"/>
              <a:sym typeface="Asa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3"/>
          <p:cNvSpPr txBox="1"/>
          <p:nvPr/>
        </p:nvSpPr>
        <p:spPr>
          <a:xfrm>
            <a:off x="516575" y="1545275"/>
            <a:ext cx="8560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01"/>
                </a:solidFill>
                <a:latin typeface="Asap"/>
                <a:ea typeface="Asap"/>
                <a:cs typeface="Asap"/>
                <a:sym typeface="Asap"/>
              </a:rPr>
              <a:t>ML ESTE FOLOSIT IN…</a:t>
            </a:r>
            <a:endParaRPr b="1" i="0" sz="2000" u="none" cap="none" strike="noStrike">
              <a:solidFill>
                <a:srgbClr val="FFFF01"/>
              </a:solidFill>
              <a:latin typeface="Asap"/>
              <a:ea typeface="Asap"/>
              <a:cs typeface="Asap"/>
              <a:sym typeface="Asap"/>
            </a:endParaRPr>
          </a:p>
        </p:txBody>
      </p:sp>
      <p:pic>
        <p:nvPicPr>
          <p:cNvPr descr="preencoded.png" id="275" name="Google Shape;275;p13"/>
          <p:cNvPicPr preferRelativeResize="0"/>
          <p:nvPr/>
        </p:nvPicPr>
        <p:blipFill rotWithShape="1">
          <a:blip r:embed="rId3">
            <a:alphaModFix/>
          </a:blip>
          <a:srcRect b="0" l="0" r="0" t="0"/>
          <a:stretch/>
        </p:blipFill>
        <p:spPr>
          <a:xfrm>
            <a:off x="0" y="2207500"/>
            <a:ext cx="9006600" cy="4650600"/>
          </a:xfrm>
          <a:prstGeom prst="round2SameRect">
            <a:avLst>
              <a:gd fmla="val 16667" name="adj1"/>
              <a:gd fmla="val 0" name="adj2"/>
            </a:avLst>
          </a:prstGeom>
          <a:noFill/>
          <a:ln>
            <a:noFill/>
          </a:ln>
        </p:spPr>
      </p:pic>
      <p:sp>
        <p:nvSpPr>
          <p:cNvPr id="276" name="Google Shape;276;p13"/>
          <p:cNvSpPr txBox="1"/>
          <p:nvPr/>
        </p:nvSpPr>
        <p:spPr>
          <a:xfrm>
            <a:off x="516582" y="2291500"/>
            <a:ext cx="10579800" cy="3828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COMPUTER VISION</a:t>
            </a:r>
            <a:r>
              <a:rPr lang="en-US" sz="2000">
                <a:solidFill>
                  <a:srgbClr val="FFFF01"/>
                </a:solidFill>
                <a:latin typeface="Asap"/>
                <a:ea typeface="Asap"/>
                <a:cs typeface="Asap"/>
                <a:sym typeface="Asap"/>
              </a:rPr>
              <a:t> 📷</a:t>
            </a:r>
            <a:endParaRPr sz="2000">
              <a:solidFill>
                <a:srgbClr val="FFFF01"/>
              </a:solidFill>
              <a:latin typeface="Asap"/>
              <a:ea typeface="Asap"/>
              <a:cs typeface="Asap"/>
              <a:sym typeface="Asap"/>
            </a:endParaRPr>
          </a:p>
          <a:p>
            <a:pPr indent="-311150" lvl="0" marL="914400" rtl="0" algn="l">
              <a:lnSpc>
                <a:spcPct val="115000"/>
              </a:lnSpc>
              <a:spcBef>
                <a:spcPts val="0"/>
              </a:spcBef>
              <a:spcAft>
                <a:spcPts val="0"/>
              </a:spcAft>
              <a:buClr>
                <a:srgbClr val="FFFF01"/>
              </a:buClr>
              <a:buSzPts val="1300"/>
              <a:buChar char="●"/>
            </a:pPr>
            <a:r>
              <a:rPr lang="en-US" sz="2000">
                <a:solidFill>
                  <a:schemeClr val="lt1"/>
                </a:solidFill>
                <a:latin typeface="Asap"/>
                <a:ea typeface="Asap"/>
                <a:cs typeface="Asap"/>
                <a:sym typeface="Asap"/>
              </a:rPr>
              <a:t>Sa inveti un calculator sa vada lumea asa cum o facem noi</a:t>
            </a:r>
            <a:endParaRPr sz="2000">
              <a:solidFill>
                <a:schemeClr val="lt1"/>
              </a:solidFill>
              <a:latin typeface="Asap"/>
              <a:ea typeface="Asap"/>
              <a:cs typeface="Asap"/>
              <a:sym typeface="Asap"/>
            </a:endParaRPr>
          </a:p>
          <a:p>
            <a:pPr indent="0" lvl="0" marL="0" rtl="0" algn="l">
              <a:lnSpc>
                <a:spcPct val="115000"/>
              </a:lnSpc>
              <a:spcBef>
                <a:spcPts val="1200"/>
              </a:spcBef>
              <a:spcAft>
                <a:spcPts val="0"/>
              </a:spcAft>
              <a:buNone/>
            </a:pPr>
            <a:r>
              <a:t/>
            </a:r>
            <a:endParaRPr sz="2000">
              <a:solidFill>
                <a:schemeClr val="lt1"/>
              </a:solidFill>
              <a:latin typeface="Asap"/>
              <a:ea typeface="Asap"/>
              <a:cs typeface="Asap"/>
              <a:sym typeface="Asap"/>
            </a:endParaRPr>
          </a:p>
          <a:p>
            <a:pPr indent="-311150" lvl="0" marL="914400" rtl="0" algn="l">
              <a:lnSpc>
                <a:spcPct val="115000"/>
              </a:lnSpc>
              <a:spcBef>
                <a:spcPts val="1200"/>
              </a:spcBef>
              <a:spcAft>
                <a:spcPts val="0"/>
              </a:spcAft>
              <a:buClr>
                <a:srgbClr val="FFFF01"/>
              </a:buClr>
              <a:buSzPts val="1300"/>
              <a:buChar char="●"/>
            </a:pPr>
            <a:r>
              <a:rPr lang="en-US" sz="2000">
                <a:solidFill>
                  <a:schemeClr val="lt1"/>
                </a:solidFill>
                <a:latin typeface="Asap"/>
                <a:ea typeface="Asap"/>
                <a:cs typeface="Asap"/>
                <a:sym typeface="Asap"/>
              </a:rPr>
              <a:t>Imagine → matrice de pixeli</a:t>
            </a:r>
            <a:endParaRPr sz="2000">
              <a:solidFill>
                <a:schemeClr val="lt1"/>
              </a:solidFill>
              <a:latin typeface="Asap"/>
              <a:ea typeface="Asap"/>
              <a:cs typeface="Asap"/>
              <a:sym typeface="Asap"/>
            </a:endParaRPr>
          </a:p>
          <a:p>
            <a:pPr indent="-311150" lvl="0" marL="914400" rtl="0" algn="l">
              <a:lnSpc>
                <a:spcPct val="115000"/>
              </a:lnSpc>
              <a:spcBef>
                <a:spcPts val="0"/>
              </a:spcBef>
              <a:spcAft>
                <a:spcPts val="0"/>
              </a:spcAft>
              <a:buClr>
                <a:srgbClr val="FFFF01"/>
              </a:buClr>
              <a:buSzPts val="1300"/>
              <a:buChar char="●"/>
            </a:pPr>
            <a:r>
              <a:rPr lang="en-US" sz="2000">
                <a:solidFill>
                  <a:schemeClr val="lt1"/>
                </a:solidFill>
                <a:latin typeface="Asap"/>
                <a:ea typeface="Asap"/>
                <a:cs typeface="Asap"/>
                <a:sym typeface="Asap"/>
              </a:rPr>
              <a:t>NN: margini → forme → obiecte</a:t>
            </a:r>
            <a:br>
              <a:rPr lang="en-US" sz="2000">
                <a:solidFill>
                  <a:schemeClr val="lt1"/>
                </a:solidFill>
                <a:latin typeface="Asap"/>
                <a:ea typeface="Asap"/>
                <a:cs typeface="Asap"/>
                <a:sym typeface="Asap"/>
              </a:rPr>
            </a:br>
            <a:endParaRPr sz="2000">
              <a:solidFill>
                <a:schemeClr val="lt1"/>
              </a:solidFill>
              <a:latin typeface="Asap"/>
              <a:ea typeface="Asap"/>
              <a:cs typeface="Asap"/>
              <a:sym typeface="Asap"/>
            </a:endParaRPr>
          </a:p>
          <a:p>
            <a:pPr indent="-298450" lvl="0" marL="914400" rtl="0" algn="l">
              <a:lnSpc>
                <a:spcPct val="115000"/>
              </a:lnSpc>
              <a:spcBef>
                <a:spcPts val="0"/>
              </a:spcBef>
              <a:spcAft>
                <a:spcPts val="0"/>
              </a:spcAft>
              <a:buClr>
                <a:srgbClr val="FFFF01"/>
              </a:buClr>
              <a:buSzPts val="1100"/>
              <a:buChar char="●"/>
            </a:pPr>
            <a:r>
              <a:rPr lang="en-US" sz="2000">
                <a:solidFill>
                  <a:schemeClr val="lt1"/>
                </a:solidFill>
                <a:latin typeface="Asap"/>
                <a:ea typeface="Asap"/>
                <a:cs typeface="Asap"/>
                <a:sym typeface="Asap"/>
              </a:rPr>
              <a:t>Aplicații: medicină, self-driving</a:t>
            </a:r>
            <a:br>
              <a:rPr lang="en-US" sz="1800">
                <a:solidFill>
                  <a:schemeClr val="lt1"/>
                </a:solidFill>
                <a:latin typeface="Asap"/>
                <a:ea typeface="Asap"/>
                <a:cs typeface="Asap"/>
                <a:sym typeface="Asap"/>
              </a:rPr>
            </a:br>
            <a:endParaRPr sz="1800">
              <a:solidFill>
                <a:schemeClr val="lt1"/>
              </a:solidFill>
              <a:latin typeface="Asap"/>
              <a:ea typeface="Asap"/>
              <a:cs typeface="Asap"/>
              <a:sym typeface="Asap"/>
            </a:endParaRPr>
          </a:p>
          <a:p>
            <a:pPr indent="0" lvl="0" marL="0" marR="0" rtl="0" algn="l">
              <a:lnSpc>
                <a:spcPct val="150000"/>
              </a:lnSpc>
              <a:spcBef>
                <a:spcPts val="1200"/>
              </a:spcBef>
              <a:spcAft>
                <a:spcPts val="0"/>
              </a:spcAft>
              <a:buNone/>
            </a:pPr>
            <a:r>
              <a:t/>
            </a:r>
            <a:endParaRPr sz="1800">
              <a:solidFill>
                <a:schemeClr val="lt1"/>
              </a:solidFill>
              <a:latin typeface="Asap"/>
              <a:ea typeface="Asap"/>
              <a:cs typeface="Asap"/>
              <a:sym typeface="Asa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84514fc5ec_0_145"/>
          <p:cNvSpPr txBox="1"/>
          <p:nvPr/>
        </p:nvSpPr>
        <p:spPr>
          <a:xfrm>
            <a:off x="516575" y="1545275"/>
            <a:ext cx="8560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01"/>
                </a:solidFill>
                <a:latin typeface="Asap"/>
                <a:ea typeface="Asap"/>
                <a:cs typeface="Asap"/>
                <a:sym typeface="Asap"/>
              </a:rPr>
              <a:t>ML ESTE FOLOSIT IN…</a:t>
            </a:r>
            <a:endParaRPr b="1" i="0" sz="2000" u="none" cap="none" strike="noStrike">
              <a:solidFill>
                <a:srgbClr val="FFFF01"/>
              </a:solidFill>
              <a:latin typeface="Asap"/>
              <a:ea typeface="Asap"/>
              <a:cs typeface="Asap"/>
              <a:sym typeface="Asap"/>
            </a:endParaRPr>
          </a:p>
        </p:txBody>
      </p:sp>
      <p:pic>
        <p:nvPicPr>
          <p:cNvPr descr="preencoded.png" id="283" name="Google Shape;283;g384514fc5ec_0_145"/>
          <p:cNvPicPr preferRelativeResize="0"/>
          <p:nvPr/>
        </p:nvPicPr>
        <p:blipFill rotWithShape="1">
          <a:blip r:embed="rId3">
            <a:alphaModFix/>
          </a:blip>
          <a:srcRect b="0" l="0" r="0" t="0"/>
          <a:stretch/>
        </p:blipFill>
        <p:spPr>
          <a:xfrm>
            <a:off x="0" y="2207500"/>
            <a:ext cx="9006600" cy="4650600"/>
          </a:xfrm>
          <a:prstGeom prst="round2SameRect">
            <a:avLst>
              <a:gd fmla="val 16667" name="adj1"/>
              <a:gd fmla="val 0" name="adj2"/>
            </a:avLst>
          </a:prstGeom>
          <a:noFill/>
          <a:ln>
            <a:noFill/>
          </a:ln>
        </p:spPr>
      </p:pic>
      <p:sp>
        <p:nvSpPr>
          <p:cNvPr id="284" name="Google Shape;284;g384514fc5ec_0_145"/>
          <p:cNvSpPr txBox="1"/>
          <p:nvPr/>
        </p:nvSpPr>
        <p:spPr>
          <a:xfrm>
            <a:off x="516582" y="2441800"/>
            <a:ext cx="10579800" cy="4182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NATURAL LANGUAGE PROCESSING (NLP)</a:t>
            </a:r>
            <a:r>
              <a:rPr lang="en-US" sz="2000">
                <a:solidFill>
                  <a:srgbClr val="FFFF01"/>
                </a:solidFill>
                <a:latin typeface="Asap"/>
                <a:ea typeface="Asap"/>
                <a:cs typeface="Asap"/>
                <a:sym typeface="Asap"/>
              </a:rPr>
              <a:t> </a:t>
            </a:r>
            <a:r>
              <a:rPr lang="en-US" sz="2000">
                <a:solidFill>
                  <a:srgbClr val="FFFF01"/>
                </a:solidFill>
                <a:latin typeface="Asap"/>
                <a:ea typeface="Asap"/>
                <a:cs typeface="Asap"/>
                <a:sym typeface="Asap"/>
              </a:rPr>
              <a:t>💬</a:t>
            </a:r>
            <a:endParaRPr sz="2000">
              <a:solidFill>
                <a:srgbClr val="FFFF01"/>
              </a:solidFill>
              <a:latin typeface="Asap"/>
              <a:ea typeface="Asap"/>
              <a:cs typeface="Asap"/>
              <a:sym typeface="Asap"/>
            </a:endParaRPr>
          </a:p>
          <a:p>
            <a:pPr indent="-311150" lvl="0" marL="914400" rtl="0" algn="l">
              <a:lnSpc>
                <a:spcPct val="115000"/>
              </a:lnSpc>
              <a:spcBef>
                <a:spcPts val="0"/>
              </a:spcBef>
              <a:spcAft>
                <a:spcPts val="0"/>
              </a:spcAft>
              <a:buClr>
                <a:srgbClr val="FFFF01"/>
              </a:buClr>
              <a:buSzPts val="1300"/>
              <a:buChar char="●"/>
            </a:pPr>
            <a:r>
              <a:rPr lang="en-US" sz="2000">
                <a:solidFill>
                  <a:schemeClr val="lt1"/>
                </a:solidFill>
                <a:latin typeface="Asap"/>
                <a:ea typeface="Asap"/>
                <a:cs typeface="Asap"/>
                <a:sym typeface="Asap"/>
              </a:rPr>
              <a:t>Felul in care ML intelege si genereaza text</a:t>
            </a:r>
            <a:endParaRPr sz="2000">
              <a:solidFill>
                <a:schemeClr val="lt1"/>
              </a:solidFill>
              <a:latin typeface="Asap"/>
              <a:ea typeface="Asap"/>
              <a:cs typeface="Asap"/>
              <a:sym typeface="Asap"/>
            </a:endParaRPr>
          </a:p>
          <a:p>
            <a:pPr indent="0" lvl="0" marL="0" rtl="0" algn="l">
              <a:lnSpc>
                <a:spcPct val="115000"/>
              </a:lnSpc>
              <a:spcBef>
                <a:spcPts val="1200"/>
              </a:spcBef>
              <a:spcAft>
                <a:spcPts val="0"/>
              </a:spcAft>
              <a:buNone/>
            </a:pPr>
            <a:r>
              <a:t/>
            </a:r>
            <a:endParaRPr sz="2000">
              <a:solidFill>
                <a:schemeClr val="lt1"/>
              </a:solidFill>
              <a:latin typeface="Asap"/>
              <a:ea typeface="Asap"/>
              <a:cs typeface="Asap"/>
              <a:sym typeface="Asap"/>
            </a:endParaRPr>
          </a:p>
          <a:p>
            <a:pPr indent="-311150" lvl="0" marL="914400" rtl="0" algn="l">
              <a:lnSpc>
                <a:spcPct val="115000"/>
              </a:lnSpc>
              <a:spcBef>
                <a:spcPts val="1200"/>
              </a:spcBef>
              <a:spcAft>
                <a:spcPts val="0"/>
              </a:spcAft>
              <a:buClr>
                <a:srgbClr val="FFFF01"/>
              </a:buClr>
              <a:buSzPts val="1300"/>
              <a:buChar char="●"/>
            </a:pPr>
            <a:r>
              <a:rPr lang="en-US" sz="2000">
                <a:solidFill>
                  <a:schemeClr val="lt1"/>
                </a:solidFill>
                <a:latin typeface="Asap"/>
                <a:ea typeface="Asap"/>
                <a:cs typeface="Asap"/>
                <a:sym typeface="Asap"/>
              </a:rPr>
              <a:t>Inainte: Se numarau cuvintele, dar sensul se pierdea</a:t>
            </a:r>
            <a:endParaRPr sz="2000">
              <a:solidFill>
                <a:schemeClr val="lt1"/>
              </a:solidFill>
              <a:latin typeface="Asap"/>
              <a:ea typeface="Asap"/>
              <a:cs typeface="Asap"/>
              <a:sym typeface="Asap"/>
            </a:endParaRPr>
          </a:p>
          <a:p>
            <a:pPr indent="-311150" lvl="0" marL="914400" rtl="0" algn="l">
              <a:lnSpc>
                <a:spcPct val="115000"/>
              </a:lnSpc>
              <a:spcBef>
                <a:spcPts val="0"/>
              </a:spcBef>
              <a:spcAft>
                <a:spcPts val="0"/>
              </a:spcAft>
              <a:buClr>
                <a:srgbClr val="FFFF01"/>
              </a:buClr>
              <a:buSzPts val="1300"/>
              <a:buChar char="●"/>
            </a:pPr>
            <a:r>
              <a:rPr lang="en-US" sz="2000">
                <a:solidFill>
                  <a:schemeClr val="lt1"/>
                </a:solidFill>
                <a:latin typeface="Asap"/>
                <a:ea typeface="Asap"/>
                <a:cs typeface="Asap"/>
                <a:sym typeface="Asap"/>
              </a:rPr>
              <a:t>Odata cu mecanismele de atentie, luam in calcul si contextul</a:t>
            </a:r>
            <a:endParaRPr sz="2000">
              <a:solidFill>
                <a:schemeClr val="lt1"/>
              </a:solidFill>
              <a:latin typeface="Asap"/>
              <a:ea typeface="Asap"/>
              <a:cs typeface="Asap"/>
              <a:sym typeface="Asap"/>
            </a:endParaRPr>
          </a:p>
          <a:p>
            <a:pPr indent="-311150" lvl="0" marL="914400" rtl="0" algn="l">
              <a:lnSpc>
                <a:spcPct val="115000"/>
              </a:lnSpc>
              <a:spcBef>
                <a:spcPts val="0"/>
              </a:spcBef>
              <a:spcAft>
                <a:spcPts val="0"/>
              </a:spcAft>
              <a:buClr>
                <a:srgbClr val="FFFF01"/>
              </a:buClr>
              <a:buSzPts val="1300"/>
              <a:buChar char="●"/>
            </a:pPr>
            <a:r>
              <a:rPr lang="en-US" sz="2000">
                <a:solidFill>
                  <a:schemeClr val="lt1"/>
                </a:solidFill>
                <a:latin typeface="Asap"/>
                <a:ea typeface="Asap"/>
                <a:cs typeface="Asap"/>
                <a:sym typeface="Asap"/>
              </a:rPr>
              <a:t>Exemplu: banca =&gt; instituie financiara, scaun</a:t>
            </a:r>
            <a:br>
              <a:rPr lang="en-US" sz="2000">
                <a:solidFill>
                  <a:schemeClr val="lt1"/>
                </a:solidFill>
                <a:latin typeface="Asap"/>
                <a:ea typeface="Asap"/>
                <a:cs typeface="Asap"/>
                <a:sym typeface="Asap"/>
              </a:rPr>
            </a:br>
            <a:endParaRPr sz="2000">
              <a:solidFill>
                <a:schemeClr val="lt1"/>
              </a:solidFill>
              <a:latin typeface="Asap"/>
              <a:ea typeface="Asap"/>
              <a:cs typeface="Asap"/>
              <a:sym typeface="Asap"/>
            </a:endParaRPr>
          </a:p>
          <a:p>
            <a:pPr indent="-298450" lvl="0" marL="914400" rtl="0" algn="l">
              <a:lnSpc>
                <a:spcPct val="115000"/>
              </a:lnSpc>
              <a:spcBef>
                <a:spcPts val="0"/>
              </a:spcBef>
              <a:spcAft>
                <a:spcPts val="0"/>
              </a:spcAft>
              <a:buClr>
                <a:srgbClr val="FFFF01"/>
              </a:buClr>
              <a:buSzPts val="1100"/>
              <a:buChar char="●"/>
            </a:pPr>
            <a:r>
              <a:rPr lang="en-US" sz="2000">
                <a:solidFill>
                  <a:schemeClr val="lt1"/>
                </a:solidFill>
                <a:latin typeface="Asap"/>
                <a:ea typeface="Asap"/>
                <a:cs typeface="Asap"/>
                <a:sym typeface="Asap"/>
              </a:rPr>
              <a:t>Aplicații: customer service, translation</a:t>
            </a:r>
            <a:br>
              <a:rPr lang="en-US" sz="1800">
                <a:solidFill>
                  <a:schemeClr val="lt1"/>
                </a:solidFill>
                <a:latin typeface="Asap"/>
                <a:ea typeface="Asap"/>
                <a:cs typeface="Asap"/>
                <a:sym typeface="Asap"/>
              </a:rPr>
            </a:br>
            <a:endParaRPr sz="1800">
              <a:solidFill>
                <a:schemeClr val="lt1"/>
              </a:solidFill>
              <a:latin typeface="Asap"/>
              <a:ea typeface="Asap"/>
              <a:cs typeface="Asap"/>
              <a:sym typeface="Asap"/>
            </a:endParaRPr>
          </a:p>
          <a:p>
            <a:pPr indent="0" lvl="0" marL="0" marR="0" rtl="0" algn="l">
              <a:lnSpc>
                <a:spcPct val="150000"/>
              </a:lnSpc>
              <a:spcBef>
                <a:spcPts val="1200"/>
              </a:spcBef>
              <a:spcAft>
                <a:spcPts val="0"/>
              </a:spcAft>
              <a:buNone/>
            </a:pPr>
            <a:r>
              <a:t/>
            </a:r>
            <a:endParaRPr sz="1800">
              <a:solidFill>
                <a:schemeClr val="lt1"/>
              </a:solidFill>
              <a:latin typeface="Asap"/>
              <a:ea typeface="Asap"/>
              <a:cs typeface="Asap"/>
              <a:sym typeface="Asa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84514fc5ec_0_153"/>
          <p:cNvSpPr txBox="1"/>
          <p:nvPr/>
        </p:nvSpPr>
        <p:spPr>
          <a:xfrm>
            <a:off x="516575" y="1545275"/>
            <a:ext cx="8560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01"/>
                </a:solidFill>
                <a:latin typeface="Asap"/>
                <a:ea typeface="Asap"/>
                <a:cs typeface="Asap"/>
                <a:sym typeface="Asap"/>
              </a:rPr>
              <a:t>ML ESTE FOLOSIT IN…</a:t>
            </a:r>
            <a:endParaRPr b="1" i="0" sz="2000" u="none" cap="none" strike="noStrike">
              <a:solidFill>
                <a:srgbClr val="FFFF01"/>
              </a:solidFill>
              <a:latin typeface="Asap"/>
              <a:ea typeface="Asap"/>
              <a:cs typeface="Asap"/>
              <a:sym typeface="Asap"/>
            </a:endParaRPr>
          </a:p>
        </p:txBody>
      </p:sp>
      <p:pic>
        <p:nvPicPr>
          <p:cNvPr descr="preencoded.png" id="291" name="Google Shape;291;g384514fc5ec_0_153"/>
          <p:cNvPicPr preferRelativeResize="0"/>
          <p:nvPr/>
        </p:nvPicPr>
        <p:blipFill rotWithShape="1">
          <a:blip r:embed="rId3">
            <a:alphaModFix/>
          </a:blip>
          <a:srcRect b="0" l="0" r="0" t="0"/>
          <a:stretch/>
        </p:blipFill>
        <p:spPr>
          <a:xfrm>
            <a:off x="0" y="2207500"/>
            <a:ext cx="9006600" cy="4650600"/>
          </a:xfrm>
          <a:prstGeom prst="round2SameRect">
            <a:avLst>
              <a:gd fmla="val 16667" name="adj1"/>
              <a:gd fmla="val 0" name="adj2"/>
            </a:avLst>
          </a:prstGeom>
          <a:noFill/>
          <a:ln>
            <a:noFill/>
          </a:ln>
        </p:spPr>
      </p:pic>
      <p:sp>
        <p:nvSpPr>
          <p:cNvPr id="292" name="Google Shape;292;g384514fc5ec_0_153"/>
          <p:cNvSpPr txBox="1"/>
          <p:nvPr/>
        </p:nvSpPr>
        <p:spPr>
          <a:xfrm>
            <a:off x="516582" y="2441800"/>
            <a:ext cx="10579800" cy="1277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SISTEME DE RECOMANDARE</a:t>
            </a:r>
            <a:r>
              <a:rPr lang="en-US" sz="2000">
                <a:solidFill>
                  <a:srgbClr val="FFFF01"/>
                </a:solidFill>
                <a:latin typeface="Asap"/>
                <a:ea typeface="Asap"/>
                <a:cs typeface="Asap"/>
                <a:sym typeface="Asap"/>
              </a:rPr>
              <a:t> ⭐</a:t>
            </a:r>
            <a:endParaRPr sz="2000">
              <a:solidFill>
                <a:srgbClr val="FFFF0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Netflix, Spotify, Amazon</a:t>
            </a:r>
            <a:br>
              <a:rPr lang="en-US" sz="2000">
                <a:solidFill>
                  <a:schemeClr val="lt1"/>
                </a:solidFill>
                <a:latin typeface="Asap"/>
                <a:ea typeface="Asap"/>
                <a:cs typeface="Asap"/>
                <a:sym typeface="Asap"/>
              </a:rPr>
            </a:br>
            <a:endParaRPr sz="1800">
              <a:solidFill>
                <a:schemeClr val="lt1"/>
              </a:solidFill>
              <a:latin typeface="Asap"/>
              <a:ea typeface="Asap"/>
              <a:cs typeface="Asap"/>
              <a:sym typeface="Asap"/>
            </a:endParaRPr>
          </a:p>
        </p:txBody>
      </p:sp>
      <p:sp>
        <p:nvSpPr>
          <p:cNvPr id="293" name="Google Shape;293;g384514fc5ec_0_153"/>
          <p:cNvSpPr txBox="1"/>
          <p:nvPr/>
        </p:nvSpPr>
        <p:spPr>
          <a:xfrm>
            <a:off x="516582" y="4183603"/>
            <a:ext cx="10579800" cy="1662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FORECASTING &amp; TIME SERIES</a:t>
            </a:r>
            <a:r>
              <a:rPr lang="en-US" sz="2000">
                <a:solidFill>
                  <a:srgbClr val="FFFF01"/>
                </a:solidFill>
                <a:latin typeface="Asap"/>
                <a:ea typeface="Asap"/>
                <a:cs typeface="Asap"/>
                <a:sym typeface="Asap"/>
              </a:rPr>
              <a:t> </a:t>
            </a:r>
            <a:r>
              <a:rPr lang="en-US" sz="2000">
                <a:solidFill>
                  <a:srgbClr val="FFFF01"/>
                </a:solidFill>
                <a:latin typeface="Asap"/>
                <a:ea typeface="Asap"/>
                <a:cs typeface="Asap"/>
                <a:sym typeface="Asap"/>
              </a:rPr>
              <a:t>📈</a:t>
            </a:r>
            <a:endParaRPr sz="2000">
              <a:solidFill>
                <a:srgbClr val="FFFF0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forecasting =&gt; sa folosesti date din trecut ca sa prezici viitorul</a:t>
            </a:r>
            <a:endParaRPr sz="2000">
              <a:solidFill>
                <a:schemeClr val="lt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se invata trend-uri, anomalii</a:t>
            </a:r>
            <a:endParaRPr sz="2000">
              <a:solidFill>
                <a:schemeClr val="lt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aplicatii: finante</a:t>
            </a:r>
            <a:endParaRPr sz="2000">
              <a:solidFill>
                <a:schemeClr val="lt1"/>
              </a:solidFill>
              <a:latin typeface="Asap"/>
              <a:ea typeface="Asap"/>
              <a:cs typeface="Asap"/>
              <a:sym typeface="Asa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84514fc5ec_0_163"/>
          <p:cNvSpPr txBox="1"/>
          <p:nvPr/>
        </p:nvSpPr>
        <p:spPr>
          <a:xfrm>
            <a:off x="516575" y="1545275"/>
            <a:ext cx="8560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01"/>
                </a:solidFill>
                <a:latin typeface="Asap"/>
                <a:ea typeface="Asap"/>
                <a:cs typeface="Asap"/>
                <a:sym typeface="Asap"/>
              </a:rPr>
              <a:t>ML ESTE FOLOSIT IN…</a:t>
            </a:r>
            <a:endParaRPr b="1" i="0" sz="2000" u="none" cap="none" strike="noStrike">
              <a:solidFill>
                <a:srgbClr val="FFFF01"/>
              </a:solidFill>
              <a:latin typeface="Asap"/>
              <a:ea typeface="Asap"/>
              <a:cs typeface="Asap"/>
              <a:sym typeface="Asap"/>
            </a:endParaRPr>
          </a:p>
        </p:txBody>
      </p:sp>
      <p:pic>
        <p:nvPicPr>
          <p:cNvPr descr="preencoded.png" id="300" name="Google Shape;300;g384514fc5ec_0_163"/>
          <p:cNvPicPr preferRelativeResize="0"/>
          <p:nvPr/>
        </p:nvPicPr>
        <p:blipFill rotWithShape="1">
          <a:blip r:embed="rId3">
            <a:alphaModFix/>
          </a:blip>
          <a:srcRect b="0" l="0" r="0" t="0"/>
          <a:stretch/>
        </p:blipFill>
        <p:spPr>
          <a:xfrm>
            <a:off x="0" y="2207500"/>
            <a:ext cx="9006600" cy="4650600"/>
          </a:xfrm>
          <a:prstGeom prst="round2SameRect">
            <a:avLst>
              <a:gd fmla="val 16667" name="adj1"/>
              <a:gd fmla="val 0" name="adj2"/>
            </a:avLst>
          </a:prstGeom>
          <a:noFill/>
          <a:ln>
            <a:noFill/>
          </a:ln>
        </p:spPr>
      </p:pic>
      <p:sp>
        <p:nvSpPr>
          <p:cNvPr id="301" name="Google Shape;301;g384514fc5ec_0_163"/>
          <p:cNvSpPr txBox="1"/>
          <p:nvPr/>
        </p:nvSpPr>
        <p:spPr>
          <a:xfrm>
            <a:off x="516582" y="2441800"/>
            <a:ext cx="10579800" cy="1277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HEALTHCARE 🏥</a:t>
            </a:r>
            <a:endParaRPr sz="2000">
              <a:solidFill>
                <a:srgbClr val="FFFF0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drug discovery, predictii pentru diverse boli</a:t>
            </a:r>
            <a:br>
              <a:rPr lang="en-US" sz="2000">
                <a:solidFill>
                  <a:schemeClr val="lt1"/>
                </a:solidFill>
                <a:latin typeface="Asap"/>
                <a:ea typeface="Asap"/>
                <a:cs typeface="Asap"/>
                <a:sym typeface="Asap"/>
              </a:rPr>
            </a:br>
            <a:endParaRPr sz="1800">
              <a:solidFill>
                <a:schemeClr val="lt1"/>
              </a:solidFill>
              <a:latin typeface="Asap"/>
              <a:ea typeface="Asap"/>
              <a:cs typeface="Asap"/>
              <a:sym typeface="Asap"/>
            </a:endParaRPr>
          </a:p>
        </p:txBody>
      </p:sp>
      <p:sp>
        <p:nvSpPr>
          <p:cNvPr id="302" name="Google Shape;302;g384514fc5ec_0_163"/>
          <p:cNvSpPr txBox="1"/>
          <p:nvPr/>
        </p:nvSpPr>
        <p:spPr>
          <a:xfrm>
            <a:off x="516577" y="4183600"/>
            <a:ext cx="8387100" cy="1308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FFFF01"/>
              </a:buClr>
              <a:buSzPts val="1600"/>
              <a:buFont typeface="Asap"/>
              <a:buChar char="●"/>
            </a:pPr>
            <a:r>
              <a:rPr b="1" lang="en-US" sz="2000">
                <a:solidFill>
                  <a:srgbClr val="FFFF01"/>
                </a:solidFill>
                <a:latin typeface="Asap"/>
                <a:ea typeface="Asap"/>
                <a:cs typeface="Asap"/>
                <a:sym typeface="Asap"/>
              </a:rPr>
              <a:t>AUTONOMUS VEHICLES 🚗</a:t>
            </a:r>
            <a:endParaRPr sz="2000">
              <a:solidFill>
                <a:srgbClr val="FFFF01"/>
              </a:solidFill>
              <a:latin typeface="Asap"/>
              <a:ea typeface="Asap"/>
              <a:cs typeface="Asap"/>
              <a:sym typeface="Asap"/>
            </a:endParaRPr>
          </a:p>
          <a:p>
            <a:pPr indent="-355600" lvl="0" marL="914400" rtl="0" algn="l">
              <a:lnSpc>
                <a:spcPct val="115000"/>
              </a:lnSpc>
              <a:spcBef>
                <a:spcPts val="0"/>
              </a:spcBef>
              <a:spcAft>
                <a:spcPts val="0"/>
              </a:spcAft>
              <a:buClr>
                <a:srgbClr val="FFFF01"/>
              </a:buClr>
              <a:buSzPts val="2000"/>
              <a:buFont typeface="Asap"/>
              <a:buChar char="●"/>
            </a:pPr>
            <a:r>
              <a:rPr lang="en-US" sz="2000">
                <a:solidFill>
                  <a:schemeClr val="lt1"/>
                </a:solidFill>
                <a:latin typeface="Asap"/>
                <a:ea typeface="Asap"/>
                <a:cs typeface="Asap"/>
                <a:sym typeface="Asap"/>
              </a:rPr>
              <a:t>combina camera, lidar si algoritmi de computer vision ca sa vada imprejurimile</a:t>
            </a:r>
            <a:endParaRPr sz="2000">
              <a:solidFill>
                <a:schemeClr val="lt1"/>
              </a:solidFill>
              <a:latin typeface="Asap"/>
              <a:ea typeface="Asap"/>
              <a:cs typeface="Asap"/>
              <a:sym typeface="Asap"/>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2025-05-05T19:11:20Z</dcterms:created>
  <dc:creator>Alexandra Tripcea</dc:creator>
</cp:coreProperties>
</file>