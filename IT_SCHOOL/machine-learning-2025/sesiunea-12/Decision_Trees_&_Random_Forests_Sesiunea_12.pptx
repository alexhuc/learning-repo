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Asap SemiBold"/>
      <p:regular r:id="rId33"/>
      <p:bold r:id="rId34"/>
      <p:italic r:id="rId35"/>
      <p:boldItalic r:id="rId36"/>
    </p:embeddedFont>
    <p:embeddedFont>
      <p:font typeface="Asap"/>
      <p:regular r:id="rId37"/>
      <p:bold r:id="rId38"/>
      <p:italic r:id="rId39"/>
      <p:boldItalic r:id="rId40"/>
    </p:embeddedFont>
    <p:embeddedFont>
      <p:font typeface="Asap Medium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sap-boldItalic.fntdata"/><Relationship Id="rId20" Type="http://schemas.openxmlformats.org/officeDocument/2006/relationships/slide" Target="slides/slide15.xml"/><Relationship Id="rId42" Type="http://schemas.openxmlformats.org/officeDocument/2006/relationships/font" Target="fonts/AsapMedium-bold.fntdata"/><Relationship Id="rId41" Type="http://schemas.openxmlformats.org/officeDocument/2006/relationships/font" Target="fonts/AsapMedium-regular.fntdata"/><Relationship Id="rId22" Type="http://schemas.openxmlformats.org/officeDocument/2006/relationships/slide" Target="slides/slide17.xml"/><Relationship Id="rId44" Type="http://schemas.openxmlformats.org/officeDocument/2006/relationships/font" Target="fonts/AsapMedium-boldItalic.fntdata"/><Relationship Id="rId21" Type="http://schemas.openxmlformats.org/officeDocument/2006/relationships/slide" Target="slides/slide16.xml"/><Relationship Id="rId43" Type="http://schemas.openxmlformats.org/officeDocument/2006/relationships/font" Target="fonts/AsapMedium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AsapSemiBold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AsapSemiBold-italic.fntdata"/><Relationship Id="rId12" Type="http://schemas.openxmlformats.org/officeDocument/2006/relationships/slide" Target="slides/slide7.xml"/><Relationship Id="rId34" Type="http://schemas.openxmlformats.org/officeDocument/2006/relationships/font" Target="fonts/AsapSemiBold-bold.fntdata"/><Relationship Id="rId15" Type="http://schemas.openxmlformats.org/officeDocument/2006/relationships/slide" Target="slides/slide10.xml"/><Relationship Id="rId37" Type="http://schemas.openxmlformats.org/officeDocument/2006/relationships/font" Target="fonts/Asap-regular.fntdata"/><Relationship Id="rId14" Type="http://schemas.openxmlformats.org/officeDocument/2006/relationships/slide" Target="slides/slide9.xml"/><Relationship Id="rId36" Type="http://schemas.openxmlformats.org/officeDocument/2006/relationships/font" Target="fonts/AsapSemiBold-boldItalic.fntdata"/><Relationship Id="rId17" Type="http://schemas.openxmlformats.org/officeDocument/2006/relationships/slide" Target="slides/slide12.xml"/><Relationship Id="rId39" Type="http://schemas.openxmlformats.org/officeDocument/2006/relationships/font" Target="fonts/Asap-italic.fntdata"/><Relationship Id="rId16" Type="http://schemas.openxmlformats.org/officeDocument/2006/relationships/slide" Target="slides/slide11.xml"/><Relationship Id="rId38" Type="http://schemas.openxmlformats.org/officeDocument/2006/relationships/font" Target="fonts/Asap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1ed7653bd_0_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a1ed7653bd_0_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a1ed7653bd_0_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1ed7653bd_0_1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a1ed7653bd_0_1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a1ed7653bd_0_1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1ed7653bd_0_2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a1ed7653bd_0_2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a1ed7653bd_0_2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1ed7653bd_0_3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a1ed7653bd_0_3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a1ed7653bd_0_3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1ed7653bd_0_4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a1ed7653bd_0_4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Dacă împărțim după Venit, obținem două grupuri clare: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Venit mic → toate ‘NU’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Venit mare → toate ‘DA’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 Venitul este cel mai bun feature pentru root node.</a:t>
            </a:r>
            <a:endParaRPr/>
          </a:p>
        </p:txBody>
      </p:sp>
      <p:sp>
        <p:nvSpPr>
          <p:cNvPr id="133" name="Google Shape;133;g3a1ed7653bd_0_4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1ed7653bd_0_5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a1ed7653bd_0_5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a1ed7653bd_0_5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1ed7653bd_0_6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a1ed7653bd_0_6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a1ed7653bd_0_6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1ed7653bd_0_10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a1ed7653bd_0_10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💬 “Gândiți-vă că avem un set dezordonat.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Vrem să alegem întrebarea care face cutiile cele mai curate.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Acel feature are cel mai mare Information Gain.”</a:t>
            </a:r>
            <a:endParaRPr/>
          </a:p>
        </p:txBody>
      </p:sp>
      <p:sp>
        <p:nvSpPr>
          <p:cNvPr id="164" name="Google Shape;164;g3a1ed7653bd_0_10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1ed7653bd_0_7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a1ed7653bd_0_7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a1ed7653bd_0_7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1ed7653bd_0_8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a1ed7653bd_0_8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a1ed7653bd_0_8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1ed7653bd_0_9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a1ed7653bd_0_9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Tinem cont de numarul de mostre in fiecare grup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💡 Dacă toate ramurile ar avea același număr de exemple, ar fi doar media simplă.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Dar cum fiecare are mărime diferită, folosim ponderile.</a:t>
            </a:r>
            <a:endParaRPr/>
          </a:p>
        </p:txBody>
      </p:sp>
      <p:sp>
        <p:nvSpPr>
          <p:cNvPr id="195" name="Google Shape;195;g3a1ed7653bd_0_9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1ed7653bd_0_12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a1ed7653bd_0_12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a1ed7653bd_0_12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1ed7653bd_0_13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a1ed7653bd_0_13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a1ed7653bd_0_13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1ed7653bd_0_14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a1ed7653bd_0_14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a1ed7653bd_0_14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1ed7653bd_0_14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a1ed7653bd_0_14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a1ed7653bd_0_14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1ed7653bd_0_15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a1ed7653bd_0_15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a1ed7653bd_0_15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1ed7653bd_0_16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a1ed7653bd_0_16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a1ed7653bd_0_16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1ed7653bd_0_17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a1ed7653bd_0_17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a1ed7653bd_0_17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a24d822251_0_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a24d822251_0_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a24d822251_0_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24d822251_0_1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a24d822251_0_1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a24d822251_0_1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273decead_0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a273decead_0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Poate fi înșelător când ai clase rare (ex: 99% sănătoși → 99% accuracy, dar 0% la cei bolnavi).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✅ Echilibrează între cazurile: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modelul prinde multe pozitive (recall mare)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dar fără să dea prea multe false pozitive (precision mare)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“Accuracy spune câte am nimerit din total.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F1 spune cât de bine m-am descurcat pe cazurile importante (pozitive).”</a:t>
            </a:r>
            <a:endParaRPr/>
          </a:p>
        </p:txBody>
      </p:sp>
      <p:sp>
        <p:nvSpPr>
          <p:cNvPr id="299" name="Google Shape;299;g3a273decead_0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273decead_0_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a273decead_0_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a273decead_0_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273decead_0_1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a273decead_0_1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Macro → „Cât de bine se descurcă modelul în general?”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Weighted → „Cât de bine se descurcă modelul, ținând cont de distribuția claselor?”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🧩 Dacă datele sunt dezechilibrate, raportează macro avg 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dacă sunt echilibrate, weighted avg e suficient.</a:t>
            </a:r>
            <a:endParaRPr/>
          </a:p>
        </p:txBody>
      </p:sp>
      <p:sp>
        <p:nvSpPr>
          <p:cNvPr id="321" name="Google Shape;321;g3a273decead_0_1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14efa0161_0_1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a14efa0161_0_1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a14efa0161_0_1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_1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20.png"/><Relationship Id="rId7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147" y="762000"/>
            <a:ext cx="8589850" cy="3332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323975"/>
            <a:ext cx="8401051" cy="2681288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9000000" dist="14287">
              <a:srgbClr val="313CFF">
                <a:alpha val="89411"/>
              </a:srgbClr>
            </a:outerShdw>
          </a:effectLst>
        </p:spPr>
      </p:pic>
      <p:pic>
        <p:nvPicPr>
          <p:cNvPr descr="preencoded.png" id="61" name="Google Shape;6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880" y="3767138"/>
            <a:ext cx="3562350" cy="614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5"/>
          <p:cNvSpPr/>
          <p:nvPr/>
        </p:nvSpPr>
        <p:spPr>
          <a:xfrm>
            <a:off x="909638" y="1538288"/>
            <a:ext cx="7938000" cy="1990800"/>
          </a:xfrm>
          <a:prstGeom prst="rect">
            <a:avLst/>
          </a:prstGeom>
          <a:noFill/>
          <a:ln>
            <a:noFill/>
          </a:ln>
          <a:effectLst>
            <a:outerShdw rotWithShape="0" algn="bl">
              <a:srgbClr val="313CFF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Asap"/>
              <a:buNone/>
            </a:pPr>
            <a:r>
              <a:rPr b="1" i="0" lang="en-GB" sz="47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Machine Learning </a:t>
            </a:r>
            <a:endParaRPr b="1" i="0" sz="47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34290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sap"/>
              <a:buChar char="-"/>
            </a:pPr>
            <a:r>
              <a:rPr b="1" i="0" lang="en-GB" sz="38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curs - </a:t>
            </a:r>
            <a:endParaRPr b="1" i="0" sz="38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1037155" y="3914250"/>
            <a:ext cx="27861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2400"/>
              <a:buFont typeface="Asap Medium"/>
              <a:buNone/>
            </a:pPr>
            <a:r>
              <a:rPr b="0" i="0" lang="en-GB" sz="24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— Sesiunea </a:t>
            </a:r>
            <a:r>
              <a:rPr lang="en-GB" sz="2400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12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909650" y="2980023"/>
            <a:ext cx="80673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i="1" lang="en-GB" sz="3000">
                <a:solidFill>
                  <a:srgbClr val="FFFF01"/>
                </a:solidFill>
                <a:latin typeface="Asap SemiBold"/>
                <a:ea typeface="Asap SemiBold"/>
                <a:cs typeface="Asap SemiBold"/>
                <a:sym typeface="Asap SemiBold"/>
              </a:rPr>
              <a:t>Decision Trees &amp; Random Forests</a:t>
            </a:r>
            <a:endParaRPr b="0" i="1" sz="3000" u="none" cap="none" strike="noStrike">
              <a:solidFill>
                <a:srgbClr val="FFFF01"/>
              </a:solidFill>
              <a:latin typeface="Asap SemiBold"/>
              <a:ea typeface="Asap SemiBold"/>
              <a:cs typeface="Asap SemiBold"/>
              <a:sym typeface="Asap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" name="Google Shape;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080113"/>
            <a:ext cx="7244700" cy="4063200"/>
          </a:xfrm>
          <a:prstGeom prst="round2SameRect">
            <a:avLst>
              <a:gd fmla="val 8143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preencoded.png" id="73" name="Google Shape;7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133631" y="1238588"/>
            <a:ext cx="6280500" cy="3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GB" sz="26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Decision Trees &amp; Random forests</a:t>
            </a:r>
            <a:endParaRPr b="1" sz="26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Decision Trees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Gini impurity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Pruning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Random forests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Bootstrapping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Bagging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Out-of-bag error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F1 / macro F1 / weighted F1 score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860218" y="683655"/>
            <a:ext cx="2278800" cy="3288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7800000" dist="14287">
              <a:srgbClr val="000000">
                <a:alpha val="2039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4A86E8"/>
                </a:solidFill>
                <a:latin typeface="Asap"/>
                <a:ea typeface="Asap"/>
                <a:cs typeface="Asap"/>
                <a:sym typeface="Asap"/>
              </a:rPr>
              <a:t>SHORT GUIDE</a:t>
            </a:r>
            <a:endParaRPr b="0" i="0" sz="25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" name="Google Shape;8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Ce este un Decision Tree?</a:t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Un instrument pentru luarea deciziilor automate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Se bazează pe întrebări: dacă o condiție e adevărată → mergem la stânga, altfel → la dreapta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Rezultatul final = o decizie sau o valoare numerică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1875" y="297450"/>
            <a:ext cx="3721500" cy="258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2" name="Google Shape;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4" name="Google Shape;9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Cum gândesc arborii</a:t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Fiecare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nod 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= o întrebare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Fiecare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ramură 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= un răspuns (True / False)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Fiecare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frunză 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= o decizie finală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Începem de sus (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root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) și coborâm până la o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frunză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1875" y="297450"/>
            <a:ext cx="3721500" cy="258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3" name="Google Shape;10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4" name="Google Shape;10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" name="Google Shape;10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Clasificare vs Regresie</a:t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🌿 Classification Tree → prezice o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etichetă 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(Bolnav / Sănătos)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🌿 Regression Tree → prezice o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valoare numerică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(Prețul unei case)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Ambele împart datele pas cu pas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3" name="Google Shape;11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4" name="Google Shape;11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5" name="Google Shape;11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Structura unui arbore</a:t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Root node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– punctul de start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Branches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– răspunsurile la întrebări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Internal nodes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– conțin condițiile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Leaves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– rezultatele finale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18" name="Google Shape;118;p20" title="Decision-Tre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14904" y="460050"/>
            <a:ext cx="4161000" cy="2344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4" name="Google Shape;1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5" name="Google Shape;12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6" name="Google Shape;12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Cum se construiește un arbore</a:t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1️⃣ Pornim cu datele și feature-urile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2️⃣ Alegem feature-ul care separă cel mai bine clasele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3️⃣ Repetăm până ajungem la frunze pure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4️⃣ O frunză pură = toate exemplele dintr-o singură clasă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29" name="Google Shape;12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71550" y="1036525"/>
            <a:ext cx="4661100" cy="1507800"/>
          </a:xfrm>
          <a:prstGeom prst="roundRect">
            <a:avLst>
              <a:gd fmla="val 7459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5" name="Google Shape;13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6" name="Google Shape;13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2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Cum se construiește un arbore</a:t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39" name="Google Shape;139;p22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👉 Vrem să alegem feature-ul care separă cel mai clar ‘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’ și ‘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NU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’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950" y="2187575"/>
            <a:ext cx="6407400" cy="2073300"/>
          </a:xfrm>
          <a:prstGeom prst="roundRect">
            <a:avLst>
              <a:gd fmla="val 872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6" name="Google Shape;14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7" name="Google Shape;14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8" name="Google Shape;14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3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Ce înseamnă “impuritate”?</a:t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50" name="Google Shape;150;p23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Un nod “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pur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” = toate exemplele sunt la fel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Un nod “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impur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” = amestec de clase (DA/NU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Măsuri folosite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Gini impurity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Entropie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6" name="Google Shape;1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7" name="Google Shape;15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8" name="Google Shape;15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4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Gini impurity</a:t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Formula: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1 - p(DA)² - p(NU)²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0 → nod complet pur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Valoare mare → amestec de clase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Avem 3 “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” și 1 “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NU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” (valori țintă raportate la același feature)</a:t>
            </a:r>
            <a:b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</a:b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Formula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1 - (3/4)² - (1/4)² = 0.375</a:t>
            </a:r>
            <a:b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</a:b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💬 Ce se întâmplă dacă toate sunt “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”?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6" name="Google Shape;16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7" name="Google Shape;16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8" name="Google Shape;16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Entropie &amp; Information Gain</a:t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Entropie = cât de amestecate sunt datele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○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Formula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-&gt; H=−p(DA)log2​p(DA)−p(NU)log2​p(NU)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Information Gain = câtă claritate câștigăm după split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○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Formula 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-&gt; Entropie(înainte) - Entropie(după)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Alegem feature-ul cu cel mai mare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Information Gain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6" name="Google Shape;17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7" name="Google Shape;17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8" name="Google Shape;17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6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Cum alegem primul feature</a:t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Testăm fiecare feature și calculăm impuritatea totală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Alegem feature-ul cu impuritatea cea mai mică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Repetăm procesul pentru fiecare nod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6" name="Google Shape;18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7" name="Google Shape;18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8" name="Google Shape;18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7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Calculăm Gini impurity pentru „Venit”</a:t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90" name="Google Shape;190;p27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Venit = mic -&gt; {nu, nu}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Venit = mare -&gt; {da, da}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Gini(mic) = 1 - (0)²−(1)² = 0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Gini(mare) = 1 - (1)² - (0)² = 0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➡️ Gini total pentru Venit = 0.0 ✅ (set perfect curat)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91" name="Google Shape;19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48175" y="1164800"/>
            <a:ext cx="4661100" cy="1507800"/>
          </a:xfrm>
          <a:prstGeom prst="roundRect">
            <a:avLst>
              <a:gd fmla="val 7459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7" name="Google Shape;19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8" name="Google Shape;1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9" name="Google Shape;19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8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Calculăm Gini impurity pentru „Vârstă”</a:t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01" name="Google Shape;201;p28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tânăr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-&gt; {nu, da}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adult -&gt; {da}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ătrân -&gt; {nu}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Gini(tânăr) = 1 - (0.5)²−(0.5)² = 0.5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Gini(adult) = 0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Gini(bătrân) = 0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➡️ Gini total pentru Vârstă = (2/4)*0.5 + (1/4)*0 + (1/4)*0 = 0.25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02" name="Google Shape;202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15538" y="1063950"/>
            <a:ext cx="4661100" cy="1507800"/>
          </a:xfrm>
          <a:prstGeom prst="roundRect">
            <a:avLst>
              <a:gd fmla="val 7459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8" name="Google Shape;20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9" name="Google Shape;20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0" name="Google Shape;21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9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Pruning (tăierea arborelui)</a:t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12" name="Google Shape;212;p29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Arborele poate deveni prea complex (overfitting).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Pruning = eliminăm ramurile inutile.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Arborele devine mai scurt și mai interpretabil.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Reduce overfitting și crește acuratețea.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13" name="Google Shape;213;p29" title="Designer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82956" y="205106"/>
            <a:ext cx="3963300" cy="2642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9" name="Google Shape;21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0" name="Google Shape;22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1" name="Google Shape;22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0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Avantaje și limitări</a:t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✅ Avantaje: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Ușor de înțeles și explicat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Funcționează cu date numerice și categorice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❌ Limitări: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Instabil la schimbări mici în date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Poate supraînvăța (overfit)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9" name="Google Shape;22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0" name="Google Shape;23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1" name="Google Shape;23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1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Regression Trees</a:t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33" name="Google Shape;233;p31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Arbore care prezice valori numerice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În loc de “DA/NU”, fiecare frunză conține o medie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Fiecare split reduce variația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9" name="Google Shape;23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0" name="Google Shape;24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1" name="Google Shape;24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2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Random Forests</a:t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43" name="Google Shape;243;p32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Combinație de mai mulți arbori (ensemble)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Fiecare primește un bootstrapped dataset (aleator, cu înlocuire)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Fiecare folosește un subset random de features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Predicția finală = votul majoritar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9" name="Google Shape;24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0" name="Google Shape;25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1" name="Google Shape;25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3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Bootstrapping</a:t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53" name="Google Shape;253;p33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Bootstrapping 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= antrenăm fiecare arbore pe un subset random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Setul original → mai multe subseturi → arbori → agregare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Beneficii: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○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Diversitate între arbori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○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Reduce overfitting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○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Estimare erori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54" name="Google Shape;254;p33" title="use-tree-model-02-7ea99fe1956fa6d40f6dda9a338e77f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01725" y="172951"/>
            <a:ext cx="4119300" cy="252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0" name="Google Shape;26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1" name="Google Shape;26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2" name="Google Shape;26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4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Bagging</a:t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64" name="Google Shape;264;p34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Bagging = combinăm predicțiile prin vot / medie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💬 “Fiecare arbore vede lumea puțin diferit, dar pădurea decide împreună.”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65" name="Google Shape;265;p34" title="use-tree-model-02-7ea99fe1956fa6d40f6dda9a338e77f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01725" y="172951"/>
            <a:ext cx="4119300" cy="252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1" name="Google Shape;27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2" name="Google Shape;27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3" name="Google Shape;273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5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Out-of-Bag Error</a:t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75" name="Google Shape;275;p35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Datele nefolosite la antrenare pot fi testate pe acel arbore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Media erorilor dă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out-of-bag accuracy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Este o metodă de validare internă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1" name="Google Shape;28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2" name="Google Shape;28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3" name="Google Shape;283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6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Cand folosim decision trees?</a:t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85" name="Google Shape;285;p36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Machine Learning: clasificare, regresie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Medicină: diagnostic, decizii clinice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Business: segmentarea clienților, predicții de vânzări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Finanțe: evaluarea riscului, detectarea fraudelor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Juridic: suport pentru decizii, clasificarea documentelor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1" name="Google Shape;29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2" name="Google Shape;29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3" name="Google Shape;29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7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Cand folosim decision trees?</a:t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95" name="Google Shape;295;p37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Datele au relații non-liniare între caracteristici și etichetă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Ai caracteristici categorice sau mixte (numerice + categorice)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Vrei un model interpretabil vizual (ușor de explicat unui stakeholder)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Ai nevoie de un model care să gestioneze date lipsă sau să nu necesite scalare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1" name="Google Shape;30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2" name="Google Shape;30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3" name="Google Shape;303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8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Accuracy &amp; metrica F1</a:t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05" name="Google Shape;305;p38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⚖️ Accuracy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Proporția de predicții corecte din totalul cazurilor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💥 F1-score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Media armonică între Precision și Recall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06" name="Google Shape;306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51672" y="2484100"/>
            <a:ext cx="3425700" cy="75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07" name="Google Shape;307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35725" y="3597288"/>
            <a:ext cx="3657600" cy="847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3" name="Google Shape;31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4" name="Google Shape;31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5" name="Google Shape;315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9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Macro vs weighted avg ⚖️</a:t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17" name="Google Shape;317;p39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Macro avg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→ media simplă a scorurilor pe toate clasele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Fiecare clasă contează egal, indiferent de mărime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Bun pentru seturi dezechilibrate – vezi performanța reală pe clase mici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Weighted avg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→ media ponderată cu support (numărul de exemple din fiecare clasă)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Clasele mari au greutate mai mare în calcul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Poate ascunde performanța slabă pe clasele mici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3" name="Google Shape;3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4" name="Google Shape;32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5" name="Google Shape;325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0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Macro vs weighted avg ⚖️</a:t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9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27" name="Google Shape;327;p40"/>
          <p:cNvSpPr/>
          <p:nvPr/>
        </p:nvSpPr>
        <p:spPr>
          <a:xfrm>
            <a:off x="256327" y="1864312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Macro avg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(1.0 + 0.5) / 2 = 0.75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Weighted avg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(1.0×95 + 0.5×5) / 100 = 0.975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28" name="Google Shape;328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400" y="2132624"/>
            <a:ext cx="7197000" cy="1414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4" name="Google Shape;33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5" name="Google Shape;33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147" y="762000"/>
            <a:ext cx="8589850" cy="3332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6" name="Google Shape;336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323975"/>
            <a:ext cx="5800725" cy="2681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7" name="Google Shape;337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767138"/>
            <a:ext cx="4367213" cy="614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8" name="Google Shape;338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48313" y="428625"/>
            <a:ext cx="3286125" cy="4281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9" name="Google Shape;339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1"/>
          <p:cNvSpPr/>
          <p:nvPr/>
        </p:nvSpPr>
        <p:spPr>
          <a:xfrm>
            <a:off x="1314450" y="2338388"/>
            <a:ext cx="36291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Asap"/>
              <a:buNone/>
            </a:pPr>
            <a:r>
              <a:rPr b="1" i="0" lang="en-GB" sz="53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Thank you :)</a:t>
            </a:r>
            <a:endParaRPr b="0" i="0" sz="5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41"/>
          <p:cNvSpPr/>
          <p:nvPr/>
        </p:nvSpPr>
        <p:spPr>
          <a:xfrm>
            <a:off x="1033463" y="3890963"/>
            <a:ext cx="41445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2400"/>
              <a:buFont typeface="Asap Medium"/>
              <a:buNone/>
            </a:pPr>
            <a:r>
              <a:rPr b="0" i="0" lang="en-GB" sz="24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Ne vedem la sesiunea viitoare!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