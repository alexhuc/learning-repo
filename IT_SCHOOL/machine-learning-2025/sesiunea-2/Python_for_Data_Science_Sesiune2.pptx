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Play"/>
      <p:regular r:id="rId29"/>
      <p:bold r:id="rId30"/>
    </p:embeddedFont>
    <p:embeddedFont>
      <p:font typeface="Asap SemiBold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Asap"/>
      <p:regular r:id="rId39"/>
      <p:bold r:id="rId40"/>
      <p:italic r:id="rId41"/>
      <p:boldItalic r:id="rId42"/>
    </p:embeddedFont>
    <p:embeddedFont>
      <p:font typeface="Asap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hNDmSkXYrrhgqmL/gKYP9W8DB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4EDC4F-47C5-45A9-B496-331358A5AA4E}">
  <a:tblStyle styleId="{AD4EDC4F-47C5-45A9-B496-331358A5AA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-bold.fntdata"/><Relationship Id="rId20" Type="http://schemas.openxmlformats.org/officeDocument/2006/relationships/slide" Target="slides/slide14.xml"/><Relationship Id="rId42" Type="http://schemas.openxmlformats.org/officeDocument/2006/relationships/font" Target="fonts/Asap-boldItalic.fntdata"/><Relationship Id="rId41" Type="http://schemas.openxmlformats.org/officeDocument/2006/relationships/font" Target="fonts/Asap-italic.fntdata"/><Relationship Id="rId22" Type="http://schemas.openxmlformats.org/officeDocument/2006/relationships/slide" Target="slides/slide16.xml"/><Relationship Id="rId44" Type="http://schemas.openxmlformats.org/officeDocument/2006/relationships/font" Target="fonts/AsapMedium-bold.fntdata"/><Relationship Id="rId21" Type="http://schemas.openxmlformats.org/officeDocument/2006/relationships/slide" Target="slides/slide15.xml"/><Relationship Id="rId43" Type="http://schemas.openxmlformats.org/officeDocument/2006/relationships/font" Target="fonts/AsapMedium-regular.fntdata"/><Relationship Id="rId24" Type="http://schemas.openxmlformats.org/officeDocument/2006/relationships/slide" Target="slides/slide18.xml"/><Relationship Id="rId46" Type="http://schemas.openxmlformats.org/officeDocument/2006/relationships/font" Target="fonts/AsapMedium-boldItalic.fntdata"/><Relationship Id="rId23" Type="http://schemas.openxmlformats.org/officeDocument/2006/relationships/slide" Target="slides/slide17.xml"/><Relationship Id="rId45" Type="http://schemas.openxmlformats.org/officeDocument/2006/relationships/font" Target="fonts/Asap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sapSemiBold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5.xml"/><Relationship Id="rId33" Type="http://schemas.openxmlformats.org/officeDocument/2006/relationships/font" Target="fonts/AsapSemiBold-italic.fntdata"/><Relationship Id="rId10" Type="http://schemas.openxmlformats.org/officeDocument/2006/relationships/slide" Target="slides/slide4.xml"/><Relationship Id="rId32" Type="http://schemas.openxmlformats.org/officeDocument/2006/relationships/font" Target="fonts/AsapSemiBold-bold.fntdata"/><Relationship Id="rId13" Type="http://schemas.openxmlformats.org/officeDocument/2006/relationships/slide" Target="slides/slide7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34" Type="http://schemas.openxmlformats.org/officeDocument/2006/relationships/font" Target="fonts/Asap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bold.fntdata"/><Relationship Id="rId17" Type="http://schemas.openxmlformats.org/officeDocument/2006/relationships/slide" Target="slides/slide11.xml"/><Relationship Id="rId39" Type="http://schemas.openxmlformats.org/officeDocument/2006/relationships/font" Target="fonts/Asap-regular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fcbf7b890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7fcbf7b890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7fcbf7b890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47dc5b6be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847dc5b6be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847dc5b6be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47dc5b6be_0_15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847dc5b6be_0_15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PassengerID - un ID unic pt fiecare pasager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Survived -&gt; daca a supravietuit (1=da, 0=nu)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Pclass -&gt; clasa biletului, la ce clasa statea pe Titanic (clasa 1, 2, 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 -&gt; varsta pasagerului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SibSp -&gt; sibling.. numarul de frati / surori sau sot / sotie la bord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Parch -&gt; numarul de parinti / copii la bord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Fare -&gt; pretul biletului</a:t>
            </a:r>
            <a:endParaRPr/>
          </a:p>
        </p:txBody>
      </p:sp>
      <p:sp>
        <p:nvSpPr>
          <p:cNvPr id="123" name="Google Shape;123;g3847dc5b6be_0_15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47dc5b6be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847dc5b6be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Atentie - pandas nu are type ul de string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g3847dc5b6be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47dc5b6be_0_16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847dc5b6be_0_16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count -&gt; cate valori sunt non-nan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mean -&gt; media valorilor .. de ex la varsta, varsta medie era 29.7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std -&gt; deviatia standard, masoara cat de imprastiate sunt valorile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min -&gt; valoarea minima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25,50,75.. procentul raportat la coloane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 ex: 50% aveau &lt;= 28 ani, 25% au platit &lt;= 7.91 dolari pe bilet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847dc5b6be_0_16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47dc5b6be_0_17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847dc5b6be_0_17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coloana categorica =&gt; valorile ei nu sunt numere continue (ca varsta sau pretul biletului), ci sunt categorii  etichete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847dc5b6be_0_17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47dc5b6be_0_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847dc5b6be_0_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g3847dc5b6be_0_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8d6aca3da_3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8d6aca3da_3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g388d6aca3da_3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8d6aca3da_3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88d6aca3da_3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g388d6aca3da_3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7dc5b6be_0_2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847dc5b6be_0_2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 ce este util? Pentru că ne permite să comparăm rapid grupuri între ele. De exemplu, putem vedea că rata de supraviețuire este mult diferită între femeile din clasa 1 și bărbații din clasa 3.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Pe scurt, GroupBy împreună cu agg înseamnă: împarte datele și rezumă-le cu statistici simple.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g3847dc5b6be_0_2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8d6aca3da_3_1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88d6aca3da_3_1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" name="Google Shape;209;g388d6aca3da_3_1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47dc5b6be_0_3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847dc5b6be_0_3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small[Age] &lt; 12 =&gt; daca ne returneaza False, facem False.astype(int) = 0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g3847dc5b6be_0_3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47dc5b6be_0_18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847dc5b6be_0_18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g3847dc5b6be_0_18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8d6aca3da_3_3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88d6aca3da_3_3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0" name="Google Shape;240;g388d6aca3da_3_3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7dc5b6be_0_4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847dc5b6be_0_4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Diferența față de GroupBy este mai ales de formă: GroupBy dă un tabel lung, în timp ce Pivot Table aranjează rezultatele într-o matrice mult mai ușor de citit și comparat.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Pe scurt, avem aceleași informații, dar prezentate într-un mod mai prietenos pentru analiză</a:t>
            </a:r>
            <a:endParaRPr/>
          </a:p>
        </p:txBody>
      </p:sp>
      <p:sp>
        <p:nvSpPr>
          <p:cNvPr id="250" name="Google Shape;250;g3847dc5b6be_0_4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47dc5b6be_0_5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847dc5b6be_0_5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unul dintre cele mai simple, dar și cele mai utile grafice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/>
              <a:t>ne </a:t>
            </a:r>
            <a:r>
              <a:rPr lang="en-US">
                <a:solidFill>
                  <a:schemeClr val="dk1"/>
                </a:solidFill>
              </a:rPr>
              <a:t>arată cum sunt distribuite valorile unei variabile numerice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/>
              <a:t>intervalele in care se imparte se numesc bins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g3847dc5b6be_0_5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47dc5b6be_0_6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847dc5b6be_0_6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Uneori un singur grafic nu este suficient, pentru că vrem să comparăm mai multe lucruri în paralel. Pentru asta folosim subplots.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subplots sunt mai multe grafice alaturate in aceeasi figura.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Subplots sunt utile atunci când vrem să comparăm rapid două sau mai multe distribuții, cum ar fi vârsta și tariful pasagerilor pe Titanic, sau lungimea sepalelor și petalelor din Iris.</a:t>
            </a:r>
            <a:endParaRPr/>
          </a:p>
        </p:txBody>
      </p:sp>
      <p:sp>
        <p:nvSpPr>
          <p:cNvPr id="272" name="Google Shape;272;g3847dc5b6be_0_6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47dc5b6be_0_2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847dc5b6be_0_2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Rezultatul ne dă două obiecte: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fig</a:t>
            </a:r>
            <a:r>
              <a:rPr lang="en-US"/>
              <a:t>, care reprezintă întreaga figură, și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axes</a:t>
            </a:r>
            <a:r>
              <a:rPr lang="en-US"/>
              <a:t>, care este o listă de grafice individuale pe care putem desena.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/>
              <a:t>putem controla separat fiecare grafic, ca în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axes[0]</a:t>
            </a:r>
            <a:r>
              <a:rPr lang="en-US"/>
              <a:t> sau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axes[1]</a:t>
            </a:r>
            <a:r>
              <a:rPr lang="en-US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sharey=False</a:t>
            </a:r>
            <a:r>
              <a:rPr lang="en-US" sz="1100"/>
              <a:t> înseamnă că </a:t>
            </a:r>
            <a:r>
              <a:rPr b="1" lang="en-US" sz="1100"/>
              <a:t>fiecare subplot are propria axă Y</a:t>
            </a:r>
            <a:r>
              <a:rPr lang="en-US" sz="1100"/>
              <a:t>, independentă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plt.tight_layout() -&gt; optimizeaza automat spatiul intre subploturi</a:t>
            </a:r>
            <a:endParaRPr sz="1100"/>
          </a:p>
        </p:txBody>
      </p:sp>
      <p:sp>
        <p:nvSpPr>
          <p:cNvPr id="282" name="Google Shape;282;g3847dc5b6be_0_2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47dc5b6be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847dc5b6be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847dc5b6be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8e64ea2b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88e64ea2b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:Pandas a aparut in 2008, pt polars primul commit s-a facut in 2020, varianta oficiala v1.0 e din 2024 iunie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l</a:t>
            </a:r>
            <a:r>
              <a:rPr b="1" lang="en-US"/>
              <a:t>azy evaluation</a:t>
            </a:r>
            <a:r>
              <a:rPr lang="en-US"/>
              <a:t> </a:t>
            </a:r>
            <a:r>
              <a:rPr b="1" lang="en-US"/>
              <a:t>-&gt; </a:t>
            </a:r>
            <a:r>
              <a:rPr lang="en-US"/>
              <a:t>cand scriem mai multe operatii, creeaza in spate un grafic de operatii, numit query plan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polars elimina pasii inutili, reordoneaza operatiile pt eficienta etc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indexare multi-level</a:t>
            </a:r>
            <a:r>
              <a:rPr lang="en-US"/>
              <a:t> -&gt; iti permite sa ai o structura ierarhica cu mai multi indexi</a:t>
            </a:r>
            <a:endParaRPr/>
          </a:p>
        </p:txBody>
      </p:sp>
      <p:sp>
        <p:nvSpPr>
          <p:cNvPr id="300" name="Google Shape;300;g388e64ea2b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47dc5b6be_0_7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847dc5b6be_0_7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847dc5b6be_0_7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g37fcbf7b890_0_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g37fcbf7b890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ap Medium"/>
              <a:buNone/>
              <a:defRPr sz="6000">
                <a:latin typeface="Asap Medium"/>
                <a:ea typeface="Asap Medium"/>
                <a:cs typeface="Asap Medium"/>
                <a:sym typeface="Asap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 Medium"/>
              <a:buNone/>
              <a:defRPr sz="2400">
                <a:latin typeface="Asap Medium"/>
                <a:ea typeface="Asap Medium"/>
                <a:cs typeface="Asap Medium"/>
                <a:sym typeface="Asap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4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4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D8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g37fcbf7b89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863" y="1016000"/>
            <a:ext cx="11453133" cy="4443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g37fcbf7b89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765300"/>
            <a:ext cx="11201398" cy="3575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9000000" dist="19050">
              <a:srgbClr val="313CFF">
                <a:alpha val="89411"/>
              </a:srgbClr>
            </a:outerShdw>
          </a:effectLst>
        </p:spPr>
      </p:pic>
      <p:pic>
        <p:nvPicPr>
          <p:cNvPr descr="preencoded.png" id="95" name="Google Shape;95;g37fcbf7b89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173" y="5022850"/>
            <a:ext cx="47498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g37fcbf7b890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7fcbf7b890_0_0"/>
          <p:cNvSpPr/>
          <p:nvPr/>
        </p:nvSpPr>
        <p:spPr>
          <a:xfrm>
            <a:off x="1212850" y="2051050"/>
            <a:ext cx="10584000" cy="26544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sap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62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457200" lvl="0" marL="4572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sap"/>
              <a:buChar char="-"/>
            </a:pPr>
            <a:r>
              <a:rPr b="1" i="0" lang="en-US" sz="51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51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8" name="Google Shape;98;g37fcbf7b890_0_0"/>
          <p:cNvSpPr/>
          <p:nvPr/>
        </p:nvSpPr>
        <p:spPr>
          <a:xfrm>
            <a:off x="1382873" y="5219000"/>
            <a:ext cx="3714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3200"/>
              <a:buFont typeface="Asap Medium"/>
              <a:buNone/>
            </a:pPr>
            <a:r>
              <a:rPr b="0" i="0" lang="en-US" sz="32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US" sz="32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7fcbf7b890_0_0"/>
          <p:cNvSpPr txBox="1"/>
          <p:nvPr/>
        </p:nvSpPr>
        <p:spPr>
          <a:xfrm>
            <a:off x="1212850" y="3973350"/>
            <a:ext cx="10584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1" lang="en-US" sz="4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Python for Data Science</a:t>
            </a:r>
            <a:endParaRPr b="0" i="1" sz="4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440150"/>
            <a:ext cx="9659700" cy="54177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>
            <p:ph idx="1" type="subTitle"/>
          </p:nvPr>
        </p:nvSpPr>
        <p:spPr>
          <a:xfrm>
            <a:off x="178175" y="2903300"/>
            <a:ext cx="8373900" cy="24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Python for data science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pandas, matplotlib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Hands-on: Manipulare de date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480290" y="911540"/>
            <a:ext cx="3038400" cy="438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7800000" dist="19050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33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g3847dc5b6b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g3847dc5b6b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g3847dc5b6b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847dc5b6be_0_0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847dc5b6be_0_0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Încărcarea și inspecția datelor: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📥 Import Pandas – „Excel-ul” programabil al Python-ului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106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➔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Series → o coloană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106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➔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DataFrame → tabel cu rânduri și coloane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106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👀 Setări de afișare – pentru a vedea clar toate coloanele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📂 Încărcarea datelor – pd.read_csv() citește fișierul CSV și îl transformă într-un DataFrame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🔎 Inspecția inițială – .head() arată primele 5 rânduri (check rapid că datele s-au încărcat corect)</a:t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g3847dc5b6be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g3847dc5b6be_0_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g3847dc5b6be_0_1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847dc5b6be_0_151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847dc5b6be_0_151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106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➔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Series → 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df[‘Name’]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106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➔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DataFrame → tabel cu rânduri și coloane</a:t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30" name="Google Shape;130;g3847dc5b6be_0_1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0874" y="2538725"/>
            <a:ext cx="3368700" cy="2109000"/>
          </a:xfrm>
          <a:prstGeom prst="roundRect">
            <a:avLst>
              <a:gd fmla="val 11713" name="adj"/>
            </a:avLst>
          </a:prstGeom>
          <a:noFill/>
          <a:ln>
            <a:noFill/>
          </a:ln>
        </p:spPr>
      </p:pic>
      <p:pic>
        <p:nvPicPr>
          <p:cNvPr id="131" name="Google Shape;131;g3847dc5b6be_0_1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6704" y="5127731"/>
            <a:ext cx="8809200" cy="15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g3847dc5b6be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g3847dc5b6be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g3847dc5b6be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847dc5b6be_0_9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847dc5b6be_0_9"/>
          <p:cNvSpPr/>
          <p:nvPr/>
        </p:nvSpPr>
        <p:spPr>
          <a:xfrm>
            <a:off x="331433" y="2472667"/>
            <a:ext cx="11827500" cy="41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Explorarea structurii datasetului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ℹ️ df.info()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Număr rânduri și coloane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Tipuri de date (int, float, object)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Număr valori non-null → verificăm 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cat de complete sunt datele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42" name="Google Shape;142;g3847dc5b6be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8301" y="1024501"/>
            <a:ext cx="4331400" cy="3556800"/>
          </a:xfrm>
          <a:prstGeom prst="roundRect">
            <a:avLst>
              <a:gd fmla="val 666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g3847dc5b6be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g3847dc5b6be_0_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g3847dc5b6be_0_1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847dc5b6be_0_163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847dc5b6be_0_163"/>
          <p:cNvSpPr/>
          <p:nvPr/>
        </p:nvSpPr>
        <p:spPr>
          <a:xfrm>
            <a:off x="331433" y="2472667"/>
            <a:ext cx="11827500" cy="41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Explorarea structurii datasetului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df.describe()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Statistici numerice: count, mean, std, min/max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Numar de procente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(25%, 50%, 75%)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Detectăm scara valorilor și outlieri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3" name="Google Shape;153;g3847dc5b6be_0_1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4257" y="1326025"/>
            <a:ext cx="7210800" cy="2934600"/>
          </a:xfrm>
          <a:prstGeom prst="roundRect">
            <a:avLst>
              <a:gd fmla="val 99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g3847dc5b6be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g3847dc5b6be_0_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g3847dc5b6be_0_1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847dc5b6be_0_172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847dc5b6be_0_172"/>
          <p:cNvSpPr/>
          <p:nvPr/>
        </p:nvSpPr>
        <p:spPr>
          <a:xfrm>
            <a:off x="331433" y="2472667"/>
            <a:ext cx="11827500" cy="41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Explorarea structurii datasetului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📦 value_counts()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Distribuția valorilor într-o coloană (ex: Sex)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Dimensiunea claselor (bărbați vs. femei)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 dropna=False vedem și valorile lipsă</a:t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4" name="Google Shape;164;g3847dc5b6be_0_1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1872" y="2719634"/>
            <a:ext cx="2625900" cy="295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g3847dc5b6be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g3847dc5b6be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g3847dc5b6be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847dc5b6be_0_18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847dc5b6be_0_18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Selectare, filtrare și sortare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✂️ Selectarea coloanelor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Datasetul poate avea zeci de coloane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doar cele relevante pentru analiza curentă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df[“Age”, “Fare”]</a:t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0" name="Google Shape;180;g388d6aca3da_3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g388d6aca3da_3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g388d6aca3da_3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88d6aca3da_3_9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88d6aca3da_3_9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Selectare, filtrare și sortare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🔎 Filtrarea rândurilor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Păstrăm doar rândurile care respectă o condiție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df[df[“Age”] &gt;= 18]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0" name="Google Shape;190;g388d6aca3da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g388d6aca3da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g388d6aca3da_3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88d6aca3da_3_0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88d6aca3da_3_0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Selectare, filtrare și sortare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📉 Sortarea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Ordonare crescătoare sau descrescătoare 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        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după o coloană numerică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df.sort_values(“Fare”, ascending = False)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ascending = False =&gt; descrescator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5" name="Google Shape;195;g388d6aca3da_3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3900" y="925775"/>
            <a:ext cx="5115000" cy="4305300"/>
          </a:xfrm>
          <a:prstGeom prst="roundRect">
            <a:avLst>
              <a:gd fmla="val 114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g3847dc5b6be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g3847dc5b6be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g3847dc5b6be_0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847dc5b6be_0_27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847dc5b6be_0_27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GroupBy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📂 Ce face GroupBy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Împarte tabelul în grupuri pe baza uneia sau mai multor coloane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Ex: grupăm pasagerii după Pclass și Sex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new_group = (csv</a:t>
            </a: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.groupby([“Pclass”, “Sex”])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)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De ce e util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Comparăm grupuri între ele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Ex: rata de supraviețuire diferă între femeile din clasa 1 și bărbații din clasa 3</a:t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1" name="Google Shape;211;g388d6aca3da_3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g388d6aca3da_3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g388d6aca3da_3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88d6aca3da_3_19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g388d6aca3da_3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0226" y="2917100"/>
            <a:ext cx="9750000" cy="332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1" name="Google Shape;221;g3847dc5b6be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g3847dc5b6be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g3847dc5b6be_0_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847dc5b6be_0_36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847dc5b6be_0_36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Feature engineering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🧒 Coloană binară (IsChild)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Age &lt; 12 → 1, altfel 0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Evidențiază reguli simple cu sens real (copiii ≠ adulți)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small["IsChild"] = (small["Age"] &lt; 12).astype(int)</a:t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26" name="Google Shape;226;g3847dc5b6be_0_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1500" y="1678675"/>
            <a:ext cx="8752800" cy="1606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g3847dc5b6be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g3847dc5b6be_0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g3847dc5b6be_0_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847dc5b6be_0_184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847dc5b6be_0_184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Feature engineering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💸 Discretizare (transformare din 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variabila numerica continua -&gt; categorii)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Fare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 pd.qcut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Împarte valorile în grupe egale ca număr de observații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4 benzi: low, mid-low, mid-high, high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Functia pentru discretizare este </a:t>
            </a: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pd.qcut(csv, q (nr grupuri), [nume grupuri])</a:t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 - quartile 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-&gt; fiecare interval contine ~25% din date (daca avem 4 quartile)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2" name="Google Shape;242;g388d6aca3da_3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g388d6aca3da_3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g388d6aca3da_3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88d6aca3da_3_39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88d6aca3da_3_39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Feature engineering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💸 Discretizare (transformare din 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variabila numerica continua -&gt; categorii)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Fare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 pd.qcut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Functia pentru discretizare este </a:t>
            </a: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pd.cut(csv, b (nr bins), [nume grupuri])</a:t>
            </a:r>
            <a:endParaRPr b="1"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1"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 - bins -&gt; imparte in 4 intervale numerice (0-10, 10-20, ….)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2" name="Google Shape;252;g3847dc5b6be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g3847dc5b6be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g3847dc5b6be_0_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847dc5b6be_0_45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847dc5b6be_0_45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Tabel pivot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Ce </a:t>
            </a: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face</a:t>
            </a: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?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Reorganizează și rezumă datele într-o matrice rânduri × coloane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🔁 Pivot vs. GroupBy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groupby() → tabel „lung” (fiecare combinație e un rând)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lang="en-US" sz="20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pivot_table() → matrice compactă, mai ușor de citit și comparat</a:t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57" name="Google Shape;257;g3847dc5b6be_0_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32625" y="275775"/>
            <a:ext cx="4161300" cy="330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" name="Google Shape;263;g3847dc5b6be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g3847dc5b6be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g3847dc5b6be_0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847dc5b6be_0_54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Matplotlib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847dc5b6be_0_54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Histograme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Ce este?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Arată distribuția unei variabile numerice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sunt împărțite în intervale (bins)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bară = câte valori cad în acel interval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Când folosim histograma?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a vizualiza distribuția unei variabile numerice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Exemple: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Distribuția vârstelor pasagerilor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○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Distribuția salariilor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68" name="Google Shape;268;g3847dc5b6be_0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3875" y="2811475"/>
            <a:ext cx="5094300" cy="3507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g3847dc5b6be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g3847dc5b6be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g3847dc5b6be_0_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847dc5b6be_0_63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Matplotlib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847dc5b6be_0_63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Subplots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Ce este un subplot?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plt.subplots()</a:t>
            </a: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creează o grilă de grafice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🎯 De ce folosim subplots?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Comparăm variabile una lângă alta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Exemple: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318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"/>
              <a:buChar char="○"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Histogramă pentru Age și Fare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g3847dc5b6be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g3847dc5b6be_0_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1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g3847dc5b6be_0_2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847dc5b6be_0_215"/>
          <p:cNvSpPr/>
          <p:nvPr/>
        </p:nvSpPr>
        <p:spPr>
          <a:xfrm>
            <a:off x="298451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1" rotWithShape="0" algn="bl" dir="5400000" dist="19051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Matplotlib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847dc5b6be_0_215"/>
          <p:cNvSpPr/>
          <p:nvPr/>
        </p:nvSpPr>
        <p:spPr>
          <a:xfrm>
            <a:off x="364369" y="2472765"/>
            <a:ext cx="11669100" cy="4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Subplots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</a:t>
            </a:r>
            <a:r>
              <a:rPr lang="en-US" sz="18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Cum?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lang="en-US" sz="18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fig, axes = plt.subplots(nrows, ncols, figsize=(width, height))</a:t>
            </a:r>
            <a:endParaRPr sz="18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○"/>
            </a:pPr>
            <a:r>
              <a:rPr lang="en-US" sz="18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nrows, ncols = cate randuri si coloane de grafice vrem</a:t>
            </a:r>
            <a:endParaRPr sz="18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○"/>
            </a:pPr>
            <a:r>
              <a:rPr lang="en-US" sz="18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fig = intreaga figura </a:t>
            </a:r>
            <a:endParaRPr sz="18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1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○"/>
            </a:pPr>
            <a:r>
              <a:rPr lang="en-US" sz="18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axes = o lista de obiecte pe care desenam fiecare plot</a:t>
            </a:r>
            <a:endParaRPr sz="18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1910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■"/>
            </a:pPr>
            <a:r>
              <a:rPr lang="en-US" sz="18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axes[0] = primul grafic, axes[1] = al doilea</a:t>
            </a:r>
            <a:endParaRPr sz="18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4" name="Google Shape;294;g3847dc5b6be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847dc5b6be_0_72"/>
          <p:cNvSpPr txBox="1"/>
          <p:nvPr/>
        </p:nvSpPr>
        <p:spPr>
          <a:xfrm>
            <a:off x="461400" y="1142500"/>
            <a:ext cx="3010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CONCLUZII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96" name="Google Shape;296;g3847dc5b6be_0_72"/>
          <p:cNvSpPr txBox="1"/>
          <p:nvPr/>
        </p:nvSpPr>
        <p:spPr>
          <a:xfrm>
            <a:off x="665450" y="1765750"/>
            <a:ext cx="10278300" cy="5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am învățat: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25450" lvl="0" marL="609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0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r>
              <a:rPr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lucrul cu date tabelare (DataFrame/Series), rezumate statistice, grupări și categorii</a:t>
            </a:r>
            <a:endParaRPr sz="19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Analiză</a:t>
            </a:r>
            <a:r>
              <a:rPr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mediană vs medie, identificarea outlierilor, discretizare (ex. Fare)</a:t>
            </a:r>
            <a:endParaRPr sz="19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Vizualizare</a:t>
            </a:r>
            <a:r>
              <a:rPr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grafice simple cu Matplotlib, compararea grupurilor</a:t>
            </a:r>
            <a:endParaRPr sz="19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Practic</a:t>
            </a:r>
            <a:r>
              <a:rPr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am creat coloane noi, am folosit groupby și pivot_table pentru a înțelege mai bine datele.</a:t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urmează: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900"/>
              <a:buFont typeface="Asap"/>
              <a:buChar char="●"/>
            </a:pPr>
            <a:r>
              <a:rPr b="0" i="0" lang="en-US" sz="19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Exploratory data analysis and visualizations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900"/>
              <a:buFont typeface="Asap"/>
              <a:buChar char="●"/>
            </a:pPr>
            <a:r>
              <a:rPr b="0" i="0" lang="en-US" sz="19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Exersati cat mai mult in Google Colab – practica face diferenta!</a:t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" name="Google Shape;302;g388e64ea2b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88e64ea2b9_0_0"/>
          <p:cNvSpPr txBox="1"/>
          <p:nvPr/>
        </p:nvSpPr>
        <p:spPr>
          <a:xfrm>
            <a:off x="461400" y="1142500"/>
            <a:ext cx="5554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PANDAS VS POLARS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graphicFrame>
        <p:nvGraphicFramePr>
          <p:cNvPr id="304" name="Google Shape;304;g388e64ea2b9_0_0"/>
          <p:cNvGraphicFramePr/>
          <p:nvPr/>
        </p:nvGraphicFramePr>
        <p:xfrm>
          <a:off x="672775" y="212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{AD4EDC4F-47C5-45A9-B496-331358A5AA4E}</a:tableStyleId>
              </a:tblPr>
              <a:tblGrid>
                <a:gridCol w="1652275"/>
                <a:gridCol w="5181700"/>
                <a:gridCol w="4473875"/>
              </a:tblGrid>
              <a:tr h="4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Pandas</a:t>
                      </a:r>
                      <a:endParaRPr sz="20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Polars</a:t>
                      </a:r>
                      <a:endParaRPr sz="20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  <a:tr h="224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Pro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Bibliotecă matură (din 2008)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Ecosistem vast (scikit-learn, matplotlib etc.)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Documentație și comunitate foarte mare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Suport excelent pentru date complexe (indexare multi-level)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- </a:t>
                      </a: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Primul commit 2020, v1.0 2024 </a:t>
                      </a:r>
                      <a:endParaRPr sz="18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- Foarte rapid (5–10x mai rapid decât Pandas)</a:t>
                      </a:r>
                      <a:endParaRPr sz="18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- Scris în Rust</a:t>
                      </a:r>
                      <a:endParaRPr sz="18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- Suport pentru execuție paralelă</a:t>
                      </a:r>
                      <a:endParaRPr sz="18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- Lazy evaluation pentru optimizare</a:t>
                      </a:r>
                      <a:endParaRPr sz="18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- Consum redus de memorie</a:t>
                      </a:r>
                      <a:endParaRPr sz="1800">
                        <a:solidFill>
                          <a:schemeClr val="lt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T="91425" marB="91425" marR="91425" marL="91425"/>
                </a:tc>
              </a:tr>
              <a:tr h="12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Contra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Mai lent pe seturi mari de date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Consum mare de memorie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Single-threaded 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Ecosistem mai mic (mai puține integrări)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Mai puține resurse educaționale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- Unele funcționalități avansate lipsesc față de Pandas</a:t>
                      </a:r>
                      <a:endParaRPr sz="1800">
                        <a:solidFill>
                          <a:schemeClr val="lt1"/>
                        </a:solidFill>
                        <a:latin typeface="Asap Medium"/>
                        <a:ea typeface="Asap Medium"/>
                        <a:cs typeface="Asap Medium"/>
                        <a:sym typeface="Asap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g3847dc5b6be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g3847dc5b6be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863" y="1016000"/>
            <a:ext cx="11453131" cy="4443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g3847dc5b6be_0_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765300"/>
            <a:ext cx="7734300" cy="357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g3847dc5b6be_0_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200" y="5022851"/>
            <a:ext cx="5822950" cy="819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g3847dc5b6be_0_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97751" y="571500"/>
            <a:ext cx="4381500" cy="570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g3847dc5b6be_0_7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900" y="430647"/>
            <a:ext cx="1422400" cy="68811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847dc5b6be_0_79"/>
          <p:cNvSpPr/>
          <p:nvPr/>
        </p:nvSpPr>
        <p:spPr>
          <a:xfrm>
            <a:off x="1752600" y="3117851"/>
            <a:ext cx="48387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100"/>
              <a:buFont typeface="Asap"/>
              <a:buNone/>
            </a:pPr>
            <a:r>
              <a:rPr b="1" i="0" lang="en-US" sz="71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7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847dc5b6be_0_79"/>
          <p:cNvSpPr/>
          <p:nvPr/>
        </p:nvSpPr>
        <p:spPr>
          <a:xfrm>
            <a:off x="1377951" y="5187951"/>
            <a:ext cx="5526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3200"/>
              <a:buFont typeface="Asap Medium"/>
              <a:buNone/>
            </a:pPr>
            <a:r>
              <a:rPr b="0" i="0" lang="en-US" sz="32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2025-05-05T19:11:20Z</dcterms:created>
  <dc:creator>Alexandra Tripcea</dc:creator>
</cp:coreProperties>
</file>