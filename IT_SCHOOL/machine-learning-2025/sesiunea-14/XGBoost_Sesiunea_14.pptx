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Asap SemiBold"/>
      <p:regular r:id="rId26"/>
      <p:bold r:id="rId27"/>
      <p:italic r:id="rId28"/>
      <p:boldItalic r:id="rId29"/>
    </p:embeddedFont>
    <p:embeddedFont>
      <p:font typeface="Asap"/>
      <p:regular r:id="rId30"/>
      <p:bold r:id="rId31"/>
      <p:italic r:id="rId32"/>
      <p:boldItalic r:id="rId33"/>
    </p:embeddedFont>
    <p:embeddedFont>
      <p:font typeface="Asap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sap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AsapSemiBold-italic.fntdata"/><Relationship Id="rId27" Type="http://schemas.openxmlformats.org/officeDocument/2006/relationships/font" Target="fonts/Asap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ap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ap-bold.fntdata"/><Relationship Id="rId30" Type="http://schemas.openxmlformats.org/officeDocument/2006/relationships/font" Target="fonts/Asap-regular.fntdata"/><Relationship Id="rId11" Type="http://schemas.openxmlformats.org/officeDocument/2006/relationships/slide" Target="slides/slide6.xml"/><Relationship Id="rId33" Type="http://schemas.openxmlformats.org/officeDocument/2006/relationships/font" Target="fonts/Asap-boldItalic.fntdata"/><Relationship Id="rId10" Type="http://schemas.openxmlformats.org/officeDocument/2006/relationships/slide" Target="slides/slide5.xml"/><Relationship Id="rId32" Type="http://schemas.openxmlformats.org/officeDocument/2006/relationships/font" Target="fonts/Asap-italic.fntdata"/><Relationship Id="rId13" Type="http://schemas.openxmlformats.org/officeDocument/2006/relationships/slide" Target="slides/slide8.xml"/><Relationship Id="rId35" Type="http://schemas.openxmlformats.org/officeDocument/2006/relationships/font" Target="fonts/AsapMedium-bold.fntdata"/><Relationship Id="rId12" Type="http://schemas.openxmlformats.org/officeDocument/2006/relationships/slide" Target="slides/slide7.xml"/><Relationship Id="rId34" Type="http://schemas.openxmlformats.org/officeDocument/2006/relationships/font" Target="fonts/AsapMedium-regular.fntdata"/><Relationship Id="rId15" Type="http://schemas.openxmlformats.org/officeDocument/2006/relationships/slide" Target="slides/slide10.xml"/><Relationship Id="rId37" Type="http://schemas.openxmlformats.org/officeDocument/2006/relationships/font" Target="fonts/Asap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Asap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489a3f2f9_0_38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a489a3f2f9_0_38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a489a3f2f9_0_38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489a3f2f9_0_22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a489a3f2f9_0_22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a489a3f2f9_0_22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489a3f2f9_0_23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489a3f2f9_0_23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489a3f2f9_0_23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489a3f2f9_0_24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a489a3f2f9_0_24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489a3f2f9_0_24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489a3f2f9_0_25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a489a3f2f9_0_25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489a3f2f9_0_25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489a3f2f9_0_26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489a3f2f9_0_26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489a3f2f9_0_26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489a3f2f9_0_27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489a3f2f9_0_27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489a3f2f9_0_27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489a3f2f9_0_37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a489a3f2f9_0_37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489a3f2f9_0_37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489a3f2f9_0_28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a489a3f2f9_0_28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489a3f2f9_0_28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489a3f2f9_0_29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a489a3f2f9_0_29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a489a3f2f9_0_29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489a3f2f9_0_30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a489a3f2f9_0_30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a489a3f2f9_0_30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489a3f2f9_0_31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a489a3f2f9_0_31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a489a3f2f9_0_31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489a3f2f9_0_32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a489a3f2f9_0_32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a489a3f2f9_0_32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489a3f2f9_0_33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a489a3f2f9_0_33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489a3f2f9_0_33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489a3f2f9_0_34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a489a3f2f9_0_34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489a3f2f9_0_34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489a3f2f9_0_35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a489a3f2f9_0_35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489a3f2f9_0_35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489a3f2f9_0_36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a489a3f2f9_0_36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a489a3f2f9_0_36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14efa0161_0_1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a14efa0161_0_1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14efa0161_0_1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1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GB" sz="24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14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1" lang="en-GB" sz="3000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XgBoost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XGBoost (EXtreme Gradient Boost)?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3649" y="1906012"/>
            <a:ext cx="6776700" cy="305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De ce XGBoost (EXtreme Gradient Boost)?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Creat pentru dataset-uri complexe, mari și sparse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Optim pentru: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 cu multe features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lipsă de valori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relații non-liniare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Unul dintre cei mai folosiți algoritmi în industrie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(competiții Kaggle, modelling real-world)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notebook vom folosi un dataset mic doar pentru simplitate.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XGBoost = Gradient Boosting + Optimizări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XGBoost = Gradient Boosting (conceptul)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 mulțime de optimizări de performanță: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Regularization (L1, L2)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 unique Regression Tree model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Approximate Greedy Algorithm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Weighted Quantile Sketch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Sparsity-Aware Split Finding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Parallel Learning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Cache-Aware Access Pattern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Out-of-core computation (cu blocuri)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Practic: boosting obișnuit, dar mai rapid, mai stabil, mai bun.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 gradient boosting..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Pornim cu o predicție inițială (constantă)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Calculăm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residuals = real − predicție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Învățăm un arbore care prezice aceste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residuals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Adăugăm arborele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 un mic learning rate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Repetăm procesul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XGBoost folosește aceeași idee, dar îmbunătățită.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XGBoost folosește un singur tip special de arbore</a:t>
            </a:r>
            <a:endParaRPr b="1" sz="23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XGBoost Tree —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Tree optimizat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Toate punctele încep într-o singură frunză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 calculează un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similarity score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λ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= regularizare (reduce overfitting)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Întrebarea: dacă împărțim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frunza (leaf)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2, ne crește calitatea?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9573" y="2911223"/>
            <a:ext cx="2651100" cy="59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4035" y="1039425"/>
            <a:ext cx="3931200" cy="19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Intuiția pentru Similarity Score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ne spune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Similarity Score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residuals sunt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foarte diferite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se “anulează” → scor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mic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residuals sunt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asemănătoare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→ se adună → scor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mare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 scor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mare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înseamnă că frunza este “curată” și arborele învață ceva real.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3626" y="493151"/>
            <a:ext cx="2146800" cy="283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4" name="Google Shape;1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evaluăm un split? (GAIN)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Pentru un posibil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split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Gain &gt; 0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split-ul ajută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Gain e mic sau negativ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nu merită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824" y="2571750"/>
            <a:ext cx="3540000" cy="41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Cum se caută cel mai bun split?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AutoNum type="arabicPeriod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Sortăm după feature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AutoNum type="arabicPeriod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Testăm posibile threshold-uri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AutoNum type="arabicPeriod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Calculăm gain pentru fiecare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AutoNum type="arabicPeriod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Alegem split-ul cu gain maxim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AutoNum type="arabicPeriod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Repetăm pentru fiecare frunză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practică, XGBoost optimizează masiv pașii 1–3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4146" y="322975"/>
            <a:ext cx="2341200" cy="327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Regularizare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Regularizare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λ (lambda)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regularizare L2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-&gt;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penalizează frunzele cu puține observații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8338" y="2803726"/>
            <a:ext cx="3355500" cy="753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Pruning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Pruning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γ (gamma)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control pentru pruning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gain - gamma &lt; 0 → eliminăm ramura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-&gt;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γ = reduce sensibilitatea → menține arbori simpli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-&gt;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γ este numit </a:t>
            </a:r>
            <a:r>
              <a:rPr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min_split_loss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in implementarea XGBoost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8175" y="529215"/>
            <a:ext cx="3899400" cy="248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8" name="Google Shape;1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9" name="Google Shape;1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ETA (Learning Rate)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XGBoost numește learning rate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ETA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Valoare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default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0.3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 cât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ETA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 mai mic, cu atât avem: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Boosting mai lent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Mai mulți arbori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Modele mai stabile și mai puțin overfit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8" name="Google Shape;1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XGBoost pentru Clasificare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Este identic ca logică cu regresia.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Diferența este în formula pentru similarity, care folosește: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800" y="3678775"/>
            <a:ext cx="4660200" cy="73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Approximate Greedy Algorithm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 ce nu testăm toate threshold-urile?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Pentru că ar fi foarte lent: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multe features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multe combinații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enorme costuri de calcul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Soluție →</a:t>
            </a:r>
            <a:r>
              <a:rPr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Greedy + approximations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suficient de bune și foarte rapide.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9" name="Google Shape;2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9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Weighted Quantile Sketch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Cum alegem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threshold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urile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fără să le testăm pe toate?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Împărțim datele în quantile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Testăm doar cuantilele ca threshold-uri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Foarte rapid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Weighted = contează mai mult quantilele care au gradient mare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Este fundația vitezei XGBoost.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9" name="Google Shape;2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Sparsity-Aware Split Finding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 facem cu valorile lipsă (missing values)?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XGBoost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încearcă split cu missing în stânga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încearcă split cu missing în dreapta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compară gains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 varianta optimă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 pierdem timp imputând date.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9" name="Google Shape;2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1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Parallel Learning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33" name="Google Shape;233;p3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feature poate fi procesat într-un thread separat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XGBoost face calculul în paralel în loc de secvențial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Mult mai rapid decât gradient boosting standard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Cache-aware &amp; Out-of-Core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Pentru dataset-uri mari: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organizează datele în blocuri pentru citire eficientă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folosește cache-aware access pentru utilizarea optimă a memoriei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poate antrena direct de pe disk (out-of-core)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3"/>
          <p:cNvSpPr/>
          <p:nvPr/>
        </p:nvSpPr>
        <p:spPr>
          <a:xfrm>
            <a:off x="223850" y="1349325"/>
            <a:ext cx="48660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De ce e XGBoost atât de bun în practică?</a:t>
            </a:r>
            <a:endParaRPr b="1" sz="24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Rulează rapid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Face față dataset-urilor mari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Gestionare excelentă a missing values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Regularizare = modele stabile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Funcționează excepțional pe probleme reale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Ușor de interpretat și tune-uit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Se integrează în pipeline-uri industriale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