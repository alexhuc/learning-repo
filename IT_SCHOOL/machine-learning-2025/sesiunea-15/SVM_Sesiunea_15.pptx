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sap SemiBold"/>
      <p:regular r:id="rId26"/>
      <p:bold r:id="rId27"/>
      <p:italic r:id="rId28"/>
      <p:boldItalic r:id="rId29"/>
    </p:embeddedFont>
    <p:embeddedFont>
      <p:font typeface="Asap"/>
      <p:regular r:id="rId30"/>
      <p:bold r:id="rId31"/>
      <p:italic r:id="rId32"/>
      <p:boldItalic r:id="rId33"/>
    </p:embeddedFont>
    <p:embeddedFont>
      <p:font typeface="Asap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ap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AsapSemiBold-italic.fntdata"/><Relationship Id="rId27" Type="http://schemas.openxmlformats.org/officeDocument/2006/relationships/font" Target="fonts/Asap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ap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-bold.fntdata"/><Relationship Id="rId30" Type="http://schemas.openxmlformats.org/officeDocument/2006/relationships/font" Target="fonts/Asap-regular.fntdata"/><Relationship Id="rId11" Type="http://schemas.openxmlformats.org/officeDocument/2006/relationships/slide" Target="slides/slide6.xml"/><Relationship Id="rId33" Type="http://schemas.openxmlformats.org/officeDocument/2006/relationships/font" Target="fonts/Asap-boldItalic.fntdata"/><Relationship Id="rId10" Type="http://schemas.openxmlformats.org/officeDocument/2006/relationships/slide" Target="slides/slide5.xml"/><Relationship Id="rId32" Type="http://schemas.openxmlformats.org/officeDocument/2006/relationships/font" Target="fonts/Asap-italic.fntdata"/><Relationship Id="rId13" Type="http://schemas.openxmlformats.org/officeDocument/2006/relationships/slide" Target="slides/slide8.xml"/><Relationship Id="rId35" Type="http://schemas.openxmlformats.org/officeDocument/2006/relationships/font" Target="fonts/AsapMedium-bold.fntdata"/><Relationship Id="rId12" Type="http://schemas.openxmlformats.org/officeDocument/2006/relationships/slide" Target="slides/slide7.xml"/><Relationship Id="rId34" Type="http://schemas.openxmlformats.org/officeDocument/2006/relationships/font" Target="fonts/AsapMedium-regular.fntdata"/><Relationship Id="rId15" Type="http://schemas.openxmlformats.org/officeDocument/2006/relationships/slide" Target="slides/slide10.xml"/><Relationship Id="rId37" Type="http://schemas.openxmlformats.org/officeDocument/2006/relationships/font" Target="fonts/Asap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Asap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489a3f2f9_0_38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489a3f2f9_0_38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a489a3f2f9_0_38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89a3f2f9_0_2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a489a3f2f9_0_2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a489a3f2f9_0_2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489a3f2f9_0_23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489a3f2f9_0_23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489a3f2f9_0_23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89a3f2f9_0_2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a489a3f2f9_0_2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489a3f2f9_0_2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89a3f2f9_0_25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a489a3f2f9_0_25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489a3f2f9_0_25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489a3f2f9_0_26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489a3f2f9_0_26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489a3f2f9_0_26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489a3f2f9_0_27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a489a3f2f9_0_27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489a3f2f9_0_27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489a3f2f9_0_37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a489a3f2f9_0_37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489a3f2f9_0_37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89a3f2f9_0_2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489a3f2f9_0_2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489a3f2f9_0_2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489a3f2f9_0_29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489a3f2f9_0_29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489a3f2f9_0_29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489a3f2f9_0_30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a489a3f2f9_0_3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489a3f2f9_0_3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489a3f2f9_0_3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a489a3f2f9_0_3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489a3f2f9_0_3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489a3f2f9_0_3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a489a3f2f9_0_3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489a3f2f9_0_3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489a3f2f9_0_33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a489a3f2f9_0_33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489a3f2f9_0_33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489a3f2f9_0_34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a489a3f2f9_0_34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a489a3f2f9_0_34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489a3f2f9_0_35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a489a3f2f9_0_35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a489a3f2f9_0_35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89a3f2f9_0_36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a489a3f2f9_0_36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489a3f2f9_0_36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5f4329dc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a65f4329dc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65f4329dc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14efa0161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a14efa0161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a14efa0161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Support Vector Machines (SVM)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2654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Problema inițială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Clasificăm persoane obese vs. non-obese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observații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(ex: greutate, BMI, etc.)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un threshold care separă cele două clase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Punctele noi se clasifică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funcție de poziția față de threshold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2650" y="640825"/>
            <a:ext cx="4567500" cy="207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Problema threshold-ului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se întâmplă dacă un punct e exact pe linia de separare?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e peste threshold → obez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e sub threshold → non-obez (greutate normala)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Dar threshold-ul poate fi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instabil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 fi prea aproape de o clasă → clasificări greșite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7697" y="1288050"/>
            <a:ext cx="5689200" cy="120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Îmbunătățirea threshold-ului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Putem recalcula threshold-ul: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Luăm ultima observație obese și prima observație non-obese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Setăm threshold-ul la mijloc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Astfel evităm clasificările ambigue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3075" y="839072"/>
            <a:ext cx="5361600" cy="198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MARGIN</a:t>
            </a:r>
            <a:endParaRPr b="1" sz="23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este MARGIN?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Distanța dintre “observațiile de margine” și threshold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alegem threshold-ul cu cea mai mare margină, obținem: 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Maximal Margin Classifier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3075" y="839072"/>
            <a:ext cx="5361600" cy="198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5467775" y="1999750"/>
            <a:ext cx="657600" cy="7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1"/>
              </a:solidFill>
              <a:highlight>
                <a:srgbClr val="FFFF01"/>
              </a:highlight>
            </a:endParaRPr>
          </a:p>
        </p:txBody>
      </p:sp>
      <p:sp>
        <p:nvSpPr>
          <p:cNvPr id="111" name="Google Shape;111;p19"/>
          <p:cNvSpPr/>
          <p:nvPr/>
        </p:nvSpPr>
        <p:spPr>
          <a:xfrm rot="10798432">
            <a:off x="6250746" y="1999739"/>
            <a:ext cx="657600" cy="7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01"/>
              </a:highlight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5539850" y="1999742"/>
            <a:ext cx="1288200" cy="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accent4"/>
                </a:solidFill>
              </a:rPr>
              <a:t>Maximal Margin Classifier</a:t>
            </a:r>
            <a:endParaRPr b="1" sz="7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Problema Maximal Margin Classifier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Sensibilitatea la outlieri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singur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outlier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strica threshold-ul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micșora marginea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produce un model prost pe date noi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0875" y="1298250"/>
            <a:ext cx="5076000" cy="139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Soft Margin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Acceptăm intenționat unele misclasificări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luăm ultimul și primul punct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Ne uităm la: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penultimul/2-lea punct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antepenultimul/3-lea punct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Creăm un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soft margin classifier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Note: Parametrul din cod care ne ajuta cu asta este </a:t>
            </a:r>
            <a:r>
              <a:rPr b="1" i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</a:t>
            </a:r>
            <a:endParaRPr b="1" i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Bias–Variance tradeoff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ce funcționează soft margin?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Max margin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LOW bias / HIGH variance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→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 pe training, slab pe test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Soft margin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HIGH bias / LOW variance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→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puțin mai prost pe training, mai bun pe test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alegem cea mai bună margine?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Folosim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Cross Validation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Testăm diferite valori pentru margine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varianta care performează cel mai bine pe date nevăzute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Support Vector Classifier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Când alegem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soft margin + threshold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optim: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=&gt;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Support Vector Classifier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Punctele care definesc marginea =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Support Vectors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2D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o linie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3D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un plan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4D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+ → un hyperplan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4" name="Google Shape;164;p24" title="40143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0868" y="553197"/>
            <a:ext cx="4459200" cy="188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Când datele se suprapun?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linear classifier nu funcționează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Uneori relația este non-liniară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nevoie să mutăm datele într-o dimensiune mai mare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5" name="Google Shape;175;p25" title="svm-circle-1.png"/>
          <p:cNvPicPr preferRelativeResize="0"/>
          <p:nvPr/>
        </p:nvPicPr>
        <p:blipFill rotWithShape="1">
          <a:blip r:embed="rId6">
            <a:alphaModFix/>
          </a:blip>
          <a:srcRect b="0" l="0" r="66000" t="0"/>
          <a:stretch/>
        </p:blipFill>
        <p:spPr>
          <a:xfrm>
            <a:off x="3811525" y="1035925"/>
            <a:ext cx="1744800" cy="171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6" name="Google Shape;176;p25" title="svm-circle-1.png"/>
          <p:cNvPicPr preferRelativeResize="0"/>
          <p:nvPr/>
        </p:nvPicPr>
        <p:blipFill rotWithShape="1">
          <a:blip r:embed="rId6">
            <a:alphaModFix/>
          </a:blip>
          <a:srcRect b="0" l="66000" r="0" t="0"/>
          <a:stretch/>
        </p:blipFill>
        <p:spPr>
          <a:xfrm>
            <a:off x="6956125" y="1035925"/>
            <a:ext cx="1744800" cy="171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5846125" y="1990750"/>
            <a:ext cx="797400" cy="20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ce ridicăm la pătrat?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Transformare non-liniară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 1D → transformate în 2D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Putem desena un separator liniar în 2D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Ideea SVM: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Pornim din dimensiune mică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Proiectăm în dimensiune mai mare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Aplicăm un Support Vector Classifier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8" name="Google Shape;188;p26" title="svm-circle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9199" y="918825"/>
            <a:ext cx="5131800" cy="171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Kernel Functions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ridicăm datele în dimensiuni mari?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SVM folosește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Kernel Functions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Ele calculează relații între puncte, fără transformare explicită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Kernel Trick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Putem obține separare liniară în spații mari </a:t>
            </a:r>
            <a:r>
              <a:rPr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fără cost calcul mare</a:t>
            </a:r>
            <a:endParaRPr i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" name="Google Shape;2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Polynomial Kernel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un parametru degree (d)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Degree = 1, 2, 3…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Controlăm cât de complexă devine separarea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d prin cross validation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7625" y="526201"/>
            <a:ext cx="3292800" cy="1521300"/>
          </a:xfrm>
          <a:prstGeom prst="roundRect">
            <a:avLst>
              <a:gd fmla="val 10659" name="adj"/>
            </a:avLst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8125" y="2882525"/>
            <a:ext cx="3031800" cy="187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6764925" y="2279000"/>
            <a:ext cx="243300" cy="361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Radial (RBF) Kernel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Mapează datele într-un spațiu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infinit-dimensional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Punctele apropiate → influență mare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Punctele îndepărtate → influență mică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Ideal când datele sunt “încâlcite” și greu de separat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0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Kernel Trick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Kernelul nu generează efectiv dimensiuni noi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Doar calculează similaritatea dintre puncte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lucrează ca și cum ar fi în spațiu mare → fără cost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Când folosim SVM?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SVM e mai bun când: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puține mostre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(&lt;20k)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multe features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(high-dimensional)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sunt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curate, scalate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Problema are formă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complexă dar nu foarte mare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Vrem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regularizare bună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și un classifier stabil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Cel mai potrivit în: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NLP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 biomedicale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 high-dimensional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7" name="Google Shape;24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Exemple unde SVM câștigă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Clasificare text → lipsă de date, multe features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Biologie moleculara pe gene → 100 probe / 10.000 features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Orice dataset mic dar cu feature engineering intens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7" name="Google Shape;25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Support Vector Machines – Rezumat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Max margin classifier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Soft margin pentru robustețe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Kernel trick pentru non-linearitate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 pentru dataset-uri mici/medii cu multe features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7" name="Google Shape;2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