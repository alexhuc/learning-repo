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Asap SemiBold"/>
      <p:regular r:id="rId38"/>
      <p:bold r:id="rId39"/>
      <p:italic r:id="rId40"/>
      <p:boldItalic r:id="rId41"/>
    </p:embeddedFont>
    <p:embeddedFont>
      <p:font typeface="Asap"/>
      <p:regular r:id="rId42"/>
      <p:bold r:id="rId43"/>
      <p:italic r:id="rId44"/>
      <p:boldItalic r:id="rId45"/>
    </p:embeddedFont>
    <p:embeddedFont>
      <p:font typeface="Asap Medium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0" roundtripDataSignature="AMtx7mgoN0mw2TGkU2BnrFLNNOHmsD3t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sapSemiBold-italic.fntdata"/><Relationship Id="rId42" Type="http://schemas.openxmlformats.org/officeDocument/2006/relationships/font" Target="fonts/Asap-regular.fntdata"/><Relationship Id="rId41" Type="http://schemas.openxmlformats.org/officeDocument/2006/relationships/font" Target="fonts/AsapSemiBold-boldItalic.fntdata"/><Relationship Id="rId44" Type="http://schemas.openxmlformats.org/officeDocument/2006/relationships/font" Target="fonts/Asap-italic.fntdata"/><Relationship Id="rId43" Type="http://schemas.openxmlformats.org/officeDocument/2006/relationships/font" Target="fonts/Asap-bold.fntdata"/><Relationship Id="rId46" Type="http://schemas.openxmlformats.org/officeDocument/2006/relationships/font" Target="fonts/AsapMedium-regular.fntdata"/><Relationship Id="rId45" Type="http://schemas.openxmlformats.org/officeDocument/2006/relationships/font" Target="fonts/Asap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AsapMedium-italic.fntdata"/><Relationship Id="rId47" Type="http://schemas.openxmlformats.org/officeDocument/2006/relationships/font" Target="fonts/AsapMedium-bold.fntdata"/><Relationship Id="rId49" Type="http://schemas.openxmlformats.org/officeDocument/2006/relationships/font" Target="fonts/Asap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AsapSemiBold-bold.fntdata"/><Relationship Id="rId38" Type="http://schemas.openxmlformats.org/officeDocument/2006/relationships/font" Target="fonts/AsapSemiBold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Ne spun cat de predictibil este modelul nostru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Intelegerea lor tine de cum va GENERALIZA modelul nostru pe DATE PE CARE NU LE-A VAZUT NICIODATA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Daca are bias mare, modelul este prea simplu si nu surprinde bine relatiile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Daca are bias mic, modelul se potriveste bine datelor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E diferenta intre predictii si valori reale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9" name="Google Shape;109;p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Daca are variance mare, modelul se schimba mult intre seturi de date diferite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Daca are variance mic, nu se schimba mult intre seturi de date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1" name="Google Shape;121;p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3" name="Google Shape;133;p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5" name="Google Shape;145;p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" name="Google Shape;157;p1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" name="Google Shape;170;p1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2" name="Google Shape;182;p1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Underfitting =&gt; Modelul nostru NU se adapteaza foarte mult pe setul de date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Nu poate aproxima corect punctele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4" name="Google Shape;194;p1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6" name="Google Shape;206;p1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p1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Ce se intampla?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Se strange cat de mult poate pe datele noastre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Va face tot ce poate sa scada eroarea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Dar functia devine prea COMPLEXA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Bias mic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Varianta mare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0" name="Google Shape;230;p1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Va reactiona puternic la orice punct ii dam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Se va schimba cu fiecare sample de date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Cu cat punem un degree mai mare, cu atat wiggle uie mai tare functia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Daca un model este prea ADAPTAT pe datele de training, spunem ca overfittuie pe datele respective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1" name="Google Shape;241;p1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3" name="Google Shape;253;p1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4" name="Google Shape;264;p1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2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5" name="Google Shape;275;p2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2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6" name="Google Shape;286;p2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2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7" name="Google Shape;297;p2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2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9" name="Google Shape;309;p2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2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1" name="Google Shape;321;p2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2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3" name="Google Shape;333;p2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2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5" name="Google Shape;345;p2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2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6" name="Google Shape;356;p2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2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8" name="Google Shape;368;p2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2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0" name="Google Shape;380;p2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3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2" name="Google Shape;392;p3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3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MSE → bun pentru analiză matematică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RMSE → bun pentru oameni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R² → bun pentru interpretare globală (cât de bine „înțelege” modelul datele)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4" name="Google Shape;404;p3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3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p3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" name="Google Shape;10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" name="Google Shape;1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_1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3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4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4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4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4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147" y="762000"/>
            <a:ext cx="8589850" cy="3332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323975"/>
            <a:ext cx="8401051" cy="2681288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9000000" dist="14287">
              <a:srgbClr val="313CFF">
                <a:alpha val="89019"/>
              </a:srgbClr>
            </a:outerShdw>
          </a:effectLst>
        </p:spPr>
      </p:pic>
      <p:pic>
        <p:nvPicPr>
          <p:cNvPr descr="preencoded.png" id="61" name="Google Shape;6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9880" y="3767138"/>
            <a:ext cx="3562350" cy="614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"/>
          <p:cNvSpPr/>
          <p:nvPr/>
        </p:nvSpPr>
        <p:spPr>
          <a:xfrm>
            <a:off x="909638" y="1538288"/>
            <a:ext cx="7938000" cy="1990800"/>
          </a:xfrm>
          <a:prstGeom prst="rect">
            <a:avLst/>
          </a:prstGeom>
          <a:noFill/>
          <a:ln>
            <a:noFill/>
          </a:ln>
          <a:effectLst>
            <a:outerShdw rotWithShape="0" algn="bl">
              <a:srgbClr val="313CFF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Asap"/>
              <a:buNone/>
            </a:pPr>
            <a:r>
              <a:rPr b="1" i="0" lang="en-GB" sz="47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Machine Learning </a:t>
            </a:r>
            <a:endParaRPr b="1" i="0" sz="47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342900" marR="0" rtl="0" algn="ctr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sap"/>
              <a:buChar char="-"/>
            </a:pPr>
            <a:r>
              <a:rPr b="1" i="0" lang="en-GB" sz="38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curs - </a:t>
            </a:r>
            <a:endParaRPr b="1" i="0" sz="38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1037155" y="3914250"/>
            <a:ext cx="27861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25"/>
              </a:lnSpc>
              <a:spcBef>
                <a:spcPts val="0"/>
              </a:spcBef>
              <a:spcAft>
                <a:spcPts val="0"/>
              </a:spcAft>
              <a:buClr>
                <a:srgbClr val="313CFF"/>
              </a:buClr>
              <a:buSzPts val="2400"/>
              <a:buFont typeface="Asap Medium"/>
              <a:buNone/>
            </a:pPr>
            <a:r>
              <a:rPr b="0" i="0" lang="en-GB" sz="2400" u="none" cap="none" strike="noStrike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— Sesiunea 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909650" y="2980023"/>
            <a:ext cx="80673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1" lang="en-GB" sz="3000" u="none" cap="none" strike="noStrike">
                <a:solidFill>
                  <a:srgbClr val="FFFF01"/>
                </a:solidFill>
                <a:latin typeface="Asap SemiBold"/>
                <a:ea typeface="Asap SemiBold"/>
                <a:cs typeface="Asap SemiBold"/>
                <a:sym typeface="Asap SemiBold"/>
              </a:rPr>
              <a:t>Mastering Regression</a:t>
            </a:r>
            <a:endParaRPr b="0" i="1" sz="3000" u="none" cap="none" strike="noStrike">
              <a:solidFill>
                <a:srgbClr val="FFFF01"/>
              </a:solidFill>
              <a:latin typeface="Asap SemiBold"/>
              <a:ea typeface="Asap SemiBold"/>
              <a:cs typeface="Asap SemiBold"/>
              <a:sym typeface="Asap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" name="Google Shape;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" name="Google Shape;7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080113"/>
            <a:ext cx="7244700" cy="4063200"/>
          </a:xfrm>
          <a:prstGeom prst="round2SameRect">
            <a:avLst>
              <a:gd fmla="val 8143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preencoded.png" id="73" name="Google Shape;7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"/>
          <p:cNvSpPr txBox="1"/>
          <p:nvPr>
            <p:ph idx="1" type="subTitle"/>
          </p:nvPr>
        </p:nvSpPr>
        <p:spPr>
          <a:xfrm>
            <a:off x="133631" y="1238588"/>
            <a:ext cx="6280500" cy="3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Mastering Regression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Overfitting &amp; Underfitting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Tehnici de regularizare (L1, L2)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Metrici de Regresie (MSE, RMSE, R^2)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Regresie vs Clasificare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4860218" y="683655"/>
            <a:ext cx="2278800" cy="3288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7800000" dist="14287">
              <a:srgbClr val="000000">
                <a:alpha val="2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4A86E8"/>
                </a:solidFill>
                <a:latin typeface="Asap"/>
                <a:ea typeface="Asap"/>
                <a:cs typeface="Asap"/>
                <a:sym typeface="Asap"/>
              </a:rPr>
              <a:t>SHORT GUIDE</a:t>
            </a:r>
            <a:endParaRPr b="0" i="0" sz="25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" name="Google Shape;8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" name="Google Shape;8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Bias &amp; Variance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-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Echilibrul între complexitate și generalizare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-"/>
            </a:pPr>
            <a:r>
              <a:rPr b="1" i="0" lang="en-GB" sz="1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Obiectiv</a:t>
            </a: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 minimizarea erorilor pe date noi (test)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Bias &amp; Variance </a:t>
            </a: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=&gt; ne ajuta sa prezicem genul de erori care apar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2" name="Google Shape;9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3" name="Google Shape;9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Bias &amp; Variance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-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Bias: eroare sistematică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-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Cat de DEPARTE sunt valorile prezise fata de cele reale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-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Variance: sensibilitate la schimbarea datelor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-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Cat de MULT fluctueaza predictiile bazat pe seturi diferite de training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Scop: generalizare bună pe date nevăzute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1" name="Google Shape;10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" name="Google Shape;10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" name="Google Shape;10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Bias &amp; Variance tradeoff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Modele prea simple → pierd pattern-uri (</a:t>
            </a:r>
            <a:r>
              <a:rPr b="1" i="0" lang="en-GB" sz="1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underfitting</a:t>
            </a: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)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Modele prea complexe → supraajustare (</a:t>
            </a:r>
            <a:r>
              <a:rPr b="1" i="0" lang="en-GB" sz="1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overfitting</a:t>
            </a: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)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=&gt; Alegerea arhitecturii corecte = performanță optimă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1" name="Google Shape;1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2" name="Google Shape;11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3" name="Google Shape;11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6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Bias (eroare sistematica)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48339" y="322975"/>
            <a:ext cx="4269300" cy="4431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Diferența între </a:t>
            </a:r>
            <a:r>
              <a:rPr b="1" i="0" lang="en-GB" sz="1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predicții și valori reale</a:t>
            </a:r>
            <a:endParaRPr b="1" i="0" sz="15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Bias mare → modelul nu surprinde relațiile reale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Cauză: model prea simplu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085675" y="1025660"/>
            <a:ext cx="1810800" cy="3545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0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3" name="Google Shape;1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4" name="Google Shape;12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5" name="Google Shape;12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3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Variance (sensibilitate la date)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48339" y="322975"/>
            <a:ext cx="4269300" cy="4431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28" name="Google Shape;128;p7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Fluctuația predicțiilor între </a:t>
            </a:r>
            <a:r>
              <a:rPr b="1" i="0" lang="en-GB" sz="1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seturi diferite de date</a:t>
            </a:r>
            <a:endParaRPr b="1" i="0" sz="15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Variance mare → model instabil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Cauză: model prea complex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29" name="Google Shape;129;p7"/>
          <p:cNvSpPr/>
          <p:nvPr/>
        </p:nvSpPr>
        <p:spPr>
          <a:xfrm rot="-5400000">
            <a:off x="5968287" y="173482"/>
            <a:ext cx="1810800" cy="3545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0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5" name="Google Shape;1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6" name="Google Shape;13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7" name="Google Shape;13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3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Underfitting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ap"/>
              <a:buChar char="●"/>
            </a:pPr>
            <a:r>
              <a:rPr b="1" i="0" lang="en-GB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Bias mare, Variance mică</a:t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ap"/>
              <a:buChar char="●"/>
            </a:pPr>
            <a:r>
              <a:rPr b="1" i="0" lang="en-GB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 prea simplu</a:t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4583500" y="523475"/>
            <a:ext cx="3682500" cy="418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8" title="optimal-fit.png"/>
          <p:cNvPicPr preferRelativeResize="0"/>
          <p:nvPr/>
        </p:nvPicPr>
        <p:blipFill rotWithShape="1">
          <a:blip r:embed="rId6">
            <a:alphaModFix/>
          </a:blip>
          <a:srcRect b="0" l="0" r="65602" t="0"/>
          <a:stretch/>
        </p:blipFill>
        <p:spPr>
          <a:xfrm>
            <a:off x="4668990" y="595847"/>
            <a:ext cx="3450651" cy="401267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7" name="Google Shape;1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8" name="Google Shape;14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9" name="Google Shape;14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9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3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Overfitting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ap"/>
              <a:buChar char="●"/>
            </a:pPr>
            <a:r>
              <a:rPr b="1" i="0" lang="en-GB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Bias mic, Variance mare</a:t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ap"/>
              <a:buChar char="●"/>
            </a:pPr>
            <a:r>
              <a:rPr b="1" i="0" lang="en-GB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 prea complex</a:t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583500" y="523475"/>
            <a:ext cx="3682500" cy="418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9" title="optimal-fit.png"/>
          <p:cNvPicPr preferRelativeResize="0"/>
          <p:nvPr/>
        </p:nvPicPr>
        <p:blipFill rotWithShape="1">
          <a:blip r:embed="rId6">
            <a:alphaModFix/>
          </a:blip>
          <a:srcRect b="0" l="65924" r="0" t="0"/>
          <a:stretch/>
        </p:blipFill>
        <p:spPr>
          <a:xfrm>
            <a:off x="4777892" y="682638"/>
            <a:ext cx="3293724" cy="386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9" name="Google Shape;1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0" name="Google Shape;16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1" name="Google Shape;16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0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3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Forma optima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4583500" y="523475"/>
            <a:ext cx="3682500" cy="418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10" title="optimal-fit.png"/>
          <p:cNvPicPr preferRelativeResize="0"/>
          <p:nvPr/>
        </p:nvPicPr>
        <p:blipFill rotWithShape="1">
          <a:blip r:embed="rId6">
            <a:alphaModFix/>
          </a:blip>
          <a:srcRect b="0" l="32866" r="32372" t="0"/>
          <a:stretch/>
        </p:blipFill>
        <p:spPr>
          <a:xfrm>
            <a:off x="4877559" y="791388"/>
            <a:ext cx="3094374" cy="356072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/>
          <p:cNvSpPr/>
          <p:nvPr/>
        </p:nvSpPr>
        <p:spPr>
          <a:xfrm>
            <a:off x="273276" y="1854575"/>
            <a:ext cx="4074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ap"/>
              <a:buChar char="●"/>
            </a:pPr>
            <a:r>
              <a:rPr b="1" i="0" lang="en-GB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Forma optimala surprinde pattern-ul si generalizeaza pe date </a:t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2" name="Google Shape;17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3" name="Google Shape;17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4" name="Google Shape;17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1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3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Intuitie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273276" y="1854575"/>
            <a:ext cx="4074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Avem un grafic de puncte ca si cel alaturat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Vrem sa prezicem Y stiind X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Incercam sa fit-uim 3 modele de complexitate diferita: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○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 liniar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○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 polinomial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○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 polinomial de grad mare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78" name="Google Shape;178;p11" title="GetImage (6)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4950" y="322964"/>
            <a:ext cx="4658400" cy="3930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4" name="Google Shape;18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5" name="Google Shape;18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6" name="Google Shape;18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2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3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Intuitie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273276" y="1854575"/>
            <a:ext cx="4074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Linear Regression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Cum sunt bias/variance?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90" name="Google Shape;190;p12" title="GetImage (7)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0000" y="322975"/>
            <a:ext cx="4640001" cy="39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6" name="Google Shape;19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7" name="Google Shape;19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8" name="Google Shape;19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3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3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Intuitie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273276" y="1854575"/>
            <a:ext cx="4074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Linear Regression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Bias mare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Varianta mica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Underfitting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02" name="Google Shape;202;p13" title="GetImage (7)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0000" y="322975"/>
            <a:ext cx="4640001" cy="39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8" name="Google Shape;2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9" name="Google Shape;2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0" name="Google Shape;21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4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3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Intuitie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273276" y="1854575"/>
            <a:ext cx="4074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Regresie Polinomiala (grad 4)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14" name="Google Shape;214;p14" title="GetImage (8)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8175" y="614775"/>
            <a:ext cx="4342575" cy="372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0" name="Google Shape;2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1" name="Google Shape;2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2" name="Google Shape;2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5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3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Intuitie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25" name="Google Shape;225;p15"/>
          <p:cNvSpPr/>
          <p:nvPr/>
        </p:nvSpPr>
        <p:spPr>
          <a:xfrm>
            <a:off x="273276" y="1854575"/>
            <a:ext cx="4074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Regresie Polinomiala (grad 4)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Bias moderat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Varianta moderata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26" name="Google Shape;226;p15" title="GetImage (8)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8175" y="614775"/>
            <a:ext cx="4342575" cy="372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2" name="Google Shape;2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3" name="Google Shape;2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4" name="Google Shape;2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6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3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Intuitie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6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37" name="Google Shape;237;p16"/>
          <p:cNvSpPr/>
          <p:nvPr/>
        </p:nvSpPr>
        <p:spPr>
          <a:xfrm>
            <a:off x="273274" y="1854575"/>
            <a:ext cx="81450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Ce se intampla daca luam o functie polinomiala foarte mare? De genul degree=25?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3" name="Google Shape;2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4" name="Google Shape;2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5" name="Google Shape;2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7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3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Intuitie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273276" y="1854575"/>
            <a:ext cx="4074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Regresie Polinomiala (grad 25)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Bias mic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Varianta mare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Overfitting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49" name="Google Shape;249;p17" title="GetImage (9)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27387" y="629500"/>
            <a:ext cx="4437401" cy="3884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5" name="Google Shape;2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6" name="Google Shape;2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7" name="Google Shape;25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8"/>
          <p:cNvSpPr/>
          <p:nvPr/>
        </p:nvSpPr>
        <p:spPr>
          <a:xfrm>
            <a:off x="223851" y="1259000"/>
            <a:ext cx="43482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3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Concluzie pentru bias/variance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273274" y="1854575"/>
            <a:ext cx="85254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Modelele cu </a:t>
            </a:r>
            <a:r>
              <a:rPr b="1" i="0" lang="en-GB" sz="1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bias </a:t>
            </a: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mare:  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Sunt prea simpliste ca sa captureze pattern-urile in date  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Provoaca underfitting 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Training / testing accuracy overall nu e foarte bun 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Modele cu </a:t>
            </a:r>
            <a:r>
              <a:rPr b="1" i="0" lang="en-GB" sz="1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variance </a:t>
            </a: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mare:  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Sunt mult prea flexibile pe datele de training 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Provoaca overfitting 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Nu pot generaliza pe date pe care nu le-au mai vazut 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6" name="Google Shape;2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7" name="Google Shape;2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8" name="Google Shape;26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9"/>
          <p:cNvSpPr/>
          <p:nvPr/>
        </p:nvSpPr>
        <p:spPr>
          <a:xfrm>
            <a:off x="223851" y="1259000"/>
            <a:ext cx="43482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3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Cum diagnosticam?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273274" y="1854575"/>
            <a:ext cx="85254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Plotăm erorile pe train și validare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Ambele mari → Bias mare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Train mic, Validare mare → Variance mare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7" name="Google Shape;2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8" name="Google Shape;2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9" name="Google Shape;27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0"/>
          <p:cNvSpPr/>
          <p:nvPr/>
        </p:nvSpPr>
        <p:spPr>
          <a:xfrm>
            <a:off x="223851" y="1259000"/>
            <a:ext cx="43482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3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Cum diagnosticam?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273274" y="1854575"/>
            <a:ext cx="85254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CROSS-VALIDATION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○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Împarte datele în subseturi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○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Antrenează/testează pe combinații diferite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○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Estimează eroarea de generalizare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○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Detectează sensibilitatea la schimbarea datelor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8" name="Google Shape;2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9" name="Google Shape;28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0" name="Google Shape;29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1"/>
          <p:cNvSpPr/>
          <p:nvPr/>
        </p:nvSpPr>
        <p:spPr>
          <a:xfrm>
            <a:off x="223851" y="1259000"/>
            <a:ext cx="43482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3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Regularizare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273274" y="1854575"/>
            <a:ext cx="85254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Penalizează complexitatea modelului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Adaugă termen de penalizare în funcția de cost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Previne overfitting-ul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9" name="Google Shape;29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0" name="Google Shape;30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1" name="Google Shape;30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2"/>
          <p:cNvSpPr/>
          <p:nvPr/>
        </p:nvSpPr>
        <p:spPr>
          <a:xfrm>
            <a:off x="223851" y="1259000"/>
            <a:ext cx="43482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3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Regularizare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273274" y="1854575"/>
            <a:ext cx="85254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Luam un dataset foarte simplist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f(x) = m*x + n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Vrem sa minimizam functia de cost (MSE)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Folosim OLS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05" name="Google Shape;30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60088" y="578475"/>
            <a:ext cx="4571999" cy="3200400"/>
          </a:xfrm>
          <a:prstGeom prst="rect">
            <a:avLst/>
          </a:prstGeom>
          <a:noFill/>
          <a:ln cap="flat" cmpd="sng" w="9525">
            <a:solidFill>
              <a:srgbClr val="918F8E"/>
            </a:solidFill>
            <a:prstDash val="dash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1" name="Google Shape;31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2" name="Google Shape;31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3" name="Google Shape;31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3"/>
          <p:cNvSpPr/>
          <p:nvPr/>
        </p:nvSpPr>
        <p:spPr>
          <a:xfrm>
            <a:off x="223851" y="1259000"/>
            <a:ext cx="43482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3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Regularizare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16" name="Google Shape;316;p23"/>
          <p:cNvSpPr/>
          <p:nvPr/>
        </p:nvSpPr>
        <p:spPr>
          <a:xfrm>
            <a:off x="273274" y="1854575"/>
            <a:ext cx="85254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Rezultat OLS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17" name="Google Shape;317;p23" title="GetImage (10)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66788" y="559288"/>
            <a:ext cx="5362575" cy="37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3" name="Google Shape;32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4" name="Google Shape;32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5" name="Google Shape;32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4"/>
          <p:cNvSpPr/>
          <p:nvPr/>
        </p:nvSpPr>
        <p:spPr>
          <a:xfrm>
            <a:off x="223851" y="1259000"/>
            <a:ext cx="43482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3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Regularizare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4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273274" y="1854575"/>
            <a:ext cx="85254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Dar daca setul de test arata asa?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29" name="Google Shape;32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20449" y="776300"/>
            <a:ext cx="5011626" cy="3508150"/>
          </a:xfrm>
          <a:prstGeom prst="rect">
            <a:avLst/>
          </a:prstGeom>
          <a:noFill/>
          <a:ln cap="flat" cmpd="sng" w="9525">
            <a:solidFill>
              <a:srgbClr val="918F8E"/>
            </a:solidFill>
            <a:prstDash val="dash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5" name="Google Shape;3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6" name="Google Shape;33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7" name="Google Shape;33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5"/>
          <p:cNvSpPr/>
          <p:nvPr/>
        </p:nvSpPr>
        <p:spPr>
          <a:xfrm>
            <a:off x="223851" y="1259000"/>
            <a:ext cx="43482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3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Ridge Regression (L2)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273274" y="1854575"/>
            <a:ext cx="85254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f(x) = m*x + n </a:t>
            </a:r>
            <a:r>
              <a:rPr b="1" i="0" lang="en-GB" sz="1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+ λ * m^2</a:t>
            </a:r>
            <a:endParaRPr b="1" i="0" sz="15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41" name="Google Shape;341;p25" title="GetImage (1)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81415" y="728975"/>
            <a:ext cx="4361311" cy="313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7" name="Google Shape;34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8" name="Google Shape;34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9" name="Google Shape;34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6"/>
          <p:cNvSpPr/>
          <p:nvPr/>
        </p:nvSpPr>
        <p:spPr>
          <a:xfrm>
            <a:off x="223851" y="1259000"/>
            <a:ext cx="43482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3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Lasso Regression (L1)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6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52" name="Google Shape;352;p26"/>
          <p:cNvSpPr/>
          <p:nvPr/>
        </p:nvSpPr>
        <p:spPr>
          <a:xfrm>
            <a:off x="273274" y="1854575"/>
            <a:ext cx="85254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f(x) = m*x + n </a:t>
            </a:r>
            <a:r>
              <a:rPr b="1" i="0" lang="en-GB" sz="1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+ λ * |m|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8" name="Google Shape;35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9" name="Google Shape;35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0" name="Google Shape;36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7"/>
          <p:cNvSpPr/>
          <p:nvPr/>
        </p:nvSpPr>
        <p:spPr>
          <a:xfrm>
            <a:off x="223851" y="1259000"/>
            <a:ext cx="43482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3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Regularizare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7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63" name="Google Shape;363;p27" title="GetImage (2)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0250" y="2089948"/>
            <a:ext cx="6303501" cy="236482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7"/>
          <p:cNvSpPr txBox="1"/>
          <p:nvPr/>
        </p:nvSpPr>
        <p:spPr>
          <a:xfrm>
            <a:off x="435675" y="4525875"/>
            <a:ext cx="83958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Note</a:t>
            </a:r>
            <a:r>
              <a:rPr b="1" i="0" lang="en-GB" sz="13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 RidgeCV/LassoCV din sklearn.linear_model ne pot da o idee de ce alpha putem folosi</a:t>
            </a:r>
            <a:endParaRPr b="1" i="0" sz="13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0" name="Google Shape;37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1" name="Google Shape;37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2" name="Google Shape;37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8"/>
          <p:cNvSpPr/>
          <p:nvPr/>
        </p:nvSpPr>
        <p:spPr>
          <a:xfrm>
            <a:off x="223851" y="1259000"/>
            <a:ext cx="43482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1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Metrici - MSE (Mean Squared Error)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8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75" name="Google Shape;375;p28"/>
          <p:cNvSpPr/>
          <p:nvPr/>
        </p:nvSpPr>
        <p:spPr>
          <a:xfrm>
            <a:off x="273274" y="1864313"/>
            <a:ext cx="85254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 Medium"/>
              <a:buChar char="●"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Media pătratelor diferențelor dintre valori reale și prezise</a:t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 Medium"/>
              <a:buChar char="●"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Penalizează erorile mari (pentru că le ridică la pătrat)</a:t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 Medium"/>
              <a:buChar char="●"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0 → predicții perfecte</a:t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 Medium"/>
              <a:buChar char="●"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Valori mari → modelul greșește mult</a:t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Exemplu:</a:t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Reale: [3,5,7], Predicții: [2,6,8] → MSE = 1</a:t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💬 Unitate: (mii €)²</a:t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76" name="Google Shape;37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32900" y="1115325"/>
            <a:ext cx="3042600" cy="1203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2" name="Google Shape;38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3" name="Google Shape;38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4" name="Google Shape;38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9"/>
          <p:cNvSpPr/>
          <p:nvPr/>
        </p:nvSpPr>
        <p:spPr>
          <a:xfrm>
            <a:off x="223851" y="1259000"/>
            <a:ext cx="43482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18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Metrici - RMSE (Root Mean Squared Error)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9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87" name="Google Shape;387;p29"/>
          <p:cNvSpPr/>
          <p:nvPr/>
        </p:nvSpPr>
        <p:spPr>
          <a:xfrm>
            <a:off x="273274" y="1864313"/>
            <a:ext cx="85254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 Medium"/>
              <a:buChar char="●"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Rădăcina pătrată a MSE</a:t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 Medium"/>
              <a:buChar char="●"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Are aceeași unitate ca ținta (ex: €)</a:t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 Medium"/>
              <a:buChar char="●"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Interpretare ușoară – eroarea medie reală</a:t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Exemplu:</a:t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MSE = 236 → RMSE = √236 ≈ 15.3 → modelul greșește cu ≈ 15 000 €</a:t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💬 RMSE → pentru oameni, mai usor de vizualizat</a:t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</p:txBody>
      </p:sp>
      <p:pic>
        <p:nvPicPr>
          <p:cNvPr id="388" name="Google Shape;388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32900" y="1297950"/>
            <a:ext cx="2380800" cy="1116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4" name="Google Shape;39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5" name="Google Shape;39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6" name="Google Shape;39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0"/>
          <p:cNvSpPr/>
          <p:nvPr/>
        </p:nvSpPr>
        <p:spPr>
          <a:xfrm>
            <a:off x="223851" y="1259000"/>
            <a:ext cx="43482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18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Metrici - R</a:t>
            </a:r>
            <a:r>
              <a:rPr b="1" lang="en-GB" sz="18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^2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0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99" name="Google Shape;399;p30"/>
          <p:cNvSpPr/>
          <p:nvPr/>
        </p:nvSpPr>
        <p:spPr>
          <a:xfrm>
            <a:off x="273274" y="1864313"/>
            <a:ext cx="85254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 Medium"/>
              <a:buChar char="●"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Arată cât de bine explică modelul variația din date</a:t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 Medium"/>
              <a:buChar char="●"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Compară modelul cu o predicție bazată doar pe media</a:t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📊 Interpretare:</a:t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R² = 1 → perfect</a:t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R² = 0 → ca media</a:t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R² &lt; 0 → mai prost ca media</a:t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💬 Exemplu:</a:t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R² = 0.4 → modelul explică 40 % din variația reală a prețurilor</a:t>
            </a:r>
            <a:endParaRPr b="0" i="0" sz="15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</p:txBody>
      </p:sp>
      <p:pic>
        <p:nvPicPr>
          <p:cNvPr id="400" name="Google Shape;40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56000" y="1222651"/>
            <a:ext cx="3042600" cy="1171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6" name="Google Shape;40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7" name="Google Shape;40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8" name="Google Shape;40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1"/>
          <p:cNvSpPr/>
          <p:nvPr/>
        </p:nvSpPr>
        <p:spPr>
          <a:xfrm>
            <a:off x="223851" y="1259000"/>
            <a:ext cx="43482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18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Metrici - RMSE (Root Mean Squared Error)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1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411" name="Google Shape;411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3563" y="2143724"/>
            <a:ext cx="7620727" cy="21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7" name="Google Shape;41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8" name="Google Shape;41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147" y="762000"/>
            <a:ext cx="8589850" cy="3332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9" name="Google Shape;419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323975"/>
            <a:ext cx="5800725" cy="2681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0" name="Google Shape;420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3767138"/>
            <a:ext cx="4367213" cy="614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1" name="Google Shape;421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48313" y="428625"/>
            <a:ext cx="3286125" cy="4281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2" name="Google Shape;422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2"/>
          <p:cNvSpPr/>
          <p:nvPr/>
        </p:nvSpPr>
        <p:spPr>
          <a:xfrm>
            <a:off x="1314450" y="2338388"/>
            <a:ext cx="36291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Asap"/>
              <a:buNone/>
            </a:pPr>
            <a:r>
              <a:rPr b="1" i="0" lang="en-GB" sz="53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Thank you :)</a:t>
            </a:r>
            <a:endParaRPr b="0" i="0" sz="5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2"/>
          <p:cNvSpPr/>
          <p:nvPr/>
        </p:nvSpPr>
        <p:spPr>
          <a:xfrm>
            <a:off x="1033463" y="3890963"/>
            <a:ext cx="41445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25"/>
              </a:lnSpc>
              <a:spcBef>
                <a:spcPts val="0"/>
              </a:spcBef>
              <a:spcAft>
                <a:spcPts val="0"/>
              </a:spcAft>
              <a:buClr>
                <a:srgbClr val="313CFF"/>
              </a:buClr>
              <a:buSzPts val="2400"/>
              <a:buFont typeface="Asap Medium"/>
              <a:buNone/>
            </a:pPr>
            <a:r>
              <a:rPr b="0" i="0" lang="en-GB" sz="2400" u="none" cap="none" strike="noStrike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Ne vedem la sesiunea viitoare!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