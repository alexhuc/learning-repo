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Asap SemiBold"/>
      <p:regular r:id="rId28"/>
      <p:bold r:id="rId29"/>
      <p:italic r:id="rId30"/>
      <p:boldItalic r:id="rId31"/>
    </p:embeddedFont>
    <p:embeddedFont>
      <p:font typeface="Asap"/>
      <p:regular r:id="rId32"/>
      <p:bold r:id="rId33"/>
      <p:italic r:id="rId34"/>
      <p:boldItalic r:id="rId35"/>
    </p:embeddedFont>
    <p:embeddedFont>
      <p:font typeface="Asap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sapSemiBold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sap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sapSemiBold-boldItalic.fntdata"/><Relationship Id="rId30" Type="http://schemas.openxmlformats.org/officeDocument/2006/relationships/font" Target="fonts/AsapSemiBold-italic.fntdata"/><Relationship Id="rId11" Type="http://schemas.openxmlformats.org/officeDocument/2006/relationships/slide" Target="slides/slide6.xml"/><Relationship Id="rId33" Type="http://schemas.openxmlformats.org/officeDocument/2006/relationships/font" Target="fonts/Asap-bold.fntdata"/><Relationship Id="rId10" Type="http://schemas.openxmlformats.org/officeDocument/2006/relationships/slide" Target="slides/slide5.xml"/><Relationship Id="rId32" Type="http://schemas.openxmlformats.org/officeDocument/2006/relationships/font" Target="fonts/Asap-regular.fntdata"/><Relationship Id="rId13" Type="http://schemas.openxmlformats.org/officeDocument/2006/relationships/slide" Target="slides/slide8.xml"/><Relationship Id="rId35" Type="http://schemas.openxmlformats.org/officeDocument/2006/relationships/font" Target="fonts/Asap-boldItalic.fntdata"/><Relationship Id="rId12" Type="http://schemas.openxmlformats.org/officeDocument/2006/relationships/slide" Target="slides/slide7.xml"/><Relationship Id="rId34" Type="http://schemas.openxmlformats.org/officeDocument/2006/relationships/font" Target="fonts/Asap-italic.fntdata"/><Relationship Id="rId15" Type="http://schemas.openxmlformats.org/officeDocument/2006/relationships/slide" Target="slides/slide10.xml"/><Relationship Id="rId37" Type="http://schemas.openxmlformats.org/officeDocument/2006/relationships/font" Target="fonts/AsapMedium-bold.fntdata"/><Relationship Id="rId14" Type="http://schemas.openxmlformats.org/officeDocument/2006/relationships/slide" Target="slides/slide9.xml"/><Relationship Id="rId36" Type="http://schemas.openxmlformats.org/officeDocument/2006/relationships/font" Target="fonts/AsapMedium-regular.fntdata"/><Relationship Id="rId17" Type="http://schemas.openxmlformats.org/officeDocument/2006/relationships/slide" Target="slides/slide12.xml"/><Relationship Id="rId39" Type="http://schemas.openxmlformats.org/officeDocument/2006/relationships/font" Target="fonts/AsapMedium-boldItalic.fntdata"/><Relationship Id="rId16" Type="http://schemas.openxmlformats.org/officeDocument/2006/relationships/slide" Target="slides/slide11.xml"/><Relationship Id="rId38" Type="http://schemas.openxmlformats.org/officeDocument/2006/relationships/font" Target="fonts/AsapMedium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fb5bcad13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9fb5bcad13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9fb5bcad13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b5bcad13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9fb5bcad13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fb5bcad13_0_22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9fb5bcad13_0_22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9fb5bcad13_0_22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b5bcad13_0_7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9fb5bcad13_0_7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9fb5bcad13_0_7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fb5bcad13_0_15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9fb5bcad13_0_15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9fb5bcad13_0_15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fb5bcad13_0_16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fb5bcad13_0_16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fb5bcad13_0_16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fb5bcad13_0_18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9fb5bcad13_0_18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9fb5bcad13_0_18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fb5bcad13_0_19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9fb5bcad13_0_19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fb5bcad13_0_19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fb5bcad13_0_8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9fb5bcad13_0_8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fb5bcad13_0_8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fb5bcad13_0_9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9fb5bcad13_0_9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9fb5bcad13_0_9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fb5bcad13_0_10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9fb5bcad13_0_10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fb5bcad13_0_10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fb5bcad13_0_11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9fb5bcad13_0_11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9fb5bcad13_0_11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fb5bcad13_0_12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9fb5bcad13_0_12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9fb5bcad13_0_12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fb5bcad13_0_13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9fb5bcad13_0_13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9fb5bcad13_0_13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fb5bcad13_0_14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9fb5bcad13_0_14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9fb5bcad13_0_14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047db92e2_0_1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a047db92e2_0_1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a047db92e2_0_1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047db92e2_0_2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a047db92e2_0_2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a047db92e2_0_2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047db92e2_0_3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a047db92e2_0_3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a047db92e2_0_3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047db92e2_0_4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a047db92e2_0_4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a047db92e2_0_4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08803154a_0_1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a08803154a_0_1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a08803154a_0_1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08803154a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a08803154a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a08803154a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0.png"/><Relationship Id="rId7" Type="http://schemas.openxmlformats.org/officeDocument/2006/relationships/image" Target="../media/image30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8401051" cy="268128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9000000" dist="14287">
              <a:srgbClr val="313CFF">
                <a:alpha val="89410"/>
              </a:srgbClr>
            </a:outerShdw>
          </a:effectLst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880" y="3767138"/>
            <a:ext cx="3562350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909638" y="1538288"/>
            <a:ext cx="7938000" cy="19908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47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47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sap"/>
              <a:buChar char="-"/>
            </a:pPr>
            <a:r>
              <a:rPr b="1" i="0" lang="en-GB" sz="38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38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1037155" y="3914250"/>
            <a:ext cx="2786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</a:t>
            </a:r>
            <a:r>
              <a:rPr lang="en-GB" sz="2400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909650" y="2980023"/>
            <a:ext cx="8067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1" lang="en-GB" sz="3000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Logistic Regression and Recap</a:t>
            </a:r>
            <a:endParaRPr b="0" i="1" sz="3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80113"/>
            <a:ext cx="7244700" cy="4063200"/>
          </a:xfrm>
          <a:prstGeom prst="round2SameRect">
            <a:avLst>
              <a:gd fmla="val 8143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reencoded.png" id="73" name="Google Shape;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33631" y="1238588"/>
            <a:ext cx="6280500" cy="3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Logistic Regression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Regresie VS Clasificare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Logistic Regression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Recap general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860218" y="683655"/>
            <a:ext cx="2278800" cy="3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7800000" dist="14287">
              <a:srgbClr val="000000">
                <a:alpha val="2039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4A86E8"/>
                </a:solidFill>
                <a:latin typeface="Asap"/>
                <a:ea typeface="Asap"/>
                <a:cs typeface="Asap"/>
                <a:sym typeface="Asap"/>
              </a:rPr>
              <a:t>SHORT GUIDE</a:t>
            </a:r>
            <a:endParaRPr b="0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Regresie vs Clasificare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Regresie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variabila țintă numerică (ex: preț, temperatură).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Clasificare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variabila țintă discretă (clase).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Până acum: regresie → acum: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clasificare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Tipuri de output-uri pentru clasificare: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Binary: 0/1 (spam/not spam, malignă/benignă)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Multi-class: 0,1,2,... (note, rating-uri)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Logistic Regression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Deși numele conține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„regression”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, este un clasificator.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Scop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prezice probabilitatea apariției unei clase (0 sau 1)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Similar cu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Linear Regression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, dar folosește curba sigmoid pentru valori între [0,1].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 simplu, popular și interpretabil.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2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De la linear la logistic - intuitie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Cum plotam un target cu valoare discreta?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0 - benign, 1 - malign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2987" y="571075"/>
            <a:ext cx="4546200" cy="2520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2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De la linear la logistic - intuitie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Graficul reprezentat de linear regression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76650" y="638000"/>
            <a:ext cx="4686300" cy="2679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2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De la linear la logistic - intuitie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Dar daca adaugam un outlier, si rulam din nou linear regression pe outlier-ul respectiv?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4950" y="396375"/>
            <a:ext cx="4677000" cy="252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4" name="Google Shape;1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2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De la linear la logistic - intuitie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Logistic Regression pe dataset-ul cu outlier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4950" y="385324"/>
            <a:ext cx="4660800" cy="266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Funcția Sigmoid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Formula: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Caracteristici: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Domeniu real → interval (0,1)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Netedă, derivabilă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Logistic Regression: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888" y="4472225"/>
            <a:ext cx="981000" cy="362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04975" y="2257500"/>
            <a:ext cx="1305000" cy="438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9262" y="475634"/>
            <a:ext cx="4417500" cy="321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8" name="Google Shape;1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De la Probabilitate la Clasă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returnează o probabilitate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 functie de threshold, vrem ca probabilitatea sa apartina uneia dintre clase {0, 1}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Exemplu (threshold = 0.5)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p≥0.5 → clasa 1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Altfel → clasa 0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275" y="2906000"/>
            <a:ext cx="933600" cy="257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/>
          <p:nvPr/>
        </p:nvSpPr>
        <p:spPr>
          <a:xfrm>
            <a:off x="223852" y="1259000"/>
            <a:ext cx="47958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Când e potrivit?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Ținta e binară (DA/NU).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Datele sunt aproximativ linearly separable.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Vrei interpretabilitate (coeficientii arata impactul fiecărui feature).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9" name="Google Shape;1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/>
          <p:nvPr/>
        </p:nvSpPr>
        <p:spPr>
          <a:xfrm>
            <a:off x="223852" y="1259000"/>
            <a:ext cx="47958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Funcția de Cost – Log Loss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Formula: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Interpretare: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y=1 și p mare → cost mic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Dacă y=0 și p mare → penalizare mare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3627" y="611648"/>
            <a:ext cx="4711500" cy="266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85" name="Google Shape;185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8163" y="2924863"/>
            <a:ext cx="3438600" cy="504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1" name="Google Shape;1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/>
          <p:nvPr/>
        </p:nvSpPr>
        <p:spPr>
          <a:xfrm>
            <a:off x="223852" y="1259000"/>
            <a:ext cx="47958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Antrenarea Modelului (gradient)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Pași: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Inițializează </a:t>
            </a:r>
            <a:r>
              <a:rPr b="1" i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parametrii</a:t>
            </a:r>
            <a:endParaRPr b="1" i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Calculează </a:t>
            </a:r>
            <a:r>
              <a:rPr b="1" i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</a:t>
            </a:r>
            <a:endParaRPr b="1" i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Evaluează </a:t>
            </a:r>
            <a:r>
              <a:rPr b="1" i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loss</a:t>
            </a:r>
            <a:endParaRPr b="1" i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Actualizează </a:t>
            </a:r>
            <a:r>
              <a:rPr b="1" i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param := param - lr * derivata</a:t>
            </a:r>
            <a:endParaRPr b="1" i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Repetă până la convergență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1" name="Google Shape;2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8"/>
          <p:cNvSpPr/>
          <p:nvPr/>
        </p:nvSpPr>
        <p:spPr>
          <a:xfrm>
            <a:off x="223852" y="1259000"/>
            <a:ext cx="47958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Exemple de Aplicare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Email: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spam / not spam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Tranzacții online: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legitime / problematice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Medicină: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tumoare malignă / benignă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1" name="Google Shape;2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3" name="Google Shape;21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/>
          <p:nvPr/>
        </p:nvSpPr>
        <p:spPr>
          <a:xfrm>
            <a:off x="223852" y="1259000"/>
            <a:ext cx="47958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4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Concluzii logistic regression binar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Logistic Regression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= model simplu, interpretabil.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Bun pentru clasificare binară.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Limite: nu funcționează bine pe date foarte complexe sau non-lineare.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1" name="Google Shape;2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0"/>
          <p:cNvSpPr/>
          <p:nvPr/>
        </p:nvSpPr>
        <p:spPr>
          <a:xfrm>
            <a:off x="223852" y="1259000"/>
            <a:ext cx="47958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4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Logistic Regression multi-class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One vs Rest</a:t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trebuie sa calculeze o probabilitate pe fiecare clasă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Exemplu - dacă avem 3 clase (A, B, C)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■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1 - A vs (B+C)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■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2 - B vs (A+C)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■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3 - C vs (A+B)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Fiecare produce o probabilitate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 pA​,pB​,pC,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iar modelul alege clasa cu probabilitatea cea mai mare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1" name="Google Shape;23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1"/>
          <p:cNvSpPr/>
          <p:nvPr/>
        </p:nvSpPr>
        <p:spPr>
          <a:xfrm>
            <a:off x="223852" y="1259000"/>
            <a:ext cx="47958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4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Logistic Regression multi-class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Exemplu</a:t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P(A) = 0.6   P(B) = 0.4   P(C) = 0.2  →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A câștigă</a:t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○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La nivel de cod, doar adăugăm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-&gt;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LogisticRegression(multi_class='auto')</a:t>
            </a: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 </a:t>
            </a:r>
            <a:r>
              <a:rPr b="1"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# default = OvR</a:t>
            </a:r>
            <a:endParaRPr b="1"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1" name="Google Shape;2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2"/>
          <p:cNvSpPr/>
          <p:nvPr/>
        </p:nvSpPr>
        <p:spPr>
          <a:xfrm>
            <a:off x="223852" y="1259000"/>
            <a:ext cx="47958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4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Logistic Regression multi-class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●"/>
            </a:pPr>
            <a:r>
              <a:rPr b="1" lang="en-GB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Softmax</a:t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○"/>
            </a:pP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În </a:t>
            </a:r>
            <a:r>
              <a:rPr b="1" lang="en-GB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multinomial logistic regression (softmax)</a:t>
            </a: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, vrem ca modelul să spună: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○"/>
            </a:pP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“Care este probabilitatea ca exemplul 𝑥 să aparțină fiecărei clase dintre mai multe?”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○"/>
            </a:pPr>
            <a:r>
              <a:rPr b="1" lang="en-GB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Exemplu</a:t>
            </a: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ai 3 clase → floare A, floare B, floare C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○"/>
            </a:pP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Modelul ar prezice: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○"/>
            </a:pP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P(A) = 0.7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○"/>
            </a:pP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P(B) = 0.2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○"/>
            </a:pP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P(C) = 0.1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400"/>
              <a:buFont typeface="Asap"/>
              <a:buChar char="○"/>
            </a:pPr>
            <a:r>
              <a:rPr b="1" lang="en-GB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Toate sumează 1 → adică modelul e sigur 70% că e floare A.</a:t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1" name="Google Shape;2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3" name="Google Shape;25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/>
          <p:cNvSpPr/>
          <p:nvPr/>
        </p:nvSpPr>
        <p:spPr>
          <a:xfrm>
            <a:off x="223852" y="1259000"/>
            <a:ext cx="47958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4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Logistic Regression multi-class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Softmax</a:t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ap"/>
              <a:buChar char="●"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x </a:t>
            </a: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- feature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ap"/>
              <a:buChar char="●"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k</a:t>
            </a: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- clasa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ap"/>
              <a:buChar char="●"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P(y=k | x)</a:t>
            </a: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 - probabilitatea pentru fiecare 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</a:t>
            </a:r>
            <a:r>
              <a:rPr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lasă k</a:t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56" name="Google Shape;256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0738" y="1829539"/>
            <a:ext cx="4924500" cy="146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57" name="Google Shape;257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9175" y="3473099"/>
            <a:ext cx="7105800" cy="155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3" name="Google Shape;2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4"/>
          <p:cNvSpPr/>
          <p:nvPr/>
        </p:nvSpPr>
        <p:spPr>
          <a:xfrm>
            <a:off x="223852" y="1259000"/>
            <a:ext cx="47958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4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Logistic Regression multi-class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      </a:t>
            </a:r>
            <a:r>
              <a:rPr b="1" lang="en-GB" sz="17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Softmax vs OvR</a:t>
            </a:r>
            <a:endParaRPr b="1" sz="17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68" name="Google Shape;26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1722" y="1939322"/>
            <a:ext cx="5500200" cy="2969400"/>
          </a:xfrm>
          <a:prstGeom prst="roundRect">
            <a:avLst>
              <a:gd fmla="val 793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4" name="Google Shape;2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5"/>
          <p:cNvSpPr/>
          <p:nvPr/>
        </p:nvSpPr>
        <p:spPr>
          <a:xfrm>
            <a:off x="223838" y="1258999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26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Recap - introducere în ML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ML = </a:t>
            </a:r>
            <a:r>
              <a:rPr b="1" lang="en-GB" sz="15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folosirea datelor pentru a prezice comportamente, clase sau valori.</a:t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Etapele unui model ML: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Colectare și curățare date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Explorare și selecție de feature-uri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Alegerea și antrenarea algoritmului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Evaluare și ajustare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CCCCC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1145125" y="3835400"/>
            <a:ext cx="169200" cy="3387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FFFF01"/>
          </a:solidFill>
          <a:ln cap="flat" cmpd="sng" w="9525">
            <a:solidFill>
              <a:srgbClr val="FFF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5" name="Google Shape;2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48" cy="3332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5800725" cy="2681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67138"/>
            <a:ext cx="4367213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8313" y="428625"/>
            <a:ext cx="3286125" cy="428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" name="Google Shape;290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6"/>
          <p:cNvSpPr/>
          <p:nvPr/>
        </p:nvSpPr>
        <p:spPr>
          <a:xfrm>
            <a:off x="1314450" y="2338388"/>
            <a:ext cx="362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53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1033463" y="3890963"/>
            <a:ext cx="414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