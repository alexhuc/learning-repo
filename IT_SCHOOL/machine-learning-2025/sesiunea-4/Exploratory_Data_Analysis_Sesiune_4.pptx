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Asap SemiBold"/>
      <p:regular r:id="rId33"/>
      <p:bold r:id="rId34"/>
      <p:italic r:id="rId35"/>
      <p:boldItalic r:id="rId36"/>
    </p:embeddedFont>
    <p:embeddedFont>
      <p:font typeface="Asap"/>
      <p:regular r:id="rId37"/>
      <p:bold r:id="rId38"/>
      <p:italic r:id="rId39"/>
      <p:boldItalic r:id="rId40"/>
    </p:embeddedFont>
    <p:embeddedFont>
      <p:font typeface="Asap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-boldItalic.fntdata"/><Relationship Id="rId20" Type="http://schemas.openxmlformats.org/officeDocument/2006/relationships/slide" Target="slides/slide15.xml"/><Relationship Id="rId42" Type="http://schemas.openxmlformats.org/officeDocument/2006/relationships/font" Target="fonts/AsapMedium-bold.fntdata"/><Relationship Id="rId41" Type="http://schemas.openxmlformats.org/officeDocument/2006/relationships/font" Target="fonts/AsapMedium-regular.fntdata"/><Relationship Id="rId22" Type="http://schemas.openxmlformats.org/officeDocument/2006/relationships/slide" Target="slides/slide17.xml"/><Relationship Id="rId44" Type="http://schemas.openxmlformats.org/officeDocument/2006/relationships/font" Target="fonts/Asap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Asap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sapSemiBold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sapSemiBold-italic.fntdata"/><Relationship Id="rId12" Type="http://schemas.openxmlformats.org/officeDocument/2006/relationships/slide" Target="slides/slide7.xml"/><Relationship Id="rId34" Type="http://schemas.openxmlformats.org/officeDocument/2006/relationships/font" Target="fonts/AsapSemiBold-bold.fntdata"/><Relationship Id="rId15" Type="http://schemas.openxmlformats.org/officeDocument/2006/relationships/slide" Target="slides/slide10.xml"/><Relationship Id="rId37" Type="http://schemas.openxmlformats.org/officeDocument/2006/relationships/font" Target="fonts/Asap-regular.fntdata"/><Relationship Id="rId14" Type="http://schemas.openxmlformats.org/officeDocument/2006/relationships/slide" Target="slides/slide9.xml"/><Relationship Id="rId36" Type="http://schemas.openxmlformats.org/officeDocument/2006/relationships/font" Target="fonts/Asap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Asap-italic.fntdata"/><Relationship Id="rId16" Type="http://schemas.openxmlformats.org/officeDocument/2006/relationships/slide" Target="slides/slide11.xml"/><Relationship Id="rId38" Type="http://schemas.openxmlformats.org/officeDocument/2006/relationships/font" Target="fonts/Asap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Numerica: age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Categorica: gender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a169536a0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8a169536a0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g38a169536a0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Bun pentru detectat outlieri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a169536a0_0_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8a169536a0_0_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Bun pentru a intelege forma detaliata a distributiei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g38a169536a0_0_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a169536a0_0_2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8a169536a0_0_2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Cand folosim fiecare valoare?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Media- date numerice si continue, ex. Venit, greutate, varsta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Mediana-pret locuinta, venit lunar, varsta persoane intr-un spital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Moda-gen persoane, tipul unei masini,nivel de educatie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g38a169536a0_0_2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Corelația ne spune cât de mult se mișcă două variabile una cu cealaltă.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Dacă, pe măsură ce una crește, cealaltă tinde să crească, avem corelație pozitivă.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Dacă una crește și cealaltă scade, avem corelație negativă. Un scor aproape de 0 sugerează că nu există o relație liniară evidentă — dar atenție, pot exista relații pe care coeficientul de corelație simplu nu le vede.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98d308e04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898d308e04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85" name="Google Shape;185;g3898d308e04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98d308e04_0_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898d308e04_0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Corelatia Sperman masoara relatia monotonica dintre 2 variabile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Adica cum scad / cresc una fata de cealalta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Nu ne intereseaza neaparat valorile absolute, direct proportionale - ex. Daca cineva invata 4 ore si ia 60 pct, dar altcineva invata 6 ore si ia 70 pct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=&gt; punctele cresc cu nr de ore investite, dar nu proportional. 2 ore extra e 50% la nr de ore, dar punctele n-au crescut si ele cu 50%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g3898d308e04_0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a169536a0_0_3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a169536a0_0_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g38a169536a0_0_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Matplotlib și Seaborn fac grafice statice – bune pentru rapoarte sau PDF-uri. Dar atunci când vrem să explorăm datele activ, ne ajută interactivitatea. Cu Plotly, putem trece cu mouse-ul peste un punct și vedem exact valorile lui, putem face zoom într-o zonă aglomerată și putem filtra sau selecta subgrupuri. Acest lucru e foarte valoros în EDA, mai ales când vrem să înțelegem rapid anomalii sau să prezentăm date către non-tehnici.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9" name="Google Shape;269;p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Plotly Express este un API simplu peste Plotly, care ne permite să facem grafice interactive foarte rapid. Putem genera histograme, scatter plots, boxplots cu doar o linie de cod. Diferența majoră față de Seaborn sau Matplotlib este că aici graficele sunt interactive: putem face hover, zoom sau export direct. Acest lucru e foarte util atunci când explorăm datele live sau prezentăm rezultate colegilor.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9" name="Google Shape;279;p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Un pas natural după grafice interactive este să construim un dashboard. Plotly are o componentă numită Dash, dar chiar și cu Plotly Express putem aranja mai multe figuri împreună. Acest lucru transformă EDA într-un proces colaborativ: stakeholderii pot explora singuri datele, pot da zoom sau filtra fără să scriem noi zeci de grafice. Astfel, EDA devine nu doar o unealtă pentru noi, ci și o modalitate de comunicare vizuală.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p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2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35"/>
            <a:ext cx="8006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3000" u="none" cap="none" strike="noStrike">
                <a:solidFill>
                  <a:schemeClr val="accent6"/>
                </a:solidFill>
                <a:latin typeface="Asap SemiBold"/>
                <a:ea typeface="Asap SemiBold"/>
                <a:cs typeface="Asap SemiBold"/>
                <a:sym typeface="Asap SemiBold"/>
              </a:rPr>
              <a:t>Exploratory Data Analysis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EDA</a:t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este EDA – scop și importanță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Tipuri de variabile – numerice și categorice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Distribuția datelor – histogramă, boxplot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Statistici de bază – medie, mediană, mod, outlieri, variabilitate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Corelație – Pearson, Spearman, diferența față de cauzalitate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Vizualizări – Matplotlib, Seaborn, Plotly (statice și interactive)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300"/>
              <a:buFont typeface="Asap"/>
              <a:buChar char="➔"/>
            </a:pPr>
            <a:r>
              <a:rPr lang="en-GB" sz="1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Concluzii – bune practici, capcane, storytelling</a:t>
            </a:r>
            <a:endParaRPr sz="12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 in EDA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3850" y="1854500"/>
            <a:ext cx="75954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este EDA și de ce contează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EDA = Exploratory Data Analysis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👀 Prima explorare a datelor → „înțelege ce ai înainte să modelezi”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🧭 Ne ajută să găsim patternuri, outlieri, probleme de calitate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 in EDA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23850" y="1854500"/>
            <a:ext cx="75954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este o variabilă?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🟦 Variabilă numerică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🟩 Variabilă categorică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🗂️ Fiecare coloană dintr-un DataFrame = o variabilă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👤 Fiecare rând = o observație (o persoană, un obiect, un eveniment)</a:t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 in EDA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Distribuția datelor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Distribuție = cum se „împrăștie” valorile unei variabile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🧱 Histogramă → grupăm valorile în intervale (bins) și numărăm frecvența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Exemple: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Vârstele într-o clasă de elevi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Salariile intr-o companie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Lungimea petalelor de flori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3649" y="156800"/>
            <a:ext cx="3576300" cy="279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Vizualizări avansate cu Seaborn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Distribuții netezite (KDE)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Histogramă = împărțim datele în intervale (bins)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🌊 KDE (Kernel Density Estimation) = o curbă netedă peste histogramă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🔍 Intuiție: „în loc să văd doar bare, văd o linie fluidă care arată unde se concentrează valorile”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Util: mai ușor de comparat distribuții între grupuri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175" y="204200"/>
            <a:ext cx="3679800" cy="270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Boxplot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Variabilitate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📦 Boxplot → arată mediană, quartile, outlieri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Mediană - linia din interiorul cutiei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Q1 (25%), Q3 (75%) - marginile cutiei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Q3-Q1 = lățimea cutiei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Mustățile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Q1 - 1.5 x (Q3-Q1)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Q3 + 1.5 x (Q3-Q1)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4371" y="322975"/>
            <a:ext cx="4103424" cy="321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Violinplot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Variabilitate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↔️ Range = diferența între valoarea maximă și minimă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🎻 Violinplot → arată forma distribuției (densitatea valorilor)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Util: înțelegem cât de „împrăștiate” sunt valorile într-o coloană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informația dintr-un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boxplot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+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estimare a distribuției datelor (KDE)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36379" y="399500"/>
            <a:ext cx="3515400" cy="27555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Fundamente de statistica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Outlieri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🚨 Outlier = valoare mult diferită fata de restul datelor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📦 Se văd cel mai bine cu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boxplot </a:t>
            </a:r>
            <a:r>
              <a:rPr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sau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scatter plot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💸 Ex: pe Titanic, unii pasageri au plătit bilete extrem de 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scumpe → outlieri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🔍 Importanță: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Pot strica media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Pot semnala erori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Pot semnala cazuri speciale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8750" y="210400"/>
            <a:ext cx="3495000" cy="353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Fundamente de statistica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Tendința centrală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➗ Mean (media)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📍 Median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🔁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Moda / mode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1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Cand folosim media, mediana, moda?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223875" y="3195908"/>
            <a:ext cx="7595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MEDIA</a:t>
            </a:r>
            <a:endParaRPr b="1" sz="11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sap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sunt simetric distribuite (fără outlieri semnificativi, fara distributie asimetrica).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sap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Variabila este numerică și continuă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MEDIANA</a:t>
            </a:r>
            <a:endParaRPr b="1" sz="11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sunt asimetric distribuite.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Există outlieri (valori extreme).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Vrei o măsură mai robustă (rezistentă) decât media.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MODA (MODE)</a:t>
            </a:r>
            <a:endParaRPr b="1" sz="11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Variabila este categorică (ex: „masculin/feminin”, „da/nu”, „culoare: roșu/albastru”)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Sau variabila numerică este discretă și cu multe repetiții (ex: număr de copii, nota pe o scară de la 1 la 5).</a:t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Fundamente de statistica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Corelatie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Corelație = cât de mult „merg împreună” două variabile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🤝 Intuiție: „când crește una, crește și cealaltă?” (pozitivă) / „când crește una, scade cealaltă?” (negativă)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🟡 0 ≈ fără relație liniară (pot exista relații non-liniare)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🖼️ Exemple: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Age vs Fare (Titanic) → nu există o relație clară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Inaltime vs Greutate → relație pozitivă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6875" y="322975"/>
            <a:ext cx="3362400" cy="23817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Corelatie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</a:t>
            </a:r>
            <a:r>
              <a:rPr b="1" lang="en-GB" sz="2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earson</a:t>
            </a:r>
            <a:endParaRPr b="1" i="0" sz="2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Cea mai comuna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Masoara relatia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liniara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intre 2 variabile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4863" y="581900"/>
            <a:ext cx="572452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3178" y="3143250"/>
            <a:ext cx="3284325" cy="10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Corelatie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22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Spearman</a:t>
            </a:r>
            <a:endParaRPr b="1" i="0" sz="2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Masoara relatia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monotonica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dintre 2 variabile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=&gt; cum creste / scade X in functie de Y,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 trebuie sa fie direct proportionale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Este utila daca: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sunt distribuite normal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outlieri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6347" y="437200"/>
            <a:ext cx="361950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Heatmap de valori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7499" y="1775787"/>
            <a:ext cx="5249650" cy="33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Fundamente de statistica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Corelatie vs Cauzalitate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🔗 Corelație: două variabile „se mișcă împreună”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⚠️ NU înseamnă automat că una o cauzează pe cealaltă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🍦 Înghețată vs Înecuri: cresc împreună vara → temperatura (factor ascuns) e cauza comună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Seaborn vs Matplotlib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223850" y="1854500"/>
            <a:ext cx="87831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Seaborn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Usor de folosit pentru grafice complexe si estetice (histograme, boxplot, scatter)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Integrare directa cu pandas dataframe (sns.histplot(df[“Age”])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Matplotlib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Controleaza figura, axele si permite adaugarea de elemente suplimentare (linii, texte, legende)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 foloseste pentru ajustari fine si pentru personalizare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2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Vizualizări avansate cu Seaborn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Vizualizări bivariate (lmplot – regresie liniară)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🔗 Bivariate = relația între două variabile numerice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📉 Regresie liniară = linia care „se potrivește cel mai bine” printre puncte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🖼️ sns.lmplot = scatter plot + linie de regresie automată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Util: ne arată dacă există o tendință generală (crește una când crește cealaltă?)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0" name="Google Shape;2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Vizualizări avansate cu Seaborn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Vizualizări categorice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👥 Scop: comparăm o variabilă numerică între grupuri (categorii)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📦 Boxplot → rapid pentru mediană + intervale între categorii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🎻 Violinplot → arată și forma distribuției pentru fiecare categorie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🐝 Swarmplot → fiecare punct vizibil; util pentru seturi mici sau când vrem să vedem toate observațiile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Intuiție: alegem tipul de grafic în funcție de nivelul de detaliu dorit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Vizualizări avansate cu Seaborn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Vizualizări multivariate (pairplot)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🔗 Multivariate = analizăm mai multe variabile numerice simultan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📐 Pairplot = matrice de scatter plots pentru fiecare pereche de variabile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Util: descoperim patternuri globale, clustere și relații ascunse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🧩 Bonus: putem colora punctele după o categorie (hue)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65" name="Google Shape;26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2000" y="611451"/>
            <a:ext cx="3773700" cy="18906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5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Plotly – vizualizări interactive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 ce interactive?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🖱️ Hover – vezi detalii pentru fiecare punct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🔍 Zoom – explorezi zone mici din date fără să refaci graficul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🎚️ Filtre &amp; selectare – alegi subgrupuri direct pe grafic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Util: descoperirea outlierilor și storytelling pentru stakeholderi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1" name="Google Shape;28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Plotly – vizualizări interactive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Plotly Express – tipuri de grafice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Histograme interactive – poți ajusta bins, zoom și hover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📈 Scatter plots interactive – vezi detalii pentru fiecare punct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📦 Boxplots interactive – poți compara distribuții cu tooltips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Avantaj: un singur grafic → folosit atât pentru explorare, cât și pentru prezentări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1" name="Google Shape;29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3" name="Google Shape;29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7"/>
          <p:cNvSpPr/>
          <p:nvPr/>
        </p:nvSpPr>
        <p:spPr>
          <a:xfrm>
            <a:off x="223863" y="1259000"/>
            <a:ext cx="8010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Plotly – vizualizări interactive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223850" y="1854500"/>
            <a:ext cx="75954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Dashboards exploratorii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🖼️ Putem combina mai multe grafice în aceeași aplicație interactivă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📑 Exemplu: un mic dashboard cu histograme + scatter + boxplots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Util: storytelling pentru stakeholderi → fiecare poate interacționa cu datele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50" y="1203150"/>
            <a:ext cx="8797949" cy="394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8"/>
          <p:cNvSpPr txBox="1"/>
          <p:nvPr/>
        </p:nvSpPr>
        <p:spPr>
          <a:xfrm>
            <a:off x="346050" y="856875"/>
            <a:ext cx="225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22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CONCLUZII</a:t>
            </a:r>
            <a:endParaRPr b="1" i="0" sz="17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506510" y="1391128"/>
            <a:ext cx="7708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am învățat:</a:t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 învățat ca  EDA (Exploratory Data Analysis) este mereu primul pas înainte de modele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 explorat: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Variabile numerice și categorice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Distribuții, tendință centrală, outlieri, variabilitate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Relații între variabile: corelație, cauzalitate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 folosit: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Matplotlib pentru control in detaliu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Seaborn pentru vizualizări statistice rapide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Plotly pentru explorare interactivă</a:t>
            </a:r>
            <a:endParaRPr b="0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9" name="Google Shape;3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50" y="1203150"/>
            <a:ext cx="8797949" cy="394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346050" y="856875"/>
            <a:ext cx="225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22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CONCLUZII</a:t>
            </a:r>
            <a:endParaRPr b="1" i="0" sz="17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1" name="Google Shape;311;p39"/>
          <p:cNvSpPr txBox="1"/>
          <p:nvPr/>
        </p:nvSpPr>
        <p:spPr>
          <a:xfrm>
            <a:off x="506510" y="1391128"/>
            <a:ext cx="7708800" cy="3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ar trebui sa facem mereu pentru o explorare de calitate?</a:t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Întotdeauna verificăm distribuțiile și outlierii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Folosim mereu mai multe tipuri de vizualizări pentru aceeași întrebare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730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7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Combinăm statistici numerice + grafice → imagine completă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Ținem cont de segmente (ex: Sex, Pclass pe Titanic)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Ne punem mereu întrebări simple: „Are sens?” „E logic cu contextul?”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7" name="Google Shape;31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50" y="1203150"/>
            <a:ext cx="8797949" cy="394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 txBox="1"/>
          <p:nvPr/>
        </p:nvSpPr>
        <p:spPr>
          <a:xfrm>
            <a:off x="346050" y="856875"/>
            <a:ext cx="225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22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CONCLUZII</a:t>
            </a:r>
            <a:endParaRPr b="1" i="0" sz="17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506510" y="1391128"/>
            <a:ext cx="7708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 ce capcane sa ne ferim, si ce poveste putem spune?</a:t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Corelație ≠ Cauzalitate – două lucruri pot varia împreună fără să se influențeze direct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Simpson’s paradox – o tendință globală poate dispărea sau se poate inversa pe subgrupuri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●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Storytelling cu date: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Simplifică pentru audiență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Scoate în față insightul, nu doar graficul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540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</a:pPr>
            <a:r>
              <a:rPr b="0" i="0" lang="en-GB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Folosește comparații și exemple concrete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5" name="Google Shape;3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