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Asap SemiBold"/>
      <p:regular r:id="rId21"/>
      <p:bold r:id="rId22"/>
      <p:italic r:id="rId23"/>
      <p:boldItalic r:id="rId24"/>
    </p:embeddedFont>
    <p:embeddedFont>
      <p:font typeface="Asap"/>
      <p:regular r:id="rId25"/>
      <p:bold r:id="rId26"/>
      <p:italic r:id="rId27"/>
      <p:boldItalic r:id="rId28"/>
    </p:embeddedFont>
    <p:embeddedFont>
      <p:font typeface="Asap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AsapSemiBold-bold.fntdata"/><Relationship Id="rId21" Type="http://schemas.openxmlformats.org/officeDocument/2006/relationships/font" Target="fonts/AsapSemiBold-regular.fntdata"/><Relationship Id="rId24" Type="http://schemas.openxmlformats.org/officeDocument/2006/relationships/font" Target="fonts/AsapSemiBold-boldItalic.fntdata"/><Relationship Id="rId23" Type="http://schemas.openxmlformats.org/officeDocument/2006/relationships/font" Target="fonts/Asap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sap-bold.fntdata"/><Relationship Id="rId25" Type="http://schemas.openxmlformats.org/officeDocument/2006/relationships/font" Target="fonts/Asap-regular.fntdata"/><Relationship Id="rId28" Type="http://schemas.openxmlformats.org/officeDocument/2006/relationships/font" Target="fonts/Asap-boldItalic.fntdata"/><Relationship Id="rId27" Type="http://schemas.openxmlformats.org/officeDocument/2006/relationships/font" Target="fonts/Asap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sap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sapMedium-italic.fntdata"/><Relationship Id="rId30" Type="http://schemas.openxmlformats.org/officeDocument/2006/relationships/font" Target="fonts/Asap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Asap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3680745a7_0_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a3680745a7_0_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a3680745a7_0_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3680745a7_0_1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a3680745a7_0_1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a3680745a7_0_1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3680745a7_0_6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a3680745a7_0_6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➡️ FN - are un defect real, dar modelul nu il vede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" name="Google Shape;109;g3a3680745a7_0_6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3790816a0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a3790816a0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➡️ FP - Furie fals detectată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g3a3790816a0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3790816a0_0_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a3790816a0_0_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➡️ FN - afecțiune prezentă, modelul o ratează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9" name="Google Shape;129;g3a3790816a0_0_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3790816a0_0_1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a3790816a0_0_1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➡️ FP - modelul alarmeaza ceva ce nu e adevarat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9" name="Google Shape;139;g3a3790816a0_0_1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3790816a0_0_27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a3790816a0_0_27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➡️ TN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" name="Google Shape;149;g3a3790816a0_0_27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3790816a0_0_4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a3790816a0_0_4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" name="Google Shape;159;g3a3790816a0_0_4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3790816a0_0_56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a3790816a0_0_56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" name="Google Shape;170;g3a3790816a0_0_56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3790816a0_0_89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a3790816a0_0_89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" name="Google Shape;182;g3a3790816a0_0_89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38bb5e2ac_0_1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a38bb5e2ac_0_1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3" name="Google Shape;193;g3a38bb5e2ac_0_1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38bb5e2ac_0_2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a38bb5e2ac_0_2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a38bb5e2ac_0_2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" name="Google Shape;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8401051" cy="2681288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9000000" dist="14287">
              <a:srgbClr val="313CFF">
                <a:alpha val="89411"/>
              </a:srgbClr>
            </a:outerShdw>
          </a:effectLst>
        </p:spPr>
      </p:pic>
      <p:pic>
        <p:nvPicPr>
          <p:cNvPr descr="preencoded.png" id="61" name="Google Shape;6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9880" y="3767138"/>
            <a:ext cx="3562350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909638" y="1538288"/>
            <a:ext cx="7938000" cy="19908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313CFF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47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Machine Learning </a:t>
            </a:r>
            <a:endParaRPr b="1" i="0" sz="47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  <a:p>
            <a:pPr indent="-342900" lvl="0" marL="342900" marR="0" rtl="0" algn="ctr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sap"/>
              <a:buChar char="-"/>
            </a:pPr>
            <a:r>
              <a:rPr b="1" i="0" lang="en-GB" sz="38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curs - </a:t>
            </a:r>
            <a:endParaRPr b="1" i="0" sz="3800" u="none" cap="none" strike="noStrike">
              <a:solidFill>
                <a:srgbClr val="FFFFFF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1037155" y="3914250"/>
            <a:ext cx="27861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— Sesiunea </a:t>
            </a:r>
            <a:r>
              <a:rPr lang="en-GB" sz="2400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13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909650" y="2980023"/>
            <a:ext cx="80673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i="1" lang="en-GB" sz="3000">
                <a:solidFill>
                  <a:srgbClr val="FFFF01"/>
                </a:solidFill>
                <a:latin typeface="Asap SemiBold"/>
                <a:ea typeface="Asap SemiBold"/>
                <a:cs typeface="Asap SemiBold"/>
                <a:sym typeface="Asap SemiBold"/>
              </a:rPr>
              <a:t>Confusion Matrix &amp; Gradient Boosting</a:t>
            </a:r>
            <a:endParaRPr b="0" i="1" sz="3000" u="none" cap="none" strike="noStrike">
              <a:solidFill>
                <a:srgbClr val="FFFF01"/>
              </a:solidFill>
              <a:latin typeface="Asap SemiBold"/>
              <a:ea typeface="Asap SemiBold"/>
              <a:cs typeface="Asap SemiBold"/>
              <a:sym typeface="Asap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080113"/>
            <a:ext cx="7244700" cy="4063200"/>
          </a:xfrm>
          <a:prstGeom prst="round2SameRect">
            <a:avLst>
              <a:gd fmla="val 8143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preencoded.png" id="73" name="Google Shape;7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133631" y="1238588"/>
            <a:ext cx="6280500" cy="3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GB" sz="26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Gradient Boosting</a:t>
            </a:r>
            <a:endParaRPr b="1" sz="26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TPs / FNs / FPs / TNs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247650" lvl="0" marL="254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➔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Gradient Boosting algorithm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860218" y="683655"/>
            <a:ext cx="2278800" cy="3288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7800000" dist="14287">
              <a:srgbClr val="000000">
                <a:alpha val="2039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i="0" lang="en-GB" sz="2600" u="none" cap="none" strike="noStrike">
                <a:solidFill>
                  <a:srgbClr val="4A86E8"/>
                </a:solidFill>
                <a:latin typeface="Asap"/>
                <a:ea typeface="Asap"/>
                <a:cs typeface="Asap"/>
                <a:sym typeface="Asap"/>
              </a:rPr>
              <a:t>SHORT GUIDE</a:t>
            </a:r>
            <a:endParaRPr b="0" i="0" sz="25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2" name="Google Shape;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3" name="Google Shape;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Confusion Matrix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Cele 4 rezultate posibile: 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TP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FP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FN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1500"/>
              <a:buFont typeface="Asap"/>
              <a:buChar char="●"/>
            </a:pPr>
            <a:r>
              <a:rPr lang="en-GB" sz="1500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TN</a:t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86" name="Google Shape;86;p17" title="662c42677529a0f4e97e4f96_644aea65cefe35380f198a5a_class_guide_cm0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1100" y="592475"/>
            <a:ext cx="5395800" cy="303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3" name="Google Shape;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4" name="Google Shape;9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/>
          <p:nvPr/>
        </p:nvSpPr>
        <p:spPr>
          <a:xfrm>
            <a:off x="223851" y="1349325"/>
            <a:ext cx="42234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9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Confusion Matrix</a:t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7275" y="2400288"/>
            <a:ext cx="7153200" cy="2067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3" name="Google Shape;1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23975"/>
            <a:ext cx="9144001" cy="2681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4" name="Google Shape;10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/>
          <p:nvPr/>
        </p:nvSpPr>
        <p:spPr>
          <a:xfrm>
            <a:off x="1314450" y="2338400"/>
            <a:ext cx="44493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lang="en-GB" sz="5300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Quiz time🎉</a:t>
            </a:r>
            <a:endParaRPr b="0" i="0" sz="5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2" name="Google Shape;1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" name="Google Shape;11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Quiz time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Detectare defecte în fabricație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Un model trebuie să detecteze dacă o piesă este defectă. 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Întrebare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O piesă este </a:t>
            </a:r>
            <a:r>
              <a:rPr i="1"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defectă</a:t>
            </a: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, dar modelul o clasifică drept </a:t>
            </a: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bună</a:t>
            </a: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. 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2" name="Google Shape;1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3" name="Google Shape;1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Quiz time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Detectare emoții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Modelul detectează dacă o persoană vorbește cu furie.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Întrebare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În înregistrare </a:t>
            </a:r>
            <a:r>
              <a:rPr i="1"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nu există furie</a:t>
            </a: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, dar modelul spune </a:t>
            </a: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furie detectată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1" name="Google Shape;1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2" name="Google Shape;1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3" name="Google Shape;13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Quiz time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Detectare pneumonie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Modelul clasifică radiografiile ca </a:t>
            </a: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pneumonie </a:t>
            </a: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sau </a:t>
            </a: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fără pneumonie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Întrebare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Pe radiografie e </a:t>
            </a:r>
            <a:r>
              <a:rPr i="1"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pneumonie</a:t>
            </a: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, dar modelul o ratează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1" name="Google Shape;1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Quiz time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Detectare clienți cu risc să plece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Modelul detectează va pleca / nu va pleca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Întrebare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Clientul </a:t>
            </a:r>
            <a:r>
              <a:rPr i="1"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nu va pleca</a:t>
            </a: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, dar modelul spune că </a:t>
            </a: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va pleca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1" name="Google Shape;1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2" name="Google Shape;1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3" name="Google Shape;15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Quiz time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Detectare logare suspectă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Modelul detectează logări compromise.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Un login din oraș pare dubios, dar e chiar utilizatorul în vacanță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Predicție </a:t>
            </a: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- Nu e atac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Realitate </a:t>
            </a: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- Nu e atac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1" name="Google Shape;1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2" name="Google Shape;1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3" name="Google Shape;16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Gradient Boosting - datele de pornire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Scop</a:t>
            </a: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: să învățăm o funcție 𝐹(𝑥) care să prezică 𝑦 din 𝑥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546" y="1994350"/>
            <a:ext cx="6382800" cy="1812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2" name="Google Shape;1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3" name="Google Shape;17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4" name="Google Shape;17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6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Gradient Boosting - datele de pornire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La </a:t>
            </a: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Gradient Boosting cu MSE</a:t>
            </a: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, modelul inițial este </a:t>
            </a:r>
            <a:r>
              <a:rPr b="1" lang="en-GB">
                <a:solidFill>
                  <a:schemeClr val="lt1"/>
                </a:solidFill>
                <a:latin typeface="Asap"/>
                <a:ea typeface="Asap"/>
                <a:cs typeface="Asap"/>
                <a:sym typeface="Asap"/>
              </a:rPr>
              <a:t>media valorilor lui y </a:t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475" y="2189153"/>
            <a:ext cx="6381000" cy="1755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78" name="Google Shape;178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03074" y="4465075"/>
            <a:ext cx="2295200" cy="43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4" name="Google Shape;18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5" name="Google Shape;18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6" name="Google Shape;18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Gradient Boosting - steps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1️⃣ Inițializare</a:t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• F₀ = media lui y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• Reziduuri: r = y – F₀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2️⃣ Arbore pe reziduuri (stump)</a:t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• Ordonezi punctele după x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• Split-uri posibile = mijlocul între valorile lui x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• Pentru fiecare split: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    – împarți datele în A și B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    – calculezi media reziduurilor în A și B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    – calculezi eroarea totală: (r−μA)² + (r−μB)²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• Alegi split-ul cu eroarea totală minimă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• Arborele prezice μA și μ</a:t>
            </a: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B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4450" y="893875"/>
            <a:ext cx="5607000" cy="1542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5" name="Google Shape;1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8165" y="0"/>
            <a:ext cx="479583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6" name="Google Shape;19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3838" y="1724025"/>
            <a:ext cx="8920163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/>
          <p:nvPr/>
        </p:nvSpPr>
        <p:spPr>
          <a:xfrm>
            <a:off x="223838" y="1367283"/>
            <a:ext cx="4001100" cy="5955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 dir="5400000" dist="14288">
              <a:srgbClr val="000000"/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rPr b="1" lang="en-GB" sz="1800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Gradient Boosting - steps</a:t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18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24898"/>
              </a:lnSpc>
              <a:spcBef>
                <a:spcPts val="0"/>
              </a:spcBef>
              <a:spcAft>
                <a:spcPts val="0"/>
              </a:spcAft>
              <a:buClr>
                <a:srgbClr val="FFFF01"/>
              </a:buClr>
              <a:buSzPts val="3700"/>
              <a:buFont typeface="Asap"/>
              <a:buNone/>
            </a:pPr>
            <a:r>
              <a:t/>
            </a:r>
            <a:endParaRPr b="1" sz="2600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273277" y="1854574"/>
            <a:ext cx="87519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3️⃣ Update model</a:t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• Fₘ = Fₘ₋₁ + ν·hₘ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• Reziduuri noi: r = y – Fₘ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FFFF01"/>
                </a:solidFill>
                <a:latin typeface="Asap"/>
                <a:ea typeface="Asap"/>
                <a:cs typeface="Asap"/>
                <a:sym typeface="Asap"/>
              </a:rPr>
              <a:t>4️⃣ Repeat</a:t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Asap Medium"/>
                <a:ea typeface="Asap Medium"/>
                <a:cs typeface="Asap Medium"/>
                <a:sym typeface="Asap Medium"/>
              </a:rPr>
              <a:t>• Repeți construcția de arbori pe noile reziduuri.</a:t>
            </a:r>
            <a:endParaRPr>
              <a:solidFill>
                <a:schemeClr val="lt1"/>
              </a:solidFill>
              <a:latin typeface="Asap Medium"/>
              <a:ea typeface="Asap Medium"/>
              <a:cs typeface="Asap Medium"/>
              <a:sym typeface="Asap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01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200" name="Google Shape;200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4450" y="893875"/>
            <a:ext cx="5607000" cy="1542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6" name="Google Shape;2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7" name="Google Shape;20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147" y="762000"/>
            <a:ext cx="8589850" cy="33325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950" y="1323975"/>
            <a:ext cx="5800725" cy="26812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9" name="Google Shape;20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767138"/>
            <a:ext cx="4367213" cy="614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0" name="Google Shape;210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48313" y="428625"/>
            <a:ext cx="3286125" cy="428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1" name="Google Shape;211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" y="322985"/>
            <a:ext cx="1066800" cy="51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9"/>
          <p:cNvSpPr/>
          <p:nvPr/>
        </p:nvSpPr>
        <p:spPr>
          <a:xfrm>
            <a:off x="1314450" y="2338388"/>
            <a:ext cx="3629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77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Asap"/>
              <a:buNone/>
            </a:pPr>
            <a:r>
              <a:rPr b="1" i="0" lang="en-GB" sz="5300" u="none" cap="none" strike="noStrike">
                <a:solidFill>
                  <a:srgbClr val="FFFFFF"/>
                </a:solidFill>
                <a:latin typeface="Asap"/>
                <a:ea typeface="Asap"/>
                <a:cs typeface="Asap"/>
                <a:sym typeface="Asap"/>
              </a:rPr>
              <a:t>Thank you :)</a:t>
            </a:r>
            <a:endParaRPr b="0" i="0" sz="5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1033463" y="3890963"/>
            <a:ext cx="41445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625"/>
              </a:lnSpc>
              <a:spcBef>
                <a:spcPts val="0"/>
              </a:spcBef>
              <a:spcAft>
                <a:spcPts val="0"/>
              </a:spcAft>
              <a:buClr>
                <a:srgbClr val="313CFF"/>
              </a:buClr>
              <a:buSzPts val="2400"/>
              <a:buFont typeface="Asap Medium"/>
              <a:buNone/>
            </a:pPr>
            <a:r>
              <a:rPr b="0" i="0" lang="en-GB" sz="2400" u="none" cap="none" strike="noStrike">
                <a:solidFill>
                  <a:srgbClr val="313CFF"/>
                </a:solidFill>
                <a:latin typeface="Asap Medium"/>
                <a:ea typeface="Asap Medium"/>
                <a:cs typeface="Asap Medium"/>
                <a:sym typeface="Asap Medium"/>
              </a:rPr>
              <a:t>Ne vedem la sesiunea viitoare!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