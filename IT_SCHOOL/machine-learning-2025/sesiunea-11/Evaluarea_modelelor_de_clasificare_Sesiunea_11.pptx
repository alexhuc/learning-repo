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Asap SemiBold"/>
      <p:regular r:id="rId27"/>
      <p:bold r:id="rId28"/>
      <p:italic r:id="rId29"/>
      <p:boldItalic r:id="rId30"/>
    </p:embeddedFont>
    <p:embeddedFont>
      <p:font typeface="Asap"/>
      <p:regular r:id="rId31"/>
      <p:bold r:id="rId32"/>
      <p:italic r:id="rId33"/>
      <p:boldItalic r:id="rId34"/>
    </p:embeddedFont>
    <p:embeddedFont>
      <p:font typeface="Asap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sapSemiBold-bold.fntdata"/><Relationship Id="rId27" Type="http://schemas.openxmlformats.org/officeDocument/2006/relationships/font" Target="fonts/Asap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ap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ap-regular.fntdata"/><Relationship Id="rId30" Type="http://schemas.openxmlformats.org/officeDocument/2006/relationships/font" Target="fonts/Asap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Asap-italic.fntdata"/><Relationship Id="rId10" Type="http://schemas.openxmlformats.org/officeDocument/2006/relationships/slide" Target="slides/slide5.xml"/><Relationship Id="rId32" Type="http://schemas.openxmlformats.org/officeDocument/2006/relationships/font" Target="fonts/Asap-bold.fntdata"/><Relationship Id="rId13" Type="http://schemas.openxmlformats.org/officeDocument/2006/relationships/slide" Target="slides/slide8.xml"/><Relationship Id="rId35" Type="http://schemas.openxmlformats.org/officeDocument/2006/relationships/font" Target="fonts/AsapMedium-regular.fntdata"/><Relationship Id="rId12" Type="http://schemas.openxmlformats.org/officeDocument/2006/relationships/slide" Target="slides/slide7.xml"/><Relationship Id="rId34" Type="http://schemas.openxmlformats.org/officeDocument/2006/relationships/font" Target="fonts/Asap-boldItalic.fntdata"/><Relationship Id="rId15" Type="http://schemas.openxmlformats.org/officeDocument/2006/relationships/slide" Target="slides/slide10.xml"/><Relationship Id="rId37" Type="http://schemas.openxmlformats.org/officeDocument/2006/relationships/font" Target="fonts/AsapMedium-italic.fntdata"/><Relationship Id="rId14" Type="http://schemas.openxmlformats.org/officeDocument/2006/relationships/slide" Target="slides/slide9.xml"/><Relationship Id="rId36" Type="http://schemas.openxmlformats.org/officeDocument/2006/relationships/font" Target="fonts/Asap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Asap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037e2722_0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9f037e2722_0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f037e2722_0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14efa0161_0_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a14efa0161_0_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14efa0161_0_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037e2722_0_1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f037e2722_0_1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f037e2722_0_1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4efa0161_0_2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14efa0161_0_2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14efa0161_0_2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4efa0161_0_4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14efa0161_0_4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14efa0161_0_4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14efa0161_0_5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a14efa0161_0_5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14efa0161_0_5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14efa0161_0_6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a14efa0161_0_6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14efa0161_0_6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4efa0161_0_9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a14efa0161_0_9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14efa0161_0_9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4efa0161_0_8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a14efa0161_0_8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14efa0161_0_8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14efa0161_0_11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a14efa0161_0_11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14efa0161_0_11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14efa0161_0_10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a14efa0161_0_10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➡️ Prioritizăm: Recall (vrem să prindem toate cazurile reale)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a14efa0161_0_10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14efa0161_0_13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a14efa0161_0_13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➡️ </a:t>
            </a:r>
            <a:r>
              <a:rPr b="1" lang="en-GB">
                <a:solidFill>
                  <a:schemeClr val="dk1"/>
                </a:solidFill>
              </a:rPr>
              <a:t>Prioritizăm: Precision</a:t>
            </a:r>
            <a:r>
              <a:rPr lang="en-GB">
                <a:solidFill>
                  <a:schemeClr val="dk1"/>
                </a:solidFill>
              </a:rPr>
              <a:t> (vrem ca atunci când zicem “spam”, să fim siguri)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14efa0161_0_13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14efa0161_0_14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a14efa0161_0_14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➡️ Recall (nu vrem să ratăm cazuri pozitive)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14efa0161_0_14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14efa0161_0_15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a14efa0161_0_15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➡️ Precision (vrem ca “aprobările” să fie sigure)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14efa0161_0_15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14efa0161_0_16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a14efa0161_0_16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➡️ </a:t>
            </a:r>
            <a:r>
              <a:rPr b="1" lang="en-GB">
                <a:solidFill>
                  <a:schemeClr val="dk1"/>
                </a:solidFill>
              </a:rPr>
              <a:t>Recall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14efa0161_0_16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14efa0161_0_17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a14efa0161_0_17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➡️ Depinde de politica platformei: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siguranță publică → Recall,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libertate de exprimare → Precision.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14efa0161_0_17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14efa0161_0_18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a14efa0161_0_18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➡️ În medii de securitate → Recall,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👉 dar dacă afectează productivitatea → Precision.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14efa0161_0_18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4efa0161_0_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a14efa0161_0_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https://developers.google.com/machine-learning/crash-course/classification/accuracy-precision-recall</a:t>
            </a:r>
            <a:endParaRPr/>
          </a:p>
        </p:txBody>
      </p:sp>
      <p:sp>
        <p:nvSpPr>
          <p:cNvPr id="268" name="Google Shape;268;g3a14efa0161_0_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1" lang="en-GB" sz="3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Evaluarea modelelor de clasificare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Mastering Regression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Precizie, recall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Confusion matrix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Curba ROC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39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38" y="1349335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🧠 Cum știm dacă un model e bun?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model nu e bun doar pentru că are „acuratețe mare”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Trebuie să știm unde greșește și ce tip de greșeli face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Punctul de plecare: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Confusion Matrix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Confusion Matrix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Cele 4 rezultate posibile: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TP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FP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FN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TN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96" name="Google Shape;96;p18" title="662c42677529a0f4e97e4f96_644aea65cefe35380f198a5a_class_guide_cm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7600" y="839075"/>
            <a:ext cx="5395800" cy="303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223838" y="1353748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🎯 De ce folosim Confusion Matrix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✅ Ne arată ce tipuri de greșeli face modelul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✅ Ne ajută să decidem ce contează mai mult – FP sau FN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✅ Este baza tuturor metodelor de evaluare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Precision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Formula: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Precision = TP / (TP + FP)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Exemplu: Modelul a spus „pozitiv” de 100 ori, 88 corecte → Precision = 88%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fel de a ne gândi la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precision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„</a:t>
            </a:r>
            <a:r>
              <a:rPr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 câte ori am avut dreptate atunci când am spus că cineva e bolnav?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17" name="Google Shape;117;p20" title="662c42677529a0f4e97e4f96_644aea65cefe35380f198a5a_class_guide_cm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3838" y="758300"/>
            <a:ext cx="4204500" cy="236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8" name="Google Shape;118;p20"/>
          <p:cNvSpPr/>
          <p:nvPr/>
        </p:nvSpPr>
        <p:spPr>
          <a:xfrm>
            <a:off x="6359450" y="1574625"/>
            <a:ext cx="778200" cy="117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F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Recall (Sensitivity)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Formula: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Recall = TP / (TP + FN)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Exemplu: 200 cazuri reale de bolnavi, modelul a detectat 180 → Recall = 90%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fel de a ne gândi la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recall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„</a:t>
            </a:r>
            <a:r>
              <a:rPr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Dintre toți cei care CHIAR erau bolnavi, pe câți i-am găsit corect?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29" name="Google Shape;129;p21" title="662c42677529a0f4e97e4f96_644aea65cefe35380f198a5a_class_guide_cm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3838" y="758300"/>
            <a:ext cx="4204500" cy="236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 rot="-5400000">
            <a:off x="6856800" y="1050100"/>
            <a:ext cx="588900" cy="161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F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⚖️ Echilibrul între Precision și Recall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🔄 Când creștem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recall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-ul, de obicei scade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precision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-ul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📉 Un prag mai mic 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→ mai multe cazuri detectate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(recall ↑), dar și mai multe greșeli (precision ↓)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📈 Un prag mai mare 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→ mai puține alarme false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(precision ↑), dar riscăm să ratăm cazuri reale (recall ↓)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Alegem echilibrul potrivit în funcție de scopul modelului </a:t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41" name="Google Shape;141;p22" title="precision-recall-tradeof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3775" y="253300"/>
            <a:ext cx="3693000" cy="276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Specificity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Formula: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Specificity = TN / (TN + FP)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Exemplu: 100 persoane sănătoase, modelul a detectat 80 → Specificity = 80%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fel de a ne gândi la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specificity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„</a:t>
            </a:r>
            <a:r>
              <a:rPr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Dintre toți cei care CHIAR erau sănătoși, pe câți i-am găsit corect?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52" name="Google Shape;152;p23" title="662c42677529a0f4e97e4f96_644aea65cefe35380f198a5a_class_guide_cm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3838" y="710926"/>
            <a:ext cx="4204500" cy="236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 rot="-5400000">
            <a:off x="6856800" y="1605057"/>
            <a:ext cx="588900" cy="161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F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ROC curve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Arată cât de bine separă modelul cazurile pozitive de cele negative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 Medium"/>
              <a:buChar char="●"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Fiecare punct = un prag de decizie diferit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 Medium"/>
              <a:buChar char="●"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Cu cât curba e mai sus și spre stânga ➜ model mai bun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 Medium"/>
              <a:buChar char="●"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Linia diagonală = model care ghicește la întâmplare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id="164" name="Google Shape;164;p24" title="roc-curv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6750" y="214700"/>
            <a:ext cx="3318300" cy="345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ROC vs Precision/Recall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Vrei să clasifici dacă e sau NU o pisică în imagine. Setul de date arată așa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ap Medium"/>
              <a:buChar char="-"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990 poze FĂRĂ pisici - set 0 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ap Medium"/>
              <a:buChar char="-"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10 CU pisici - set 1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Faci clasificarea, și modelul scoate: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FPR 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= 1 - specificity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        = 1 - TN / (TN + FP)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        = 0.05 (5%)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	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Precision 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= TP / (TP + FP)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		       = 66.7 % 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id="175" name="Google Shape;175;p25" title="output (3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7950" y="3135925"/>
            <a:ext cx="2149376" cy="18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Când o folosim pe fiecare?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1537" y="1780138"/>
            <a:ext cx="6144900" cy="3307200"/>
          </a:xfrm>
          <a:prstGeom prst="roundRect">
            <a:avLst>
              <a:gd fmla="val 666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23975"/>
            <a:ext cx="9144001" cy="268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/>
          <p:nvPr/>
        </p:nvSpPr>
        <p:spPr>
          <a:xfrm>
            <a:off x="1314450" y="2338400"/>
            <a:ext cx="44493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lang="en-GB" sz="53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Quiz time🎉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Detectarea tumorilor maligne 🏥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Un soft medical decide dacă o tumoră e malignă sau benignă.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E mai grav să rateze un caz real decât să alarmeze fals un pacient sănătos.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Filtru anti-spam 📩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Un sistem blochează automat email-urile suspecte.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E mai grav să blocheze un email important decât să lase treacă un spam.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Sistem de recunoaștere facială pentru securitate 🔒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Mai bine verificăm prea mulți oameni decât să scape un intrus periculos.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Aprobarea automată a creditelor 💳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E mai grav să aprobăm un client rău decât să refuzăm un client bun.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" name="Google Shape;2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2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Alarmă de incendiu 🔥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Mai bine sune degeaba decât să nu sune când chiar e foc.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0" name="Google Shape;2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Aplicație care detectează conținut ilegal online 🚫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Dacă e prea sensibilă, blochează postări normale; dacă prea strictă, scapă materiale interzise.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Detector de phishing pentru emailuri în companie 🧑‍💻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Dacă blocăm prea multe, angajații nu mai primesc mesaje legitime;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dacă ratăm unul, compromitem sistemul.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0" name="Google Shape;2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