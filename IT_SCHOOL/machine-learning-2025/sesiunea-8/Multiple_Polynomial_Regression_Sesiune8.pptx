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Asap SemiBold"/>
      <p:regular r:id="rId32"/>
      <p:bold r:id="rId33"/>
      <p:italic r:id="rId34"/>
      <p:boldItalic r:id="rId35"/>
    </p:embeddedFont>
    <p:embeddedFont>
      <p:font typeface="Asap"/>
      <p:regular r:id="rId36"/>
      <p:bold r:id="rId37"/>
      <p:italic r:id="rId38"/>
      <p:boldItalic r:id="rId39"/>
    </p:embeddedFont>
    <p:embeddedFont>
      <p:font typeface="Asap Medium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sapMedium-regular.fntdata"/><Relationship Id="rId20" Type="http://schemas.openxmlformats.org/officeDocument/2006/relationships/slide" Target="slides/slide15.xml"/><Relationship Id="rId42" Type="http://schemas.openxmlformats.org/officeDocument/2006/relationships/font" Target="fonts/AsapMedium-italic.fntdata"/><Relationship Id="rId41" Type="http://schemas.openxmlformats.org/officeDocument/2006/relationships/font" Target="fonts/AsapMedium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AsapMedium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sapSemiBold-bold.fntdata"/><Relationship Id="rId10" Type="http://schemas.openxmlformats.org/officeDocument/2006/relationships/slide" Target="slides/slide5.xml"/><Relationship Id="rId32" Type="http://schemas.openxmlformats.org/officeDocument/2006/relationships/font" Target="fonts/Asap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Asap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Asap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Asap-bold.fntdata"/><Relationship Id="rId14" Type="http://schemas.openxmlformats.org/officeDocument/2006/relationships/slide" Target="slides/slide9.xml"/><Relationship Id="rId36" Type="http://schemas.openxmlformats.org/officeDocument/2006/relationships/font" Target="fonts/Asap-regular.fntdata"/><Relationship Id="rId17" Type="http://schemas.openxmlformats.org/officeDocument/2006/relationships/slide" Target="slides/slide12.xml"/><Relationship Id="rId39" Type="http://schemas.openxmlformats.org/officeDocument/2006/relationships/font" Target="fonts/Asap-boldItalic.fntdata"/><Relationship Id="rId16" Type="http://schemas.openxmlformats.org/officeDocument/2006/relationships/slide" Target="slides/slide11.xml"/><Relationship Id="rId38" Type="http://schemas.openxmlformats.org/officeDocument/2006/relationships/font" Target="fonts/Asap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c593ef20b_0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9c593ef20b_0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g39c593ef20b_0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c593ef20b_0_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c593ef20b_0_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g39c593ef20b_0_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c593ef20b_0_2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9c593ef20b_0_2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g39c593ef20b_0_2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c593ef20b_0_3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9c593ef20b_0_3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g39c593ef20b_0_3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593ef20b_0_4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9c593ef20b_0_4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g39c593ef20b_0_4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c593ef20b_0_7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9c593ef20b_0_7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g39c593ef20b_0_7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c593ef20b_0_8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9c593ef20b_0_8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g39c593ef20b_0_8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c593ef20b_0_9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9c593ef20b_0_9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g39c593ef20b_0_9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c593ef20b_0_10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9c593ef20b_0_10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" name="Google Shape;204;g39c593ef20b_0_10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c593ef20b_0_123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9c593ef20b_0_12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5" name="Google Shape;215;g39c593ef20b_0_12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c593ef20b_0_15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9c593ef20b_0_15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6" name="Google Shape;226;g39c593ef20b_0_15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c593ef20b_0_17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9c593ef20b_0_17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g39c593ef20b_0_17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c593ef20b_0_20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9c593ef20b_0_20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9" name="Google Shape;249;g39c593ef20b_0_20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c593ef20b_0_18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9c593ef20b_0_18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" name="Google Shape;260;g39c593ef20b_0_18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c593ef20b_0_23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9c593ef20b_0_23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2" name="Google Shape;272;g39c593ef20b_0_23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c593ef20b_0_24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9c593ef20b_0_24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4" name="Google Shape;284;g39c593ef20b_0_24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c593ef20b_0_25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9c593ef20b_0_25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6" name="Google Shape;296;g39c593ef20b_0_25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c593ef20b_0_28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9c593ef20b_0_28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🔹 Quadratic → curbă parabolică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🔹 Cubic → poate crește și scădea de mai multe ori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>
                <a:solidFill>
                  <a:schemeClr val="dk1"/>
                </a:solidFill>
              </a:rPr>
              <a:t>Alegerea depinde de forma datelor observate.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8" name="Google Shape;308;g39c593ef20b_0_28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c593ef20b_0_29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9c593ef20b_0_29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9c593ef20b_0_29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c593ef20b_0_30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9c593ef20b_0_30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9c593ef20b_0_30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8.png"/><Relationship Id="rId7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1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GB" sz="24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1" lang="en-GB" sz="3000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Multiple &amp; Polynomial Regression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80113"/>
            <a:ext cx="7244700" cy="40632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33631" y="1238588"/>
            <a:ext cx="62805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Multiple &amp; Polynomial Regression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Multivariate linear regression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Scrierea matriceala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Gradient descent pentru variabile / features  multiple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Cum alegem learning rate-ul?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Alegerea features-urilor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Functii polinomiale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Normal equation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60218" y="683655"/>
            <a:ext cx="2278800" cy="3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7800000" dist="14287">
              <a:srgbClr val="000000">
                <a:alpha val="2039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O versiune mai puternică a regresiei liniare -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Multiple Regression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📊 Putem prezice un rezultat folosind mai multe variabile (features), nu doar una.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Introducere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Linear Regression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=&gt; o singură variabilă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 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și o ieșire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Y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.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Dar dacă vrem să prezicem o valoare ținând cont de mai multe?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Exemplu: prețul unei case 🏠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x₁ = suprafață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x₂ = număr dormitoare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x₃ = vechime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x₄ = locație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Forma matriceala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488" y="2257450"/>
            <a:ext cx="8163000" cy="235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50" y="1462500"/>
            <a:ext cx="8920151" cy="36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223838" y="980135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Forma matriceala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525" y="1621800"/>
            <a:ext cx="6034800" cy="17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1350" y="1623984"/>
            <a:ext cx="1435127" cy="17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653775" y="3368050"/>
            <a:ext cx="81027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n = 4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→ numărul de caracteristici (features):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x₁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Size (feet²)                                                                                                    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y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Price (thousands $)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x₂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Number of bedrooms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x₃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Number of floors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x₄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Age of home (years)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 = 47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→ numărul de exemple de antrenament (training examples)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50" y="1462500"/>
            <a:ext cx="8920151" cy="36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223838" y="980135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Forma matriceala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525" y="1621800"/>
            <a:ext cx="6034800" cy="17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1350" y="1623984"/>
            <a:ext cx="1435127" cy="17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8525" y="3544863"/>
            <a:ext cx="25908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67063" y="3578213"/>
            <a:ext cx="130492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22525" y="3521075"/>
            <a:ext cx="180975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Google Shape;1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Forma funcției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Regresie simplă: </a:t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f(x) = m·x + n </a:t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 mai multe variabile: </a:t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  h(x) = θ₀ + θ₁x₁ + θ₂x₂ + … + θₙxₙ </a:t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</a:t>
            </a:r>
            <a:r>
              <a:rPr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</a:t>
            </a:r>
            <a:endParaRPr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  h(x) = 2 + 0.5x₁ + x₂ − 3x₃ + 2.5x₄</a:t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Forma funcției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Definim </a:t>
            </a: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x₀ = 1 </a:t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Scriem: </a:t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h(x) = θᵀ x </a:t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👉 se numește</a:t>
            </a: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 Multivariate Linear Regression</a:t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/>
          <p:nvPr/>
        </p:nvSpPr>
        <p:spPr>
          <a:xfrm>
            <a:off x="223856" y="1259000"/>
            <a:ext cx="5925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1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Gradient Descent pentru multiple vars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Funcția de cost (MSE): </a:t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Unde:</a:t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9875" y="2187097"/>
            <a:ext cx="36195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2783" y="3369563"/>
            <a:ext cx="4619625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223856" y="1259000"/>
            <a:ext cx="59256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1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Gradient Descent pentru multiple vars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Update rule pentru fiecare θⱼ (Gradient Descent rule pentru fiecare iteratie): </a:t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Unde: </a:t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8110" y="2450633"/>
            <a:ext cx="41148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9822" y="3563847"/>
            <a:ext cx="3218351" cy="14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Pentru un singur feature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4125" y="2747839"/>
            <a:ext cx="40957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/>
        </p:nvSpPr>
        <p:spPr>
          <a:xfrm>
            <a:off x="421400" y="1958253"/>
            <a:ext cx="75447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11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Cazul simplu (θ₀, θ₁):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Actualizăm separat: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Pentru mai multe features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581" y="2809809"/>
            <a:ext cx="40957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421400" y="1958253"/>
            <a:ext cx="75447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La fel, dar pentru fiecare θⱼ în parte.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Gradient Descent actualizează toate simultan la fiecare iterație.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👉 Ideea e aceeași, doar dimensiunea crește.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6563" y="3819438"/>
            <a:ext cx="6486525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6" name="Google Shape;2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Feature scailing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421400" y="19582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Asigură-te că toate features sunt pe aceeași scară! </a:t>
            </a:r>
            <a:r>
              <a:rPr lang="en-GB" sz="1200">
                <a:solidFill>
                  <a:srgbClr val="1F3763"/>
                </a:solidFill>
                <a:latin typeface="Calibri"/>
                <a:ea typeface="Calibri"/>
                <a:cs typeface="Calibri"/>
                <a:sym typeface="Calibri"/>
              </a:rPr>
              <a:t>📏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x₁ = suprafață (0–2000)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x₂ = nr dormitoare (1–5)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Fără scaling, contururile costului devin eliptice → GD lent 🐢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7" name="Google Shape;2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Feature scailing - intuitie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421400" y="19582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🐢 Fără scalare (unscaled features)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x₁ = suprafață (0–2000)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x₂ = nr. dormitoare (1–5)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🔹 Contururile funcției de cost sunt alungite și eliptice, ceea ce face ca Gradient Descent să fie lent și să oscileze ineficient.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🔻 Traiectoria roșie spre minim este lungă și sinuoasă (cu multe viraje, adica multe minime LOCALE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8" name="Google Shape;2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Feature scailing - intuitie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421400" y="19582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🚀 Cu scalare (scaled features)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x₁ = size / 2000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x₂ = bedrooms / 5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🔹 Contururile devin aproape circulare, ceea ce permite Gradient Descent să converge rapid și eficient.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🔺 Traiectoria roșie este scurtă și directă spre minim.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Learning rate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421400" y="19582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Controlează mărimea pașilor GD.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α prea mare → sare peste minim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α prea mic → învățare lentă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Scopul: găsim α care minimizează J(θ) rapid și stabil.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45" name="Google Shape;24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1210" y="160140"/>
            <a:ext cx="4795800" cy="3496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1" name="Google Shape;2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Learning rate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56" name="Google Shape;256;p32" title="JSON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9751" y="1954575"/>
            <a:ext cx="5704499" cy="266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2" name="Google Shape;2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Learning rate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67" name="Google Shape;267;p33" title="JSON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9551" y="637700"/>
            <a:ext cx="5704500" cy="266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/>
        </p:nvSpPr>
        <p:spPr>
          <a:xfrm>
            <a:off x="421400" y="19582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α prea mare → sare peste minim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Scopul: găsim α care minimizează J(θ) rapid și stabil.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4" name="Google Shape;2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Learning rate - in practica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421400" y="19582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Începem cu mai multe valori α și observăm cum scade costul.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📉 Când J(θ) devine aproape constant → convergență.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80" name="Google Shape;280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9477" y="322973"/>
            <a:ext cx="3864600" cy="281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6" name="Google Shape;2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5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Learning rate - in practica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390425" y="23920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Începem cu mai multe valori α și observăm cum scade costul.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📉 Când J(θ) devine aproape constant → convergență.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 valori utile: 0.001, 0.003, 0.01, 0.03, 0.1 …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92" name="Google Shape;29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9477" y="322973"/>
            <a:ext cx="3864600" cy="281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8" name="Google Shape;2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9" name="Google Shape;2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6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Alegerea feature-urilor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03" name="Google Shape;303;p36"/>
          <p:cNvSpPr txBox="1"/>
          <p:nvPr/>
        </p:nvSpPr>
        <p:spPr>
          <a:xfrm>
            <a:off x="390425" y="23920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Exemplu: preț casă = h(frontage, depth)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Putem crea un feature nou: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  area = frontage × depth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devine f(x) = θ₀ + θ₁ · area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04" name="Google Shape;304;p36" title="Design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8175" y="322975"/>
            <a:ext cx="4114800" cy="4114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0" name="Google Shape;3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Polynomial Regression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15" name="Google Shape;315;p37"/>
          <p:cNvSpPr txBox="1"/>
          <p:nvPr/>
        </p:nvSpPr>
        <p:spPr>
          <a:xfrm>
            <a:off x="390425" y="23920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Când datele nu sunt liniare, adăugăm puteri: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  x₁ = size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  x₂ = size²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  x₃ = size³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Rezultă modele quadratic sau cubic 🎢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Construim features noi: x², x³, √x …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16" name="Google Shape;316;p37" title="GetImage (4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8175" y="890744"/>
            <a:ext cx="4556100" cy="302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2" name="Google Shape;32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3" name="Google Shape;3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4" name="Google Shape;32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Normal Equation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27" name="Google Shape;327;p38"/>
          <p:cNvSpPr txBox="1"/>
          <p:nvPr/>
        </p:nvSpPr>
        <p:spPr>
          <a:xfrm>
            <a:off x="390425" y="2392042"/>
            <a:ext cx="7544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Putem calcula parametrii direct (analitic):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  θ = (XᵀX)⁻¹ XᵀY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 necesită gradient descent. 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Bun pentru dataseturi mici, dar cost mare pentru n (numar de features) mare.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3" name="Google Shape;3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4" name="Google Shape;33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5" name="Google Shape;33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Normal Equation vs GD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38" name="Google Shape;338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3363" y="1794111"/>
            <a:ext cx="7137300" cy="3279300"/>
          </a:xfrm>
          <a:prstGeom prst="roundRect">
            <a:avLst>
              <a:gd fmla="val 115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4" name="Google Shape;3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6" name="Google Shape;34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0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0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