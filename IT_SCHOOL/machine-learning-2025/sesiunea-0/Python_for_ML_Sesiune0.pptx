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Play"/>
      <p:regular r:id="rId34"/>
      <p:bold r:id="rId35"/>
    </p:embeddedFont>
    <p:embeddedFont>
      <p:font typeface="Asap SemiBold"/>
      <p:regular r:id="rId36"/>
      <p:bold r:id="rId37"/>
      <p:italic r:id="rId38"/>
      <p:boldItalic r:id="rId39"/>
    </p:embeddedFont>
    <p:embeddedFont>
      <p:font typeface="Asap"/>
      <p:regular r:id="rId40"/>
      <p:bold r:id="rId41"/>
      <p:italic r:id="rId42"/>
      <p:boldItalic r:id="rId43"/>
    </p:embeddedFont>
    <p:embeddedFont>
      <p:font typeface="Asap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h7gqXr3YqVlo3aQgjNybYCUxPZ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-regular.fntdata"/><Relationship Id="rId20" Type="http://schemas.openxmlformats.org/officeDocument/2006/relationships/slide" Target="slides/slide14.xml"/><Relationship Id="rId42" Type="http://schemas.openxmlformats.org/officeDocument/2006/relationships/font" Target="fonts/Asap-italic.fntdata"/><Relationship Id="rId41" Type="http://schemas.openxmlformats.org/officeDocument/2006/relationships/font" Target="fonts/Asap-bold.fntdata"/><Relationship Id="rId22" Type="http://schemas.openxmlformats.org/officeDocument/2006/relationships/slide" Target="slides/slide16.xml"/><Relationship Id="rId44" Type="http://schemas.openxmlformats.org/officeDocument/2006/relationships/font" Target="fonts/AsapMedium-regular.fntdata"/><Relationship Id="rId21" Type="http://schemas.openxmlformats.org/officeDocument/2006/relationships/slide" Target="slides/slide15.xml"/><Relationship Id="rId43" Type="http://schemas.openxmlformats.org/officeDocument/2006/relationships/font" Target="fonts/Asap-boldItalic.fntdata"/><Relationship Id="rId24" Type="http://schemas.openxmlformats.org/officeDocument/2006/relationships/slide" Target="slides/slide18.xml"/><Relationship Id="rId46" Type="http://schemas.openxmlformats.org/officeDocument/2006/relationships/font" Target="fonts/AsapMedium-italic.fntdata"/><Relationship Id="rId23" Type="http://schemas.openxmlformats.org/officeDocument/2006/relationships/slide" Target="slides/slide17.xml"/><Relationship Id="rId45" Type="http://schemas.openxmlformats.org/officeDocument/2006/relationships/font" Target="fonts/Asap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AsapMedium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lay-bold.fntdata"/><Relationship Id="rId12" Type="http://schemas.openxmlformats.org/officeDocument/2006/relationships/slide" Target="slides/slide6.xml"/><Relationship Id="rId34" Type="http://schemas.openxmlformats.org/officeDocument/2006/relationships/font" Target="fonts/Play-regular.fntdata"/><Relationship Id="rId15" Type="http://schemas.openxmlformats.org/officeDocument/2006/relationships/slide" Target="slides/slide9.xml"/><Relationship Id="rId37" Type="http://schemas.openxmlformats.org/officeDocument/2006/relationships/font" Target="fonts/AsapSemiBold-bold.fntdata"/><Relationship Id="rId14" Type="http://schemas.openxmlformats.org/officeDocument/2006/relationships/slide" Target="slides/slide8.xml"/><Relationship Id="rId36" Type="http://schemas.openxmlformats.org/officeDocument/2006/relationships/font" Target="fonts/Asap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Asap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Asap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fcbf7b890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7fcbf7b890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7fcbf7b890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fcbf7b890_0_3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7fcbf7b890_0_3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7fcbf7b890_0_3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incapsuleaza toata logica modelului care ne intereseaza - parametrii si metodele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fac codul extensibil si reutilizabil, si astfel poti construi noi arhitecturi plecand de la clase existente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02e9e6971_0_10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802e9e6971_0_10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Listele sunt utile cand ordinea elementelor conteaza. Spre exemplu, istoricul comenzilor unui client.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Pentru un viitor analist de date pe ML, listele o sa fie primul element de explorare a datelor cand vrem sa parcurgem observatii pas cu pas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Folosim mult liste in ML pentru: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organizarea colectiilor de date similare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pastrarea unui istoric de metrici si rezultate pentru fiecare etapa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definirea pasilor de procesare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802e9e6971_0_10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02e9e6971_0_14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802e9e6971_0_14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Dictionarele va permit acces rapid la valori prin cheie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/>
              <a:t>ideale pentru metadate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pentru asocierea valorilor cu denumiri clare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se folosesc mult in stocarea parametrilor pentru modele </a:t>
            </a:r>
            <a:endParaRPr/>
          </a:p>
        </p:txBody>
      </p:sp>
      <p:sp>
        <p:nvSpPr>
          <p:cNvPr id="153" name="Google Shape;153;g3802e9e6971_0_14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02e9e6971_0_16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02e9e6971_0_16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in loc sa scriem un for care trece element cu element, pur si simplu scriem operatia direct pe array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executarea operatiilor matematice pe toata colectia intr-un singur pas (</a:t>
            </a:r>
            <a:r>
              <a:rPr b="1" lang="en-US"/>
              <a:t>foarte important PT ML</a:t>
            </a:r>
            <a:r>
              <a:rPr lang="en-US"/>
              <a:t>) !!!!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slicing</a:t>
            </a:r>
            <a:r>
              <a:rPr lang="en-US"/>
              <a:t> - extragerea unor portiuni (sub array uri) dintr-un array, folosind sintaxa [start:stop:step]</a:t>
            </a:r>
            <a:endParaRPr/>
          </a:p>
        </p:txBody>
      </p:sp>
      <p:sp>
        <p:nvSpPr>
          <p:cNvPr id="166" name="Google Shape;166;g3802e9e6971_0_16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Alegerea tipului de date potrivit o sa ne salveze timp si resurse</a:t>
            </a:r>
            <a:endParaRPr/>
          </a:p>
        </p:txBody>
      </p:sp>
      <p:sp>
        <p:nvSpPr>
          <p:cNvPr id="181" name="Google Shape;1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0f35ea84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80f35ea84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80f35ea84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0f35ea841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80f35ea841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80f35ea841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0f35ea841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80f35ea841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doar o expresie dupa : (nu suporta expresii multiple)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80f35ea841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0f35ea841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80f35ea841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80f35ea841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0f35ea841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80f35ea841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Default=lambda.. Pentru transformarea obiectului in dict (client)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folosim “with” pentru ca functia .close() este apelata automat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80f35ea841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0f35ea841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80f35ea841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Erorile de tip ‘ValueError’ sunt f frecvente la import ul csv urilor mai ales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Trebuie pregatit codul sa trateze aceste exceptii</a:t>
            </a:r>
            <a:endParaRPr/>
          </a:p>
        </p:txBody>
      </p:sp>
      <p:sp>
        <p:nvSpPr>
          <p:cNvPr id="252" name="Google Shape;252;g380f35ea841_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0f35ea841_1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80f35ea841_1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 asemenea datele lipsa (None, NaN) pot bloca modelele daca nu le tratati corespunzator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80f35ea841_1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0f35ea841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80f35ea841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 obicei, in ML, valorile negative semnaleaza erori de colectare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Inainte de modelare, verificati consistenta logica a datelor si eliminati anomaliile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80f35ea841_1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0f35ea841_1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80f35ea841_1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Validarea formatului inainte de procesare va poate salva de multe bug uri greu de gestionat</a:t>
            </a:r>
            <a:endParaRPr/>
          </a:p>
        </p:txBody>
      </p:sp>
      <p:sp>
        <p:nvSpPr>
          <p:cNvPr id="279" name="Google Shape;279;g380f35ea841_1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0f35ea841_1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80f35ea841_1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80f35ea841_1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0f35ea841_1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80f35ea841_1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folositi nume descriptive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numar_comenzi e mai bun decat x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va ajuta sa urmariti rapid codul, chiar si dupa o pauza</a:t>
            </a:r>
            <a:endParaRPr/>
          </a:p>
        </p:txBody>
      </p:sp>
      <p:sp>
        <p:nvSpPr>
          <p:cNvPr id="296" name="Google Shape;296;g380f35ea841_1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0f35ea841_1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80f35ea841_1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 functie trebuie sa faca un singur lucru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impartiti codul vostru in pasi mici si testabili, pentru claritate si reutilizare</a:t>
            </a:r>
            <a:endParaRPr/>
          </a:p>
        </p:txBody>
      </p:sp>
      <p:sp>
        <p:nvSpPr>
          <p:cNvPr id="305" name="Google Shape;305;g380f35ea841_1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0f35ea841_1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80f35ea841_1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comentariile trebuie sa completeze codul, nu sa il incarce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scrieti-le pentru a explica DE CE, nu CUM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codul bine scris arata deja CUM</a:t>
            </a:r>
            <a:endParaRPr/>
          </a:p>
        </p:txBody>
      </p:sp>
      <p:sp>
        <p:nvSpPr>
          <p:cNvPr id="314" name="Google Shape;314;g380f35ea841_1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0f35ea841_1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80f35ea841_1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DRY - don t repeat yourself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un principiu cheie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daca vedeti acelasi bloc de mai multe ori, extrageti-l intr-o functie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reduceti erorile, scadeti timpul de intretinere</a:t>
            </a:r>
            <a:endParaRPr/>
          </a:p>
        </p:txBody>
      </p:sp>
      <p:sp>
        <p:nvSpPr>
          <p:cNvPr id="323" name="Google Shape;323;g380f35ea841_1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0f35ea841_1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80f35ea841_1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folositi acelasi stil de indentare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aceleasi conventii de denumire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aceeasi structura de fisiere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un cod consecvent este mai usor de urmarit de intreaga echipa</a:t>
            </a:r>
            <a:endParaRPr/>
          </a:p>
        </p:txBody>
      </p:sp>
      <p:sp>
        <p:nvSpPr>
          <p:cNvPr id="332" name="Google Shape;332;g380f35ea841_1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0f35ea841_1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80f35ea841_1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80f35ea841_1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0f35ea841_1_18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80f35ea841_1_18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80f35ea841_1_18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g37fcbf7b890_0_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g37fcbf7b890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ap Medium"/>
              <a:buNone/>
              <a:defRPr sz="6000">
                <a:latin typeface="Asap Medium"/>
                <a:ea typeface="Asap Medium"/>
                <a:cs typeface="Asap Medium"/>
                <a:sym typeface="Asap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sap Medium"/>
              <a:buNone/>
              <a:defRPr sz="2400">
                <a:latin typeface="Asap Medium"/>
                <a:ea typeface="Asap Medium"/>
                <a:cs typeface="Asap Medium"/>
                <a:sym typeface="Asap Medium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4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4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D8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g37fcbf7b89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863" y="1016000"/>
            <a:ext cx="11453133" cy="4443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g37fcbf7b89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765300"/>
            <a:ext cx="11201398" cy="3575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9000000" dist="19050">
              <a:srgbClr val="313CFF">
                <a:alpha val="89803"/>
              </a:srgbClr>
            </a:outerShdw>
          </a:effectLst>
        </p:spPr>
      </p:pic>
      <p:pic>
        <p:nvPicPr>
          <p:cNvPr descr="preencoded.png" id="96" name="Google Shape;96;g37fcbf7b89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173" y="5022850"/>
            <a:ext cx="47498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g37fcbf7b890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7fcbf7b890_0_0"/>
          <p:cNvSpPr/>
          <p:nvPr/>
        </p:nvSpPr>
        <p:spPr>
          <a:xfrm>
            <a:off x="1212850" y="2051050"/>
            <a:ext cx="10584000" cy="26544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sap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62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457200" lvl="0" marL="4572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sap"/>
              <a:buChar char="-"/>
            </a:pPr>
            <a:r>
              <a:rPr b="1" i="0" lang="en-US" sz="51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51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9" name="Google Shape;99;g37fcbf7b890_0_0"/>
          <p:cNvSpPr/>
          <p:nvPr/>
        </p:nvSpPr>
        <p:spPr>
          <a:xfrm>
            <a:off x="1382873" y="5219000"/>
            <a:ext cx="3714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3200"/>
              <a:buFont typeface="Asap Medium"/>
              <a:buNone/>
            </a:pPr>
            <a:r>
              <a:rPr b="0" i="0" lang="en-US" sz="32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7fcbf7b890_0_0"/>
          <p:cNvSpPr txBox="1"/>
          <p:nvPr/>
        </p:nvSpPr>
        <p:spPr>
          <a:xfrm>
            <a:off x="1212850" y="3973350"/>
            <a:ext cx="10584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1" lang="en-US" sz="4000" u="none" cap="none" strike="noStrike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Python for ML</a:t>
            </a:r>
            <a:endParaRPr b="0" i="1" sz="4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440150"/>
            <a:ext cx="9659700" cy="54177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108" name="Google Shape;10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idx="1" type="subTitle"/>
          </p:nvPr>
        </p:nvSpPr>
        <p:spPr>
          <a:xfrm>
            <a:off x="178175" y="1651450"/>
            <a:ext cx="8373900" cy="5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1. Bazele Python relevante pentru Machine Learning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Tipuri de date (liste, dicționare și array-uri NumPy)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Structuri de control (if/else, bucle, comprehensions)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Funcții și expresii lambda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Lucrul cu fișiere (citire și scriere)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2. Tipare de programare în Python pentru Data Science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Concepte de programare funcțională (map, filter, reduce)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Operații vectorizate vs bucle (diferențe de performanță)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Gestionarea erorilor în procesarea datelor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1"/>
              </a:buClr>
              <a:buSzPts val="2050"/>
              <a:buFont typeface="Asap"/>
              <a:buChar char="➔"/>
            </a:pPr>
            <a:r>
              <a:rPr lang="en-US" sz="205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Scrierea unui cod clar și ușor de întreținut</a:t>
            </a:r>
            <a:endParaRPr sz="205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480290" y="911540"/>
            <a:ext cx="3038400" cy="438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7800000" dist="19050">
              <a:srgbClr val="000000">
                <a:alpha val="20784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33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g37fcbf7b890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g37fcbf7b890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0" y="2298700"/>
            <a:ext cx="11893551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g37fcbf7b890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7fcbf7b890_0_34"/>
          <p:cNvSpPr/>
          <p:nvPr/>
        </p:nvSpPr>
        <p:spPr>
          <a:xfrm>
            <a:off x="298450" y="1678665"/>
            <a:ext cx="5334900" cy="79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35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 - DE CE PYTHON?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7fcbf7b890_0_34"/>
          <p:cNvSpPr/>
          <p:nvPr/>
        </p:nvSpPr>
        <p:spPr>
          <a:xfrm>
            <a:off x="364350" y="2472775"/>
            <a:ext cx="9956400" cy="3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Python este limbajul preferat pentru ML pentru că: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📦 Are cele mai multe librării dedicate →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numpy</a:t>
            </a:r>
            <a:r>
              <a:rPr b="0" i="0" lang="en-US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pandas</a:t>
            </a:r>
            <a:r>
              <a:rPr b="0" i="0" lang="en-US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sklearn</a:t>
            </a:r>
            <a:r>
              <a:rPr b="0" i="0" lang="en-US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torch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🧠 E ușor de învățat și de citit → concentrăm atenția pe algoritmi, nu pe sintaxă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🤝 Comunică bine cu alte tehnologii → API-uri, baze de date, dashboard-uri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🚀 E susținut de comunitate → rapiditate în inovare</a:t>
            </a:r>
            <a:endParaRPr b="0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 scurt: Python te lasă să te concentrezi pe date și modele, nu pe detalii de implementare.</a:t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9699"/>
            <a:ext cx="12192000" cy="4443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74525"/>
            <a:ext cx="12191997" cy="466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268514" y="1417342"/>
            <a:ext cx="116550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 sa folosim Google Colab</a:t>
            </a:r>
            <a:endParaRPr b="1" i="0" sz="20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💻 Cloud based → Nu ai nevoie de instalare</a:t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📤 Sharing ușor → Lucrăm și împărtășim rapid</a:t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🧠 GPU și TPU → Antrenarea modelelor devine rapidă și accesibilă</a:t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💾 Salvează automat → Fără griji pentru pierderea codului</a:t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De ce GPU?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Pentru ML, procesarea numerelor mari (matrici) este extrem de intensă. GPU-urile accelerează enorm această procesare.</a:t>
            </a:r>
            <a:endParaRPr b="0" i="0" sz="14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De ce Cloud?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Ca să lucrăm oriunde, pe orice device, și să avem totul salvat automat.</a:t>
            </a:r>
            <a:endParaRPr b="0" i="0" sz="14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917" y="4329413"/>
            <a:ext cx="479125" cy="6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399" y="5421265"/>
            <a:ext cx="479125" cy="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867" y="1568008"/>
            <a:ext cx="7650300" cy="4065300"/>
          </a:xfrm>
          <a:prstGeom prst="roundRect">
            <a:avLst>
              <a:gd fmla="val 9235" name="adj"/>
            </a:avLst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139046" y="986301"/>
            <a:ext cx="116550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4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CLASE IN PYTHON</a:t>
            </a:r>
            <a:endParaRPr b="1" i="0" sz="49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g3802e9e6971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g3802e9e6971_0_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0" y="2298700"/>
            <a:ext cx="7734300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g3802e9e6971_0_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g3802e9e6971_0_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599325"/>
            <a:ext cx="45085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802e9e6971_0_103"/>
          <p:cNvSpPr/>
          <p:nvPr/>
        </p:nvSpPr>
        <p:spPr>
          <a:xfrm>
            <a:off x="298450" y="1469300"/>
            <a:ext cx="5455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4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LISTE</a:t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802e9e6971_0_103"/>
          <p:cNvSpPr/>
          <p:nvPr/>
        </p:nvSpPr>
        <p:spPr>
          <a:xfrm>
            <a:off x="1568450" y="2542175"/>
            <a:ext cx="3378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sap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sap Medium"/>
                <a:ea typeface="Asap Medium"/>
                <a:cs typeface="Asap Medium"/>
                <a:sym typeface="Asap Medium"/>
              </a:rPr>
              <a:t>Când le folosim?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802e9e6971_0_103"/>
          <p:cNvSpPr/>
          <p:nvPr/>
        </p:nvSpPr>
        <p:spPr>
          <a:xfrm>
            <a:off x="806648" y="3136900"/>
            <a:ext cx="5770200" cy="3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 Medium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Când ordinea datelor contează </a:t>
            </a:r>
            <a:endParaRPr b="0" i="0" sz="14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→ ex. lista comenzilor unui client în ordinea plasării.</a:t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 Medium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Când datele nu au nevoie de o asociere cheie-valoare</a:t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 Medium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Când vrem să parcurgem ușor elementele.</a:t>
            </a:r>
            <a:endParaRPr b="0" i="0" sz="1600" u="none" cap="none" strike="noStrike"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id="149" name="Google Shape;149;g3802e9e6971_0_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1825" y="412050"/>
            <a:ext cx="4043100" cy="6033900"/>
          </a:xfrm>
          <a:prstGeom prst="roundRect">
            <a:avLst>
              <a:gd fmla="val 1088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g3802e9e6971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875" y="0"/>
            <a:ext cx="615812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g3802e9e6971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0" y="2298700"/>
            <a:ext cx="7734300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g3802e9e6971_0_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g3802e9e6971_0_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599325"/>
            <a:ext cx="45085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802e9e6971_0_140"/>
          <p:cNvSpPr/>
          <p:nvPr/>
        </p:nvSpPr>
        <p:spPr>
          <a:xfrm>
            <a:off x="298450" y="1469300"/>
            <a:ext cx="5455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4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DICTIONARE</a:t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802e9e6971_0_140"/>
          <p:cNvSpPr/>
          <p:nvPr/>
        </p:nvSpPr>
        <p:spPr>
          <a:xfrm>
            <a:off x="1526505" y="2479257"/>
            <a:ext cx="3378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sap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sap Medium"/>
                <a:ea typeface="Asap Medium"/>
                <a:cs typeface="Asap Medium"/>
                <a:sym typeface="Asap Medium"/>
              </a:rPr>
              <a:t>Cand le folosim?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802e9e6971_0_140"/>
          <p:cNvSpPr txBox="1"/>
          <p:nvPr/>
        </p:nvSpPr>
        <p:spPr>
          <a:xfrm>
            <a:off x="538764" y="3042050"/>
            <a:ext cx="6329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Când vrem să accesăm datele printr-o cheie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ex. accesez comenzile unui client după numele lui.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Când avem date structurate → ex. atributele unui client (nume, varsta, comenzi).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Când ordinea nu contează.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2" name="Google Shape;162;g3802e9e6971_0_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3700" y="1571850"/>
            <a:ext cx="5292600" cy="4559400"/>
          </a:xfrm>
          <a:prstGeom prst="roundRect">
            <a:avLst>
              <a:gd fmla="val 1155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8" name="Google Shape;168;g3802e9e6971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7553" y="0"/>
            <a:ext cx="63944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g3802e9e6971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450" y="2298700"/>
            <a:ext cx="7734300" cy="455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g3802e9e6971_0_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g3802e9e6971_0_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599325"/>
            <a:ext cx="45085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802e9e6971_0_169"/>
          <p:cNvSpPr/>
          <p:nvPr/>
        </p:nvSpPr>
        <p:spPr>
          <a:xfrm>
            <a:off x="298450" y="1469300"/>
            <a:ext cx="5455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4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NUMPY ARRAYS</a:t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802e9e6971_0_169"/>
          <p:cNvSpPr/>
          <p:nvPr/>
        </p:nvSpPr>
        <p:spPr>
          <a:xfrm>
            <a:off x="1568450" y="2542175"/>
            <a:ext cx="3378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sap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sap Medium"/>
                <a:ea typeface="Asap Medium"/>
                <a:cs typeface="Asap Medium"/>
                <a:sym typeface="Asap Medium"/>
              </a:rPr>
              <a:t>Cand le folosim?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802e9e6971_0_169"/>
          <p:cNvSpPr txBox="1"/>
          <p:nvPr/>
        </p:nvSpPr>
        <p:spPr>
          <a:xfrm>
            <a:off x="866186" y="3042050"/>
            <a:ext cx="6329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 lucrul cu date numerice MARI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ex. imagini, vectori, matrice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calcule rapide si eficiente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Cand vrem operatii pe intregi seturi de date (batch processing)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5" name="Google Shape;175;g3802e9e6971_0_169"/>
          <p:cNvSpPr txBox="1"/>
          <p:nvPr/>
        </p:nvSpPr>
        <p:spPr>
          <a:xfrm>
            <a:off x="10000" y="6265675"/>
            <a:ext cx="735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Note: Sunt mult mai rapide si eficiente decat listele</a:t>
            </a:r>
            <a:endParaRPr b="1" i="1" sz="14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descr="preencoded.png" id="176" name="Google Shape;176;g3802e9e6971_0_1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5865" y="0"/>
            <a:ext cx="523238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802e9e6971_0_169"/>
          <p:cNvPicPr preferRelativeResize="0"/>
          <p:nvPr/>
        </p:nvPicPr>
        <p:blipFill rotWithShape="1">
          <a:blip r:embed="rId8">
            <a:alphaModFix/>
          </a:blip>
          <a:srcRect b="0" l="0" r="14944" t="0"/>
          <a:stretch/>
        </p:blipFill>
        <p:spPr>
          <a:xfrm>
            <a:off x="6810825" y="1055173"/>
            <a:ext cx="5024100" cy="5696700"/>
          </a:xfrm>
          <a:prstGeom prst="roundRect">
            <a:avLst>
              <a:gd fmla="val 687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563" y="2037863"/>
            <a:ext cx="11158800" cy="2929500"/>
          </a:xfrm>
          <a:prstGeom prst="roundRect">
            <a:avLst>
              <a:gd fmla="val 9085" name="adj"/>
            </a:avLst>
          </a:prstGeom>
          <a:noFill/>
          <a:ln>
            <a:noFill/>
          </a:ln>
        </p:spPr>
      </p:pic>
      <p:sp>
        <p:nvSpPr>
          <p:cNvPr id="184" name="Google Shape;184;p13"/>
          <p:cNvSpPr txBox="1"/>
          <p:nvPr/>
        </p:nvSpPr>
        <p:spPr>
          <a:xfrm>
            <a:off x="516575" y="1545275"/>
            <a:ext cx="856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Când folosim fiecare tip?</a:t>
            </a:r>
            <a:endParaRPr b="1" i="0" sz="20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9175" y="12425"/>
            <a:ext cx="74246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092850"/>
            <a:ext cx="12303828" cy="2765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67575"/>
            <a:ext cx="12303828" cy="147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/>
        </p:nvSpPr>
        <p:spPr>
          <a:xfrm>
            <a:off x="447514" y="1866229"/>
            <a:ext cx="791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If/else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decizii simple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            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 </a:t>
            </a:r>
            <a:endParaRPr b="1" i="0" sz="24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1714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447521" y="4201534"/>
            <a:ext cx="7910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Loops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pentru iterarea datelor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•"/>
            </a:pPr>
            <a:r>
              <a:rPr b="1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-&gt; iterare pe lista / dictionar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•"/>
            </a:pPr>
            <a:r>
              <a:rPr b="1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While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-&gt; atata timp cat.. (mai putin folosit)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1714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1941" y="1265719"/>
            <a:ext cx="5455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STRUCTURI DE CONTROL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1475" y="1919340"/>
            <a:ext cx="5982000" cy="117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7484" y="4701294"/>
            <a:ext cx="6256200" cy="104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3" name="Google Shape;203;g380f35ea841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07724"/>
            <a:ext cx="9617273" cy="47502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80f35ea841_1_0"/>
          <p:cNvSpPr/>
          <p:nvPr/>
        </p:nvSpPr>
        <p:spPr>
          <a:xfrm>
            <a:off x="85934" y="1581992"/>
            <a:ext cx="5455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COMPREHENSIONS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g380f35ea841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8462" y="0"/>
            <a:ext cx="42472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80f35ea841_1_0"/>
          <p:cNvSpPr txBox="1"/>
          <p:nvPr/>
        </p:nvSpPr>
        <p:spPr>
          <a:xfrm>
            <a:off x="195871" y="2201150"/>
            <a:ext cx="797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Foarte frecvente in ML, folosite pentru toate aspectele de la cleaning de date,  transformari etc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Mai rapide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7" name="Google Shape;207;g380f35ea841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387" y="3648018"/>
            <a:ext cx="7972800" cy="906900"/>
          </a:xfrm>
          <a:prstGeom prst="roundRect">
            <a:avLst>
              <a:gd fmla="val 27677" name="adj"/>
            </a:avLst>
          </a:prstGeom>
          <a:noFill/>
          <a:ln>
            <a:noFill/>
          </a:ln>
        </p:spPr>
      </p:pic>
      <p:sp>
        <p:nvSpPr>
          <p:cNvPr id="208" name="Google Shape;208;g380f35ea841_1_0"/>
          <p:cNvSpPr txBox="1"/>
          <p:nvPr/>
        </p:nvSpPr>
        <p:spPr>
          <a:xfrm>
            <a:off x="466008" y="4978125"/>
            <a:ext cx="7432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900" u="none" cap="none" strike="noStrike">
                <a:solidFill>
                  <a:schemeClr val="lt1"/>
                </a:solidFill>
                <a:latin typeface="Asap SemiBold"/>
                <a:ea typeface="Asap SemiBold"/>
                <a:cs typeface="Asap SemiBold"/>
                <a:sym typeface="Asap SemiBold"/>
              </a:rPr>
              <a:t>Cum citim?</a:t>
            </a:r>
            <a:endParaRPr b="0" i="1" sz="1900" u="none" cap="none" strike="noStrike">
              <a:solidFill>
                <a:schemeClr val="lt1"/>
              </a:solidFill>
              <a:latin typeface="Asap SemiBold"/>
              <a:ea typeface="Asap SemiBold"/>
              <a:cs typeface="Asap SemiBold"/>
              <a:sym typeface="Asap SemiBold"/>
            </a:endParaRPr>
          </a:p>
          <a:p>
            <a:pPr indent="-3238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2400"/>
              <a:buFont typeface="Asap"/>
              <a:buChar char="✔"/>
            </a:pPr>
            <a:r>
              <a:rPr b="0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 listă cu </a:t>
            </a:r>
            <a:r>
              <a:rPr b="1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</a:t>
            </a:r>
            <a:r>
              <a:rPr b="0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pentru</a:t>
            </a:r>
            <a:r>
              <a:rPr b="1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fiecare c </a:t>
            </a:r>
            <a:r>
              <a:rPr b="0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din </a:t>
            </a:r>
            <a:r>
              <a:rPr b="1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comenzi_ana</a:t>
            </a:r>
            <a:r>
              <a:rPr b="0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doar dacă </a:t>
            </a:r>
            <a:r>
              <a:rPr b="1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 </a:t>
            </a:r>
            <a:r>
              <a:rPr b="0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 mai mare decât </a:t>
            </a:r>
            <a:r>
              <a:rPr b="1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100</a:t>
            </a:r>
            <a:r>
              <a:rPr b="0" i="0" lang="en-US" sz="17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</a:t>
            </a:r>
            <a:endParaRPr b="0" i="0" sz="2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" name="Google Shape;214;g380f35ea841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07724"/>
            <a:ext cx="9617273" cy="47502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80f35ea841_1_16"/>
          <p:cNvSpPr/>
          <p:nvPr/>
        </p:nvSpPr>
        <p:spPr>
          <a:xfrm>
            <a:off x="101311" y="1581992"/>
            <a:ext cx="5455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FUNCȚII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g380f35ea841_1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8462" y="0"/>
            <a:ext cx="42472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80f35ea841_1_16"/>
          <p:cNvSpPr txBox="1"/>
          <p:nvPr/>
        </p:nvSpPr>
        <p:spPr>
          <a:xfrm>
            <a:off x="135646" y="2578650"/>
            <a:ext cx="7972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Foarte importante pentru clean code &amp; reutilizare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Separam etape din pipeline (curatare, transformare etc)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18" name="Google Shape;218;g380f35ea841_1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648" y="3671298"/>
            <a:ext cx="6856800" cy="2524200"/>
          </a:xfrm>
          <a:prstGeom prst="roundRect">
            <a:avLst>
              <a:gd fmla="val 1184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g380f35ea841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07724"/>
            <a:ext cx="9617273" cy="4750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80f35ea841_1_28"/>
          <p:cNvSpPr/>
          <p:nvPr/>
        </p:nvSpPr>
        <p:spPr>
          <a:xfrm>
            <a:off x="85934" y="1581992"/>
            <a:ext cx="5455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4900"/>
              <a:buFont typeface="Asap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LAMBDA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g380f35ea841_1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8462" y="0"/>
            <a:ext cx="42472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80f35ea841_1_28"/>
          <p:cNvSpPr txBox="1"/>
          <p:nvPr/>
        </p:nvSpPr>
        <p:spPr>
          <a:xfrm>
            <a:off x="135646" y="2578650"/>
            <a:ext cx="7972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Foarte importante pentru clean code &amp; reutilizare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Relevant daca folosesti o functie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 singura data</a:t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28" name="Google Shape;228;g380f35ea841_1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660" y="3655228"/>
            <a:ext cx="7420800" cy="102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29" name="Google Shape;229;g380f35ea841_1_28"/>
          <p:cNvSpPr txBox="1"/>
          <p:nvPr/>
        </p:nvSpPr>
        <p:spPr>
          <a:xfrm>
            <a:off x="830750" y="4967625"/>
            <a:ext cx="6582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Cum citim?</a:t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Functia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dublare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primeste un argument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lista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si returneaza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[x * 2 for x in lista]</a:t>
            </a:r>
            <a:endParaRPr b="1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5" name="Google Shape;235;g380f35ea841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2558650"/>
            <a:ext cx="9238500" cy="4299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36" name="Google Shape;236;g380f35ea841_1_44"/>
          <p:cNvSpPr txBox="1"/>
          <p:nvPr/>
        </p:nvSpPr>
        <p:spPr>
          <a:xfrm>
            <a:off x="461400" y="2025500"/>
            <a:ext cx="638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FUNCTIONAL PROGRAMMING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7" name="Google Shape;237;g380f35ea841_1_44"/>
          <p:cNvSpPr txBox="1"/>
          <p:nvPr/>
        </p:nvSpPr>
        <p:spPr>
          <a:xfrm>
            <a:off x="1378835" y="2983607"/>
            <a:ext cx="6959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Are functii predefinite ca si filter(), reduce(), map()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Functioneaza bine pe liste mari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1714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8" name="Google Shape;238;g380f35ea841_1_44"/>
          <p:cNvSpPr txBox="1"/>
          <p:nvPr/>
        </p:nvSpPr>
        <p:spPr>
          <a:xfrm>
            <a:off x="641526" y="5450025"/>
            <a:ext cx="6859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Cum citim?</a:t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Aplica x * 2 fiecarui element din comenzi_ana si returneaza lista rezultata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39" name="Google Shape;239;g380f35ea841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450" y="4268227"/>
            <a:ext cx="8616300" cy="880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5" name="Google Shape;245;g380f35ea841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3133225"/>
            <a:ext cx="9238500" cy="37248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46" name="Google Shape;246;g380f35ea841_1_56"/>
          <p:cNvSpPr txBox="1"/>
          <p:nvPr/>
        </p:nvSpPr>
        <p:spPr>
          <a:xfrm>
            <a:off x="461400" y="2623325"/>
            <a:ext cx="178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FIȘIERE</a:t>
            </a:r>
            <a:endParaRPr b="1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7" name="Google Shape;247;g380f35ea841_1_56"/>
          <p:cNvSpPr txBox="1"/>
          <p:nvPr/>
        </p:nvSpPr>
        <p:spPr>
          <a:xfrm>
            <a:off x="1916091" y="4256863"/>
            <a:ext cx="434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rial"/>
              <a:buChar char="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.txt -&gt; log-uri simple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rial"/>
              <a:buChar char="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.csv -&gt; seturi de date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rial"/>
              <a:buChar char="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.json -&gt; configuri sau date structurate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48" name="Google Shape;248;g380f35ea841_1_56"/>
          <p:cNvPicPr preferRelativeResize="0"/>
          <p:nvPr/>
        </p:nvPicPr>
        <p:blipFill rotWithShape="1">
          <a:blip r:embed="rId4">
            <a:alphaModFix/>
          </a:blip>
          <a:srcRect b="0" l="0" r="9180" t="0"/>
          <a:stretch/>
        </p:blipFill>
        <p:spPr>
          <a:xfrm>
            <a:off x="5961275" y="1222700"/>
            <a:ext cx="5437800" cy="4019700"/>
          </a:xfrm>
          <a:prstGeom prst="roundRect">
            <a:avLst>
              <a:gd fmla="val 865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4" name="Google Shape;254;g380f35ea841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80f35ea841_1_68"/>
          <p:cNvSpPr txBox="1"/>
          <p:nvPr/>
        </p:nvSpPr>
        <p:spPr>
          <a:xfrm>
            <a:off x="461400" y="1142500"/>
            <a:ext cx="4576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GESTIONAREA ERORILOR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56" name="Google Shape;256;g380f35ea841_1_68"/>
          <p:cNvSpPr txBox="1"/>
          <p:nvPr/>
        </p:nvSpPr>
        <p:spPr>
          <a:xfrm>
            <a:off x="162925" y="1650050"/>
            <a:ext cx="10690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🔢 Conversii greșite de tip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Ex: "abc" → float("abc") → ValueError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Motiv: în fișiere .csv, valori numerice pot fi stocate greșit (cu spații, litere, simboluri etc.) 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! FOARTE COMUN !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57" name="Google Shape;257;g380f35ea841_1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1900" y="3681950"/>
            <a:ext cx="8368200" cy="2482200"/>
          </a:xfrm>
          <a:prstGeom prst="roundRect">
            <a:avLst>
              <a:gd fmla="val 764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" name="Google Shape;263;g380f35ea841_1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80f35ea841_1_80"/>
          <p:cNvSpPr txBox="1"/>
          <p:nvPr/>
        </p:nvSpPr>
        <p:spPr>
          <a:xfrm>
            <a:off x="461400" y="1142500"/>
            <a:ext cx="4576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GESTIONAREA ERORILOR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65" name="Google Shape;265;g380f35ea841_1_80"/>
          <p:cNvSpPr txBox="1"/>
          <p:nvPr/>
        </p:nvSpPr>
        <p:spPr>
          <a:xfrm>
            <a:off x="675347" y="1854837"/>
            <a:ext cx="10278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❌ Valori lipsă (None, NaN)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Lipsesc coloane, câmpuri goale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Dacă le trimiți direct la model → va da eroare sau învățare eronată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66" name="Google Shape;266;g380f35ea841_1_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8049" y="3582951"/>
            <a:ext cx="8277300" cy="2057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2" name="Google Shape;272;g380f35ea841_1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80f35ea841_1_89"/>
          <p:cNvSpPr txBox="1"/>
          <p:nvPr/>
        </p:nvSpPr>
        <p:spPr>
          <a:xfrm>
            <a:off x="461400" y="1142500"/>
            <a:ext cx="4576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GESTIONAREA ERORILOR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74" name="Google Shape;274;g380f35ea841_1_89"/>
          <p:cNvSpPr txBox="1"/>
          <p:nvPr/>
        </p:nvSpPr>
        <p:spPr>
          <a:xfrm>
            <a:off x="675347" y="1854837"/>
            <a:ext cx="10278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🧪 Date invalide logic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Ex: scor = -5 într-un câmp care trebuie să fie între 0 și 1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Sau comenzi = -200 (ce client dă comenzi negative?)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75" name="Google Shape;275;g380f35ea841_1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8835" y="3336296"/>
            <a:ext cx="9054300" cy="202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1" name="Google Shape;281;g380f35ea841_1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80f35ea841_1_98"/>
          <p:cNvSpPr txBox="1"/>
          <p:nvPr/>
        </p:nvSpPr>
        <p:spPr>
          <a:xfrm>
            <a:off x="461400" y="1142500"/>
            <a:ext cx="4576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GESTIONAREA ERORILOR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83" name="Google Shape;283;g380f35ea841_1_98"/>
          <p:cNvSpPr txBox="1"/>
          <p:nvPr/>
        </p:nvSpPr>
        <p:spPr>
          <a:xfrm>
            <a:off x="675347" y="1854837"/>
            <a:ext cx="10278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🧩 Format greșit de input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Modelul așteaptă listă, primește string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ap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Sau: primește o imagine cu altă dimensiune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84" name="Google Shape;284;g380f35ea841_1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2982" y="3429004"/>
            <a:ext cx="7406100" cy="207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0" name="Google Shape;290;g380f35ea841_1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80f35ea841_1_107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CLEAN CODE</a:t>
            </a:r>
            <a:endParaRPr b="1" i="0" sz="29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92" name="Google Shape;292;g380f35ea841_1_107"/>
          <p:cNvSpPr txBox="1"/>
          <p:nvPr/>
        </p:nvSpPr>
        <p:spPr>
          <a:xfrm>
            <a:off x="675347" y="1854837"/>
            <a:ext cx="10278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Obiectiv</a:t>
            </a: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Scriem cod care: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 usor de inteles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Poate fi modificat usor in viitor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➔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 usor de testat, reutilizat si explicat altora (inclusive noua, celor din viitor)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8" name="Google Shape;298;g380f35ea841_1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80f35ea841_1_115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CLEAN CODE</a:t>
            </a:r>
            <a:endParaRPr b="1" i="0" sz="29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0" name="Google Shape;300;g380f35ea841_1_115"/>
          <p:cNvSpPr txBox="1"/>
          <p:nvPr/>
        </p:nvSpPr>
        <p:spPr>
          <a:xfrm>
            <a:off x="675347" y="1854837"/>
            <a:ext cx="102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PRINCIPUL 1. NUME CLARE SI SEMNIFICATIVE</a:t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01" name="Google Shape;301;g380f35ea841_1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9738" y="2674850"/>
            <a:ext cx="6712500" cy="344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7" name="Google Shape;307;g380f35ea841_1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80f35ea841_1_123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CLEAN CODE</a:t>
            </a:r>
            <a:endParaRPr b="1" i="0" sz="29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9" name="Google Shape;309;g380f35ea841_1_123"/>
          <p:cNvSpPr txBox="1"/>
          <p:nvPr/>
        </p:nvSpPr>
        <p:spPr>
          <a:xfrm>
            <a:off x="675347" y="1854837"/>
            <a:ext cx="102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PRINCIPUL 2. FUNCTII SCURTE, O SINGURA RESPONSABILITATE</a:t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10" name="Google Shape;310;g380f35ea841_1_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1914" y="2501324"/>
            <a:ext cx="5229600" cy="408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6" name="Google Shape;316;g380f35ea841_1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80f35ea841_1_132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CLEAN CODE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8" name="Google Shape;318;g380f35ea841_1_132"/>
          <p:cNvSpPr txBox="1"/>
          <p:nvPr/>
        </p:nvSpPr>
        <p:spPr>
          <a:xfrm>
            <a:off x="675347" y="1854837"/>
            <a:ext cx="1027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PRINCIPUL 3. COMENTARII UTILE, DAR NU IN EXCES</a:t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19" name="Google Shape;319;g380f35ea841_1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5392" y="2778219"/>
            <a:ext cx="8482500" cy="263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5" name="Google Shape;325;g380f35ea841_1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80f35ea841_1_141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CLEAN CODE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27" name="Google Shape;327;g380f35ea841_1_141"/>
          <p:cNvSpPr txBox="1"/>
          <p:nvPr/>
        </p:nvSpPr>
        <p:spPr>
          <a:xfrm>
            <a:off x="675347" y="1854837"/>
            <a:ext cx="10278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PRINCIPUL 4. EVITAREA DUPLICARII DE COD</a:t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28" name="Google Shape;328;g380f35ea841_1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1699" y="2465424"/>
            <a:ext cx="8190000" cy="32880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4" name="Google Shape;334;g380f35ea841_1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80f35ea841_1_150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CLEAN CODE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36" name="Google Shape;336;g380f35ea841_1_150"/>
          <p:cNvSpPr txBox="1"/>
          <p:nvPr/>
        </p:nvSpPr>
        <p:spPr>
          <a:xfrm>
            <a:off x="675347" y="1854837"/>
            <a:ext cx="10278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PRINCIPUL 5. COD PREDICTIBIL SI CONSISTENT</a:t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37" name="Google Shape;337;g380f35ea841_1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7549" y="2684450"/>
            <a:ext cx="6576900" cy="3093300"/>
          </a:xfrm>
          <a:prstGeom prst="roundRect">
            <a:avLst>
              <a:gd fmla="val 1201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3" name="Google Shape;343;g380f35ea841_1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400" y="1604200"/>
            <a:ext cx="11730601" cy="5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80f35ea841_1_159"/>
          <p:cNvSpPr txBox="1"/>
          <p:nvPr/>
        </p:nvSpPr>
        <p:spPr>
          <a:xfrm>
            <a:off x="461400" y="1142500"/>
            <a:ext cx="301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CONCLUZII</a:t>
            </a:r>
            <a:endParaRPr b="1" i="0" sz="2300" u="none" cap="none" strike="noStrike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45" name="Google Shape;345;g380f35ea841_1_159"/>
          <p:cNvSpPr txBox="1"/>
          <p:nvPr/>
        </p:nvSpPr>
        <p:spPr>
          <a:xfrm>
            <a:off x="675347" y="1854837"/>
            <a:ext cx="102783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am învățat: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Am învățat când și de ce este important să alegem anumite tipuri de date.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Vom utiliza Google Colab pentru exerciții și experimente.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Structurile de control și programarea funcțională ne sunt de mare ajutor în lucrul cu machine learning, în special la manipularea seturilor de date.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Ne străduim întotdeauna să aplicăm, pe cât posibil, bunele practici de clean code.</a:t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urmează:</a:t>
            </a:r>
            <a:endParaRPr b="1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Pandas, scikit-learn si modele simple de ML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800"/>
              <a:buFont typeface="Asap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Exersati cat mai mult in Google Colab – practica face diferenta!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1" name="Google Shape;351;g380f35ea841_1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g380f35ea841_1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863" y="1016000"/>
            <a:ext cx="11453133" cy="4443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g380f35ea841_1_1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765300"/>
            <a:ext cx="7734300" cy="357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g380f35ea841_1_1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200" y="5022850"/>
            <a:ext cx="58229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5" name="Google Shape;355;g380f35ea841_1_1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97750" y="571500"/>
            <a:ext cx="4381500" cy="570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g380f35ea841_1_1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900" y="430647"/>
            <a:ext cx="1422400" cy="68811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80f35ea841_1_181"/>
          <p:cNvSpPr/>
          <p:nvPr/>
        </p:nvSpPr>
        <p:spPr>
          <a:xfrm>
            <a:off x="1752600" y="3117850"/>
            <a:ext cx="48387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Asap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80f35ea841_1_181"/>
          <p:cNvSpPr/>
          <p:nvPr/>
        </p:nvSpPr>
        <p:spPr>
          <a:xfrm>
            <a:off x="1377950" y="5187950"/>
            <a:ext cx="5526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3200"/>
              <a:buFont typeface="Asap Medium"/>
              <a:buNone/>
            </a:pPr>
            <a:r>
              <a:rPr b="0" i="0" lang="en-US" sz="32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2025-05-05T19:11:20Z</dcterms:created>
  <dc:creator>Alexandra Tripcea</dc:creator>
</cp:coreProperties>
</file>