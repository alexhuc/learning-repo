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Asap SemiBold"/>
      <p:regular r:id="rId34"/>
      <p:bold r:id="rId35"/>
      <p:italic r:id="rId36"/>
      <p:boldItalic r:id="rId37"/>
    </p:embeddedFont>
    <p:embeddedFont>
      <p:font typeface="Roboto Mono"/>
      <p:regular r:id="rId38"/>
      <p:bold r:id="rId39"/>
      <p:italic r:id="rId40"/>
      <p:boldItalic r:id="rId41"/>
    </p:embeddedFont>
    <p:embeddedFont>
      <p:font typeface="Asap"/>
      <p:regular r:id="rId42"/>
      <p:bold r:id="rId43"/>
      <p:italic r:id="rId44"/>
      <p:boldItalic r:id="rId45"/>
    </p:embeddedFont>
    <p:embeddedFont>
      <p:font typeface="Asap Medium"/>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italic.fntdata"/><Relationship Id="rId42" Type="http://schemas.openxmlformats.org/officeDocument/2006/relationships/font" Target="fonts/Asap-regular.fntdata"/><Relationship Id="rId41" Type="http://schemas.openxmlformats.org/officeDocument/2006/relationships/font" Target="fonts/RobotoMono-boldItalic.fntdata"/><Relationship Id="rId44" Type="http://schemas.openxmlformats.org/officeDocument/2006/relationships/font" Target="fonts/Asap-italic.fntdata"/><Relationship Id="rId43" Type="http://schemas.openxmlformats.org/officeDocument/2006/relationships/font" Target="fonts/Asap-bold.fntdata"/><Relationship Id="rId46" Type="http://schemas.openxmlformats.org/officeDocument/2006/relationships/font" Target="fonts/AsapMedium-regular.fntdata"/><Relationship Id="rId45" Type="http://schemas.openxmlformats.org/officeDocument/2006/relationships/font" Target="fonts/Asap-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AsapMedium-italic.fntdata"/><Relationship Id="rId47" Type="http://schemas.openxmlformats.org/officeDocument/2006/relationships/font" Target="fonts/AsapMedium-bold.fntdata"/><Relationship Id="rId49" Type="http://schemas.openxmlformats.org/officeDocument/2006/relationships/font" Target="fonts/AsapMedium-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font" Target="fonts/AsapSemiBold-bold.fntdata"/><Relationship Id="rId34" Type="http://schemas.openxmlformats.org/officeDocument/2006/relationships/font" Target="fonts/AsapSemiBold-regular.fntdata"/><Relationship Id="rId37" Type="http://schemas.openxmlformats.org/officeDocument/2006/relationships/font" Target="fonts/AsapSemiBold-boldItalic.fntdata"/><Relationship Id="rId36" Type="http://schemas.openxmlformats.org/officeDocument/2006/relationships/font" Target="fonts/AsapSemiBold-italic.fntdata"/><Relationship Id="rId39" Type="http://schemas.openxmlformats.org/officeDocument/2006/relationships/font" Target="fonts/RobotoMono-bold.fntdata"/><Relationship Id="rId38" Type="http://schemas.openxmlformats.org/officeDocument/2006/relationships/font" Target="fonts/RobotoMono-regular.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 name="Google Shape;56;p1: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a:p>
        </p:txBody>
      </p:sp>
      <p:sp>
        <p:nvSpPr>
          <p:cNvPr id="57" name="Google Shape;57;p1: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400"/>
              <a:buNone/>
            </a:pPr>
            <a:r>
              <a:t/>
            </a:r>
            <a:endParaRPr/>
          </a:p>
        </p:txBody>
      </p:sp>
      <p:sp>
        <p:nvSpPr>
          <p:cNvPr id="68" name="Google Shape;6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5: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15000"/>
              </a:lnSpc>
              <a:spcBef>
                <a:spcPts val="1200"/>
              </a:spcBef>
              <a:spcAft>
                <a:spcPts val="0"/>
              </a:spcAft>
              <a:buSzPts val="1100"/>
              <a:buNone/>
            </a:pPr>
            <a:r>
              <a:rPr lang="en-GB">
                <a:solidFill>
                  <a:schemeClr val="dk1"/>
                </a:solidFill>
              </a:rPr>
              <a:t>Oricât de bun ar fi un model de ML, dacă datele sunt de proastă calitate, rezultatele nu vor fi de încredere. </a:t>
            </a:r>
            <a:endParaRPr>
              <a:solidFill>
                <a:schemeClr val="dk1"/>
              </a:solidFill>
            </a:endParaRPr>
          </a:p>
        </p:txBody>
      </p:sp>
      <p:sp>
        <p:nvSpPr>
          <p:cNvPr id="79" name="Google Shape;79;p5: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6: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6: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15000"/>
              </a:lnSpc>
              <a:spcBef>
                <a:spcPts val="1200"/>
              </a:spcBef>
              <a:spcAft>
                <a:spcPts val="0"/>
              </a:spcAft>
              <a:buSzPts val="1100"/>
              <a:buNone/>
            </a:pPr>
            <a:r>
              <a:rPr lang="en-GB">
                <a:solidFill>
                  <a:schemeClr val="dk1"/>
                </a:solidFill>
              </a:rPr>
              <a:t>Dacă 30% din coloana </a:t>
            </a:r>
            <a:r>
              <a:rPr lang="en-GB">
                <a:solidFill>
                  <a:srgbClr val="188038"/>
                </a:solidFill>
                <a:latin typeface="Roboto Mono"/>
                <a:ea typeface="Roboto Mono"/>
                <a:cs typeface="Roboto Mono"/>
                <a:sym typeface="Roboto Mono"/>
              </a:rPr>
              <a:t>de varsta</a:t>
            </a:r>
            <a:r>
              <a:rPr lang="en-GB">
                <a:solidFill>
                  <a:schemeClr val="dk1"/>
                </a:solidFill>
              </a:rPr>
              <a:t> e goală, modelul nostru va pierde informație esențială. De aceea ne uităm la câte valori lipsă avem și decidem dacă putem completa sau dacă trebuie să excludem coloana.</a:t>
            </a:r>
            <a:endParaRPr>
              <a:solidFill>
                <a:schemeClr val="dk1"/>
              </a:solidFill>
            </a:endParaRPr>
          </a:p>
          <a:p>
            <a:pPr indent="0" lvl="0" marL="0" rtl="0" algn="l">
              <a:lnSpc>
                <a:spcPct val="115000"/>
              </a:lnSpc>
              <a:spcBef>
                <a:spcPts val="1200"/>
              </a:spcBef>
              <a:spcAft>
                <a:spcPts val="0"/>
              </a:spcAft>
              <a:buSzPts val="1100"/>
              <a:buNone/>
            </a:pPr>
            <a:r>
              <a:rPr lang="en-GB">
                <a:solidFill>
                  <a:schemeClr val="dk1"/>
                </a:solidFill>
              </a:rPr>
              <a:t>Cum handle-uim? Nu prea e ok sa lasam coloanele pe NaN, pentru ca:</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Sunt multi algoritmi de ML care nu primesc NaN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Intorducem bias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Daca lipsesc multe valori, dataset-ul devine foarte mic </a:t>
            </a:r>
            <a:endParaRPr>
              <a:solidFill>
                <a:schemeClr val="dk1"/>
              </a:solidFill>
            </a:endParaRPr>
          </a:p>
        </p:txBody>
      </p:sp>
      <p:sp>
        <p:nvSpPr>
          <p:cNvPr id="91" name="Google Shape;91;p6: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88ef678342_0_3: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g388ef678342_0_3: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Prima opțiune e mereu să ne întrebăm: putem șterge rândurile sau coloanele?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Dacă lipsesc foarte multe valori, poate n-are sens să păstrăm acea coloană.</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Dacă lipsesc puține, putem </a:t>
            </a:r>
            <a:r>
              <a:rPr b="1" lang="en-GB">
                <a:solidFill>
                  <a:schemeClr val="dk1"/>
                </a:solidFill>
              </a:rPr>
              <a:t>imputa</a:t>
            </a:r>
            <a:r>
              <a:rPr lang="en-GB">
                <a:solidFill>
                  <a:schemeClr val="dk1"/>
                </a:solidFill>
              </a:rPr>
              <a:t> – adică să completăm cu ceva. Media sau mediana sunt cele mai folosite pentru valori numerice. Pentru categorice, folosim cea mai frecventă valoare (mode).</a:t>
            </a:r>
            <a:endParaRPr>
              <a:solidFill>
                <a:schemeClr val="dk1"/>
              </a:solidFill>
            </a:endParaRPr>
          </a:p>
        </p:txBody>
      </p:sp>
      <p:sp>
        <p:nvSpPr>
          <p:cNvPr id="101" name="Google Shape;101;g388ef678342_0_3: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7: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7: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35714"/>
              </a:lnSpc>
              <a:spcBef>
                <a:spcPts val="0"/>
              </a:spcBef>
              <a:spcAft>
                <a:spcPts val="0"/>
              </a:spcAft>
              <a:buClr>
                <a:schemeClr val="dk1"/>
              </a:buClr>
              <a:buSzPts val="1100"/>
              <a:buFont typeface="Arial"/>
              <a:buNone/>
            </a:pPr>
            <a:r>
              <a:t/>
            </a:r>
            <a:endParaRPr sz="10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1200"/>
              </a:spcBef>
              <a:spcAft>
                <a:spcPts val="0"/>
              </a:spcAft>
              <a:buSzPts val="1100"/>
              <a:buNone/>
            </a:pPr>
            <a:r>
              <a:t/>
            </a:r>
            <a:endParaRPr>
              <a:solidFill>
                <a:schemeClr val="dk1"/>
              </a:solidFill>
            </a:endParaRPr>
          </a:p>
          <a:p>
            <a:pPr indent="0" lvl="0" marL="0" rtl="0" algn="l">
              <a:lnSpc>
                <a:spcPct val="100000"/>
              </a:lnSpc>
              <a:spcBef>
                <a:spcPts val="1200"/>
              </a:spcBef>
              <a:spcAft>
                <a:spcPts val="1200"/>
              </a:spcAft>
              <a:buSzPts val="1100"/>
              <a:buNone/>
            </a:pPr>
            <a:r>
              <a:t/>
            </a:r>
            <a:endParaRPr>
              <a:solidFill>
                <a:schemeClr val="dk1"/>
              </a:solidFill>
            </a:endParaRPr>
          </a:p>
        </p:txBody>
      </p:sp>
      <p:sp>
        <p:nvSpPr>
          <p:cNvPr id="111" name="Google Shape;111;p7: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88ef678342_0_43: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g388ef678342_0_43: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1200"/>
              </a:spcBef>
              <a:spcAft>
                <a:spcPts val="1200"/>
              </a:spcAft>
              <a:buSzPts val="1100"/>
              <a:buNone/>
            </a:pPr>
            <a:r>
              <a:t/>
            </a:r>
            <a:endParaRPr>
              <a:solidFill>
                <a:schemeClr val="dk1"/>
              </a:solidFill>
            </a:endParaRPr>
          </a:p>
        </p:txBody>
      </p:sp>
      <p:sp>
        <p:nvSpPr>
          <p:cNvPr id="121" name="Google Shape;121;g388ef678342_0_43: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88ef678342_0_55: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g388ef678342_0_55: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1200"/>
              </a:spcBef>
              <a:spcAft>
                <a:spcPts val="1200"/>
              </a:spcAft>
              <a:buSzPts val="1100"/>
              <a:buNone/>
            </a:pPr>
            <a:r>
              <a:t/>
            </a:r>
            <a:endParaRPr>
              <a:solidFill>
                <a:schemeClr val="dk1"/>
              </a:solidFill>
            </a:endParaRPr>
          </a:p>
        </p:txBody>
      </p:sp>
      <p:sp>
        <p:nvSpPr>
          <p:cNvPr id="131" name="Google Shape;131;g388ef678342_0_55: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8: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8: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35714"/>
              </a:lnSpc>
              <a:spcBef>
                <a:spcPts val="0"/>
              </a:spcBef>
              <a:spcAft>
                <a:spcPts val="0"/>
              </a:spcAft>
              <a:buSzPts val="1100"/>
              <a:buNone/>
            </a:pPr>
            <a:r>
              <a:t/>
            </a:r>
            <a:endParaRPr b="1">
              <a:solidFill>
                <a:schemeClr val="dk1"/>
              </a:solidFill>
            </a:endParaRPr>
          </a:p>
        </p:txBody>
      </p:sp>
      <p:sp>
        <p:nvSpPr>
          <p:cNvPr id="141" name="Google Shape;141;p8: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89cf488332_0_0: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g389cf488332_0_0: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35714"/>
              </a:lnSpc>
              <a:spcBef>
                <a:spcPts val="0"/>
              </a:spcBef>
              <a:spcAft>
                <a:spcPts val="0"/>
              </a:spcAft>
              <a:buSzPts val="1100"/>
              <a:buNone/>
            </a:pPr>
            <a:r>
              <a:t/>
            </a:r>
            <a:endParaRPr b="1">
              <a:solidFill>
                <a:schemeClr val="dk1"/>
              </a:solidFill>
            </a:endParaRPr>
          </a:p>
        </p:txBody>
      </p:sp>
      <p:sp>
        <p:nvSpPr>
          <p:cNvPr id="151" name="Google Shape;151;g389cf488332_0_0: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9: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9: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15000"/>
              </a:lnSpc>
              <a:spcBef>
                <a:spcPts val="1200"/>
              </a:spcBef>
              <a:spcAft>
                <a:spcPts val="0"/>
              </a:spcAft>
              <a:buSzPts val="1100"/>
              <a:buNone/>
            </a:pPr>
            <a:r>
              <a:rPr lang="en-GB">
                <a:solidFill>
                  <a:schemeClr val="dk1"/>
                </a:solidFill>
              </a:rPr>
              <a:t>O altă dimensiune importantă e actualitatea. Dacă vrem să prezicem creditul cu date financiare de acum 5 ani, rezultatul nu mai are sens. În unele aplicații, timeliness e critic: </a:t>
            </a:r>
            <a:endParaRPr>
              <a:solidFill>
                <a:schemeClr val="dk1"/>
              </a:solidFill>
            </a:endParaRPr>
          </a:p>
          <a:p>
            <a:pPr indent="0" lvl="0" marL="0" rtl="0" algn="l">
              <a:lnSpc>
                <a:spcPct val="115000"/>
              </a:lnSpc>
              <a:spcBef>
                <a:spcPts val="1200"/>
              </a:spcBef>
              <a:spcAft>
                <a:spcPts val="0"/>
              </a:spcAft>
              <a:buSzPts val="1100"/>
              <a:buNone/>
            </a:pPr>
            <a:r>
              <a:rPr lang="en-GB">
                <a:solidFill>
                  <a:schemeClr val="dk1"/>
                </a:solidFill>
              </a:rPr>
              <a:t>De exemplu la detectarea fraudelor bancare, datele trebuie să fie din ultimele secunde sau minute. </a:t>
            </a:r>
            <a:endParaRPr>
              <a:solidFill>
                <a:schemeClr val="dk1"/>
              </a:solidFill>
            </a:endParaRPr>
          </a:p>
          <a:p>
            <a:pPr indent="0" lvl="0" marL="0" rtl="0" algn="l">
              <a:lnSpc>
                <a:spcPct val="115000"/>
              </a:lnSpc>
              <a:spcBef>
                <a:spcPts val="1200"/>
              </a:spcBef>
              <a:spcAft>
                <a:spcPts val="1200"/>
              </a:spcAft>
              <a:buSzPts val="1100"/>
              <a:buNone/>
            </a:pPr>
            <a:r>
              <a:t/>
            </a:r>
            <a:endParaRPr>
              <a:solidFill>
                <a:schemeClr val="dk1"/>
              </a:solidFill>
            </a:endParaRPr>
          </a:p>
        </p:txBody>
      </p:sp>
      <p:sp>
        <p:nvSpPr>
          <p:cNvPr id="161" name="Google Shape;161;p9: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0: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10: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298450" lvl="0" marL="457200" rtl="0" algn="l">
              <a:lnSpc>
                <a:spcPct val="115000"/>
              </a:lnSpc>
              <a:spcBef>
                <a:spcPts val="1200"/>
              </a:spcBef>
              <a:spcAft>
                <a:spcPts val="0"/>
              </a:spcAft>
              <a:buClr>
                <a:schemeClr val="dk1"/>
              </a:buClr>
              <a:buSzPts val="1100"/>
              <a:buChar char="●"/>
            </a:pPr>
            <a:r>
              <a:rPr b="1" lang="en-GB">
                <a:solidFill>
                  <a:schemeClr val="dk1"/>
                </a:solidFill>
              </a:rPr>
              <a:t>MCAR</a:t>
            </a:r>
            <a:r>
              <a:rPr lang="en-GB">
                <a:solidFill>
                  <a:schemeClr val="dk1"/>
                </a:solidFill>
              </a:rPr>
              <a:t> – complet aleator. Exemplu: în Titanic, dacă unele vârste lipsesc doar pentru că s-au pierdut fișele, și asta nu are legătură cu altceva.</a:t>
            </a:r>
            <a:endParaRPr>
              <a:solidFill>
                <a:schemeClr val="dk1"/>
              </a:solidFill>
            </a:endParaRPr>
          </a:p>
          <a:p>
            <a:pPr indent="-298450" lvl="1" marL="914400" rtl="0" algn="l">
              <a:lnSpc>
                <a:spcPct val="115000"/>
              </a:lnSpc>
              <a:spcBef>
                <a:spcPts val="1200"/>
              </a:spcBef>
              <a:spcAft>
                <a:spcPts val="0"/>
              </a:spcAft>
              <a:buClr>
                <a:schemeClr val="dk1"/>
              </a:buClr>
              <a:buSzPts val="1100"/>
              <a:buChar char="○"/>
            </a:pPr>
            <a:r>
              <a:rPr lang="en-GB">
                <a:solidFill>
                  <a:schemeClr val="dk1"/>
                </a:solidFill>
              </a:rPr>
              <a:t>Nu au legatura cu nimic =&gt; putem sterge randurile sau completa cu ceva simplu mean/mediana</a:t>
            </a:r>
            <a:endParaRPr>
              <a:solidFill>
                <a:schemeClr val="dk1"/>
              </a:solidFill>
            </a:endParaRPr>
          </a:p>
          <a:p>
            <a:pPr indent="-298450" lvl="1" marL="914400" rtl="0" algn="l">
              <a:lnSpc>
                <a:spcPct val="115000"/>
              </a:lnSpc>
              <a:spcBef>
                <a:spcPts val="1200"/>
              </a:spcBef>
              <a:spcAft>
                <a:spcPts val="0"/>
              </a:spcAft>
              <a:buClr>
                <a:schemeClr val="dk1"/>
              </a:buClr>
              <a:buSzPts val="1100"/>
              <a:buChar char="○"/>
            </a:pPr>
            <a:r>
              <a:rPr lang="en-GB">
                <a:solidFill>
                  <a:schemeClr val="dk1"/>
                </a:solidFill>
              </a:rPr>
              <a:t>Nu riscam sa stricam modelul, ci doar sa pierdem informatie</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MAR</a:t>
            </a:r>
            <a:r>
              <a:rPr lang="en-GB">
                <a:solidFill>
                  <a:schemeClr val="dk1"/>
                </a:solidFill>
              </a:rPr>
              <a:t> – lipsa depinde de altă coloană. De exemplu, dacă veniturile lipsesc mai des la persoanele tinere, putem prezice lipsa folosindu-ne de vârstă.</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Atunci nu e ok doar sa punem media globala =&gt; vom strica relatia</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MNAR</a:t>
            </a:r>
            <a:r>
              <a:rPr lang="en-GB">
                <a:solidFill>
                  <a:schemeClr val="dk1"/>
                </a:solidFill>
              </a:rPr>
              <a:t> – cel mai problematic. Exemplu: salariile mari lipsesc pentru că oamenii nu vor să le raporteze. Aici lipsa în sine are sens și poate introduce bias.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Daca le stergem sau completam cu altceva =&gt; la fel, introducem bias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Uneori trebuie doar acceptate</a:t>
            </a:r>
            <a:br>
              <a:rPr lang="en-GB">
                <a:solidFill>
                  <a:schemeClr val="dk1"/>
                </a:solidFill>
              </a:rPr>
            </a:br>
            <a:endParaRPr b="1">
              <a:solidFill>
                <a:schemeClr val="dk1"/>
              </a:solidFill>
            </a:endParaRPr>
          </a:p>
          <a:p>
            <a:pPr indent="0" lvl="0" marL="0" rtl="0" algn="l">
              <a:lnSpc>
                <a:spcPct val="115000"/>
              </a:lnSpc>
              <a:spcBef>
                <a:spcPts val="1200"/>
              </a:spcBef>
              <a:spcAft>
                <a:spcPts val="1200"/>
              </a:spcAft>
              <a:buSzPts val="1100"/>
              <a:buNone/>
            </a:pPr>
            <a:r>
              <a:t/>
            </a:r>
            <a:endParaRPr>
              <a:solidFill>
                <a:schemeClr val="dk1"/>
              </a:solidFill>
            </a:endParaRPr>
          </a:p>
        </p:txBody>
      </p:sp>
      <p:sp>
        <p:nvSpPr>
          <p:cNvPr id="171" name="Google Shape;171;p10: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88ef678342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g388ef678342_0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MCAR -&gt; s-au grabit, nu au apucat sa completeze raspunsurile</a:t>
            </a:r>
            <a:endParaRPr/>
          </a:p>
        </p:txBody>
      </p:sp>
      <p:sp>
        <p:nvSpPr>
          <p:cNvPr id="182" name="Google Shape;182;g388ef678342_0_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88ef678342_0_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g388ef678342_0_1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MAR -&gt; Lipsa se explica prin coloana de “Varsta” </a:t>
            </a:r>
            <a:endParaRPr/>
          </a:p>
        </p:txBody>
      </p:sp>
      <p:sp>
        <p:nvSpPr>
          <p:cNvPr id="190" name="Google Shape;190;g388ef678342_0_1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88ef678342_0_1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g388ef678342_0_1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MNAR -&gt; lipsa depinde de valoarea in sine, salariul</a:t>
            </a:r>
            <a:endParaRPr/>
          </a:p>
        </p:txBody>
      </p:sp>
      <p:sp>
        <p:nvSpPr>
          <p:cNvPr id="198" name="Google Shape;198;g388ef678342_0_1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88ef678342_0_1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g388ef678342_0_1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MCAR -&gt; lipsesc complet aleatoriu, fara pattern</a:t>
            </a:r>
            <a:endParaRPr/>
          </a:p>
        </p:txBody>
      </p:sp>
      <p:sp>
        <p:nvSpPr>
          <p:cNvPr id="206" name="Google Shape;206;g388ef678342_0_1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88ef678342_0_1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g388ef678342_0_1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MAR -&gt; lipsa depinde de o alta variabila observabila (varsta)</a:t>
            </a:r>
            <a:endParaRPr/>
          </a:p>
        </p:txBody>
      </p:sp>
      <p:sp>
        <p:nvSpPr>
          <p:cNvPr id="214" name="Google Shape;214;g388ef678342_0_1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2: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12: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 Unele variabile au scări foarte diferite</a:t>
            </a:r>
            <a:br>
              <a:rPr b="1" lang="en-GB">
                <a:solidFill>
                  <a:schemeClr val="dk1"/>
                </a:solidFill>
              </a:rPr>
            </a:br>
            <a:r>
              <a:rPr lang="en-GB">
                <a:solidFill>
                  <a:schemeClr val="dk1"/>
                </a:solidFill>
              </a:rPr>
              <a:t> – De exemplu: salariul poate fi în mii de euro, iar vârsta în zeci de ani.</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Algoritmii bazați pe distanță sunt afectați</a:t>
            </a:r>
            <a:br>
              <a:rPr b="1" lang="en-GB">
                <a:solidFill>
                  <a:schemeClr val="dk1"/>
                </a:solidFill>
              </a:rPr>
            </a:br>
            <a:r>
              <a:rPr lang="en-GB">
                <a:solidFill>
                  <a:schemeClr val="dk1"/>
                </a:solidFill>
              </a:rPr>
              <a:t> – În KNN sau clustering, variabila cu valori mari (salariul) va domina distanțele.</a:t>
            </a:r>
            <a:br>
              <a:rPr lang="en-GB">
                <a:solidFill>
                  <a:schemeClr val="dk1"/>
                </a:solidFill>
              </a:rPr>
            </a:br>
            <a:r>
              <a:rPr lang="en-GB">
                <a:solidFill>
                  <a:schemeClr val="dk1"/>
                </a:solidFill>
              </a:rPr>
              <a:t> – Asta poate duce la rezultate distorsionate.</a:t>
            </a:r>
            <a:br>
              <a:rPr b="1" lang="en-GB">
                <a:solidFill>
                  <a:schemeClr val="dk1"/>
                </a:solidFill>
              </a:rPr>
            </a:br>
            <a:r>
              <a:rPr lang="en-GB">
                <a:solidFill>
                  <a:schemeClr val="dk1"/>
                </a:solidFill>
              </a:rPr>
              <a:t> – Prin normalizare sau standardizare, toate variabilele au aceeași scară.</a:t>
            </a:r>
            <a:br>
              <a:rPr lang="en-GB">
                <a:solidFill>
                  <a:schemeClr val="dk1"/>
                </a:solidFill>
              </a:rPr>
            </a:br>
            <a:r>
              <a:rPr lang="en-GB">
                <a:solidFill>
                  <a:schemeClr val="dk1"/>
                </a:solidFill>
              </a:rPr>
              <a:t> – Algoritmii „cântăresc” fiecare feature în mod echitabil.</a:t>
            </a:r>
            <a:endParaRPr>
              <a:solidFill>
                <a:schemeClr val="dk1"/>
              </a:solidFill>
            </a:endParaRPr>
          </a:p>
          <a:p>
            <a:pPr indent="0" lvl="0" marL="0" rtl="0" algn="l">
              <a:lnSpc>
                <a:spcPct val="115000"/>
              </a:lnSpc>
              <a:spcBef>
                <a:spcPts val="1200"/>
              </a:spcBef>
              <a:spcAft>
                <a:spcPts val="1200"/>
              </a:spcAft>
              <a:buSzPts val="1100"/>
              <a:buNone/>
            </a:pPr>
            <a:r>
              <a:t/>
            </a:r>
            <a:endParaRPr>
              <a:solidFill>
                <a:schemeClr val="dk1"/>
              </a:solidFill>
            </a:endParaRPr>
          </a:p>
        </p:txBody>
      </p:sp>
      <p:sp>
        <p:nvSpPr>
          <p:cNvPr id="222" name="Google Shape;222;p12: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3: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p13: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Min-Max Scaling</a:t>
            </a:r>
            <a:r>
              <a:rPr lang="en-GB">
                <a:solidFill>
                  <a:schemeClr val="dk1"/>
                </a:solidFill>
              </a:rPr>
              <a:t>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ia cea mai mică și cea mai mare valoare și comprimă totul între 0 și 1</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asta înseamnă că o valoare mică se va vedea foarte aproape de 0, iar una mare foarte aproape de 1.</a:t>
            </a:r>
            <a:endParaRPr>
              <a:solidFill>
                <a:schemeClr val="dk1"/>
              </a:solidFill>
            </a:endParaRPr>
          </a:p>
          <a:p>
            <a:pPr indent="0" lvl="0" marL="0" rtl="0" algn="l">
              <a:lnSpc>
                <a:spcPct val="115000"/>
              </a:lnSpc>
              <a:spcBef>
                <a:spcPts val="1200"/>
              </a:spcBef>
              <a:spcAft>
                <a:spcPts val="1200"/>
              </a:spcAft>
              <a:buSzPts val="1100"/>
              <a:buNone/>
            </a:pPr>
            <a:r>
              <a:rPr b="1" lang="en-GB">
                <a:solidFill>
                  <a:schemeClr val="dk1"/>
                </a:solidFill>
              </a:rPr>
              <a:t>Problema e că dacă avem outlieri – de exemplu un pasager cu un pret al biletului extrem de mare – toată scara se strânge și celelalte valori par foarte mici.</a:t>
            </a:r>
            <a:endParaRPr b="1">
              <a:solidFill>
                <a:schemeClr val="dk1"/>
              </a:solidFill>
            </a:endParaRPr>
          </a:p>
        </p:txBody>
      </p:sp>
      <p:sp>
        <p:nvSpPr>
          <p:cNvPr id="232" name="Google Shape;232;p13: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4: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p14: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Scala</a:t>
            </a:r>
            <a:r>
              <a:rPr lang="en-GB">
                <a:solidFill>
                  <a:schemeClr val="dk1"/>
                </a:solidFill>
              </a:rPr>
              <a:t>rea standard transformă datele astfel încât media dintre ele să fie 0 și unitatea de măsură să fie deviația standard</a:t>
            </a:r>
            <a:endParaRPr>
              <a:solidFill>
                <a:schemeClr val="dk1"/>
              </a:solidFill>
            </a:endParaRPr>
          </a:p>
          <a:p>
            <a:pPr indent="457200" lvl="0" marL="0" rtl="0" algn="l">
              <a:spcBef>
                <a:spcPts val="0"/>
              </a:spcBef>
              <a:spcAft>
                <a:spcPts val="0"/>
              </a:spcAft>
              <a:buNone/>
            </a:pPr>
            <a:r>
              <a:rPr lang="en-GB">
                <a:solidFill>
                  <a:schemeClr val="dk1"/>
                </a:solidFill>
              </a:rPr>
              <a:t>→ </a:t>
            </a:r>
            <a:r>
              <a:rPr b="1" lang="en-GB">
                <a:solidFill>
                  <a:schemeClr val="dk1"/>
                </a:solidFill>
              </a:rPr>
              <a:t>media devine 0, deviația standard devine 1.</a:t>
            </a:r>
            <a:endParaRPr b="1">
              <a:solidFill>
                <a:schemeClr val="dk1"/>
              </a:solidFill>
            </a:endParaRPr>
          </a:p>
          <a:p>
            <a:pPr indent="457200" lvl="0" marL="0" rtl="0" algn="l">
              <a:spcBef>
                <a:spcPts val="0"/>
              </a:spcBef>
              <a:spcAft>
                <a:spcPts val="0"/>
              </a:spcAft>
              <a:buNone/>
            </a:pPr>
            <a:r>
              <a:rPr lang="en-GB">
                <a:solidFill>
                  <a:schemeClr val="dk1"/>
                </a:solidFill>
              </a:rPr>
              <a:t>ex. [2, 4, 6] =&gt; </a:t>
            </a:r>
            <a:r>
              <a:rPr b="1" lang="en-GB">
                <a:solidFill>
                  <a:schemeClr val="dk1"/>
                </a:solidFill>
              </a:rPr>
              <a:t>media = 4</a:t>
            </a:r>
            <a:endParaRPr b="1">
              <a:solidFill>
                <a:schemeClr val="dk1"/>
              </a:solidFill>
            </a:endParaRPr>
          </a:p>
          <a:p>
            <a:pPr indent="457200" lvl="0" marL="0" rtl="0" algn="l">
              <a:spcBef>
                <a:spcPts val="0"/>
              </a:spcBef>
              <a:spcAft>
                <a:spcPts val="0"/>
              </a:spcAft>
              <a:buNone/>
            </a:pPr>
            <a:r>
              <a:rPr b="1" lang="en-GB">
                <a:solidFill>
                  <a:schemeClr val="dk1"/>
                </a:solidFill>
              </a:rPr>
              <a:t>Daca scadem media =&gt; [-2, 0, 2] =&gt; media e 0</a:t>
            </a:r>
            <a:endParaRPr b="1">
              <a:solidFill>
                <a:schemeClr val="dk1"/>
              </a:solidFill>
            </a:endParaRPr>
          </a:p>
          <a:p>
            <a:pPr indent="457200" lvl="0" marL="0" rtl="0" algn="l">
              <a:spcBef>
                <a:spcPts val="0"/>
              </a:spcBef>
              <a:spcAft>
                <a:spcPts val="0"/>
              </a:spcAft>
              <a:buNone/>
            </a:pPr>
            <a:r>
              <a:rPr b="1" lang="en-GB">
                <a:solidFill>
                  <a:schemeClr val="dk1"/>
                </a:solidFill>
              </a:rPr>
              <a:t>Deviatia standard </a:t>
            </a:r>
            <a:r>
              <a:rPr lang="en-GB">
                <a:solidFill>
                  <a:schemeClr val="dk1"/>
                </a:solidFill>
              </a:rPr>
              <a:t>arata </a:t>
            </a:r>
            <a:r>
              <a:rPr b="1" lang="en-GB">
                <a:solidFill>
                  <a:schemeClr val="dk1"/>
                </a:solidFill>
              </a:rPr>
              <a:t>cat de imprastiate sunt valorile</a:t>
            </a:r>
            <a:r>
              <a:rPr lang="en-GB">
                <a:solidFill>
                  <a:schemeClr val="dk1"/>
                </a:solidFill>
              </a:rPr>
              <a:t> fata de medie. =&gt; </a:t>
            </a:r>
            <a:r>
              <a:rPr b="1" lang="en-GB">
                <a:solidFill>
                  <a:schemeClr val="dk1"/>
                </a:solidFill>
              </a:rPr>
              <a:t>deviatia e 2</a:t>
            </a:r>
            <a:r>
              <a:rPr lang="en-GB">
                <a:solidFill>
                  <a:schemeClr val="dk1"/>
                </a:solidFill>
              </a:rPr>
              <a:t> </a:t>
            </a:r>
            <a:endParaRPr>
              <a:solidFill>
                <a:schemeClr val="dk1"/>
              </a:solidFill>
            </a:endParaRPr>
          </a:p>
          <a:p>
            <a:pPr indent="457200" lvl="0" marL="0" rtl="0" algn="l">
              <a:spcBef>
                <a:spcPts val="0"/>
              </a:spcBef>
              <a:spcAft>
                <a:spcPts val="0"/>
              </a:spcAft>
              <a:buNone/>
            </a:pPr>
            <a:r>
              <a:rPr b="1" lang="en-GB">
                <a:solidFill>
                  <a:schemeClr val="dk1"/>
                </a:solidFill>
              </a:rPr>
              <a:t>Daca impartim toate valorile la deviatie</a:t>
            </a:r>
            <a:r>
              <a:rPr lang="en-GB">
                <a:solidFill>
                  <a:schemeClr val="dk1"/>
                </a:solidFill>
              </a:rPr>
              <a:t> =&gt; [-1, 0, 1]</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Ca si </a:t>
            </a:r>
            <a:r>
              <a:rPr b="1" lang="en-GB">
                <a:solidFill>
                  <a:schemeClr val="dk1"/>
                </a:solidFill>
              </a:rPr>
              <a:t>intuitie</a:t>
            </a:r>
            <a:r>
              <a:rPr lang="en-GB">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Toate coloanele sunt COMPARABILE, pentru ca centrul lor e 0 (la fel pentru toti)</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“Imprastierea” lor e standard (la fel pentru toti)</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Asta e util pentru algoritmi statistici sau modele liniare, unde contează cât de departe este o valoare față de media distribuției, nu neapărat poziția ei absolută.</a:t>
            </a:r>
            <a:endParaRPr>
              <a:solidFill>
                <a:schemeClr val="dk1"/>
              </a:solidFill>
            </a:endParaRPr>
          </a:p>
          <a:p>
            <a:pPr indent="0" lvl="0" marL="0" rtl="0" algn="l">
              <a:lnSpc>
                <a:spcPct val="115000"/>
              </a:lnSpc>
              <a:spcBef>
                <a:spcPts val="1200"/>
              </a:spcBef>
              <a:spcAft>
                <a:spcPts val="1200"/>
              </a:spcAft>
              <a:buSzPts val="1100"/>
              <a:buNone/>
            </a:pPr>
            <a:r>
              <a:t/>
            </a:r>
            <a:endParaRPr>
              <a:solidFill>
                <a:schemeClr val="dk1"/>
              </a:solidFill>
            </a:endParaRPr>
          </a:p>
        </p:txBody>
      </p:sp>
      <p:sp>
        <p:nvSpPr>
          <p:cNvPr id="242" name="Google Shape;242;p14: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5: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p15: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Intuiția:</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Min-Max</a:t>
            </a:r>
            <a:r>
              <a:rPr lang="en-GB">
                <a:solidFill>
                  <a:schemeClr val="dk1"/>
                </a:solidFill>
              </a:rPr>
              <a:t> reflectă poziția absolută între minim și maxim.</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StandardScaler</a:t>
            </a:r>
            <a:r>
              <a:rPr lang="en-GB">
                <a:solidFill>
                  <a:schemeClr val="dk1"/>
                </a:solidFill>
              </a:rPr>
              <a:t> reflectă cât de departe e valoarea de medie.</a:t>
            </a:r>
            <a:br>
              <a:rPr lang="en-GB">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Când alegem ce metodă să folosim, trebuie să ne gândim la algoritmul nostru și la ce vrem să surprindem: relații relative (0–1) sau deviații față de medie.</a:t>
            </a:r>
            <a:endParaRPr>
              <a:solidFill>
                <a:schemeClr val="dk1"/>
              </a:solidFill>
            </a:endParaRPr>
          </a:p>
          <a:p>
            <a:pPr indent="0" lvl="0" marL="0" rtl="0" algn="l">
              <a:lnSpc>
                <a:spcPct val="115000"/>
              </a:lnSpc>
              <a:spcBef>
                <a:spcPts val="1200"/>
              </a:spcBef>
              <a:spcAft>
                <a:spcPts val="1200"/>
              </a:spcAft>
              <a:buSzPts val="1100"/>
              <a:buNone/>
            </a:pPr>
            <a:r>
              <a:t/>
            </a:r>
            <a:endParaRPr>
              <a:solidFill>
                <a:schemeClr val="dk1"/>
              </a:solidFill>
            </a:endParaRPr>
          </a:p>
        </p:txBody>
      </p:sp>
      <p:sp>
        <p:nvSpPr>
          <p:cNvPr id="252" name="Google Shape;252;p15: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6: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p16: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15000"/>
              </a:lnSpc>
              <a:spcBef>
                <a:spcPts val="1200"/>
              </a:spcBef>
              <a:spcAft>
                <a:spcPts val="1200"/>
              </a:spcAft>
              <a:buSzPts val="1100"/>
              <a:buNone/>
            </a:pPr>
            <a:r>
              <a:t/>
            </a:r>
            <a:endParaRPr>
              <a:solidFill>
                <a:schemeClr val="dk1"/>
              </a:solidFill>
            </a:endParaRPr>
          </a:p>
        </p:txBody>
      </p:sp>
      <p:sp>
        <p:nvSpPr>
          <p:cNvPr id="262" name="Google Shape;262;p16: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88ef678342_0_12: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g388ef678342_0_12: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15000"/>
              </a:lnSpc>
              <a:spcBef>
                <a:spcPts val="1200"/>
              </a:spcBef>
              <a:spcAft>
                <a:spcPts val="1200"/>
              </a:spcAft>
              <a:buSzPts val="1100"/>
              <a:buNone/>
            </a:pPr>
            <a:r>
              <a:t/>
            </a:r>
            <a:endParaRPr>
              <a:solidFill>
                <a:schemeClr val="dk1"/>
              </a:solidFill>
            </a:endParaRPr>
          </a:p>
        </p:txBody>
      </p:sp>
      <p:sp>
        <p:nvSpPr>
          <p:cNvPr id="272" name="Google Shape;272;g388ef678342_0_12: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88ef678342_0_22: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g388ef678342_0_22: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15000"/>
              </a:lnSpc>
              <a:spcBef>
                <a:spcPts val="1200"/>
              </a:spcBef>
              <a:spcAft>
                <a:spcPts val="1200"/>
              </a:spcAft>
              <a:buSzPts val="1100"/>
              <a:buNone/>
            </a:pPr>
            <a:r>
              <a:t/>
            </a:r>
            <a:endParaRPr>
              <a:solidFill>
                <a:schemeClr val="dk1"/>
              </a:solidFill>
            </a:endParaRPr>
          </a:p>
        </p:txBody>
      </p:sp>
      <p:sp>
        <p:nvSpPr>
          <p:cNvPr id="282" name="Google Shape;282;g388ef678342_0_22: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7: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 name="Google Shape;291;p17: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Problema la </a:t>
            </a:r>
            <a:r>
              <a:rPr b="1" lang="en-GB">
                <a:solidFill>
                  <a:schemeClr val="dk1"/>
                </a:solidFill>
              </a:rPr>
              <a:t>Label Encoding</a:t>
            </a:r>
            <a:r>
              <a:rPr lang="en-GB">
                <a:solidFill>
                  <a:schemeClr val="dk1"/>
                </a:solidFill>
              </a:rPr>
              <a:t> este că sugerează o relație de tip ‘mai mic’ și ‘mai mare’ între categorii, deși aceasta nu există. Dacă scriem </a:t>
            </a:r>
            <a:r>
              <a:rPr lang="en-GB">
                <a:solidFill>
                  <a:srgbClr val="188038"/>
                </a:solidFill>
                <a:latin typeface="Roboto Mono"/>
                <a:ea typeface="Roboto Mono"/>
                <a:cs typeface="Roboto Mono"/>
                <a:sym typeface="Roboto Mono"/>
              </a:rPr>
              <a:t>male=1, female=0</a:t>
            </a:r>
            <a:r>
              <a:rPr lang="en-GB">
                <a:solidFill>
                  <a:schemeClr val="dk1"/>
                </a:solidFill>
              </a:rPr>
              <a:t>, modelul ar putea interpreta că bărbații sunt ‘de două ori’ față de femei — ceea ce nu are sens.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One-Hot</a:t>
            </a:r>
            <a:r>
              <a:rPr lang="en-GB">
                <a:solidFill>
                  <a:schemeClr val="dk1"/>
                </a:solidFill>
              </a:rPr>
              <a:t> rezolvă asta: </a:t>
            </a:r>
            <a:r>
              <a:rPr lang="en-GB">
                <a:solidFill>
                  <a:srgbClr val="188038"/>
                </a:solidFill>
                <a:latin typeface="Roboto Mono"/>
                <a:ea typeface="Roboto Mono"/>
                <a:cs typeface="Roboto Mono"/>
                <a:sym typeface="Roboto Mono"/>
              </a:rPr>
              <a:t>male</a:t>
            </a:r>
            <a:r>
              <a:rPr lang="en-GB">
                <a:solidFill>
                  <a:schemeClr val="dk1"/>
                </a:solidFill>
              </a:rPr>
              <a:t> devine o coloană, </a:t>
            </a:r>
            <a:r>
              <a:rPr lang="en-GB">
                <a:solidFill>
                  <a:srgbClr val="188038"/>
                </a:solidFill>
                <a:latin typeface="Roboto Mono"/>
                <a:ea typeface="Roboto Mono"/>
                <a:cs typeface="Roboto Mono"/>
                <a:sym typeface="Roboto Mono"/>
              </a:rPr>
              <a:t>female</a:t>
            </a:r>
            <a:r>
              <a:rPr lang="en-GB">
                <a:solidFill>
                  <a:schemeClr val="dk1"/>
                </a:solidFill>
              </a:rPr>
              <a:t> alta, și avem doar valori 0/1. Singurul dezavantaj e că daca o variabila are foarte multe optiuni, numărul de coloane pot fii foarte multe.</a:t>
            </a:r>
            <a:endParaRPr>
              <a:solidFill>
                <a:schemeClr val="dk1"/>
              </a:solidFill>
            </a:endParaRPr>
          </a:p>
          <a:p>
            <a:pPr indent="0" lvl="0" marL="0" rtl="0" algn="l">
              <a:lnSpc>
                <a:spcPct val="115000"/>
              </a:lnSpc>
              <a:spcBef>
                <a:spcPts val="1200"/>
              </a:spcBef>
              <a:spcAft>
                <a:spcPts val="1200"/>
              </a:spcAft>
              <a:buSzPts val="1100"/>
              <a:buNone/>
            </a:pPr>
            <a:r>
              <a:t/>
            </a:r>
            <a:endParaRPr>
              <a:solidFill>
                <a:schemeClr val="dk1"/>
              </a:solidFill>
            </a:endParaRPr>
          </a:p>
        </p:txBody>
      </p:sp>
      <p:sp>
        <p:nvSpPr>
          <p:cNvPr id="292" name="Google Shape;292;p17: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9: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p19: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15000"/>
              </a:lnSpc>
              <a:spcBef>
                <a:spcPts val="1200"/>
              </a:spcBef>
              <a:spcAft>
                <a:spcPts val="0"/>
              </a:spcAft>
              <a:buSzPts val="1100"/>
              <a:buNone/>
            </a:pPr>
            <a:r>
              <a:rPr lang="en-GB">
                <a:solidFill>
                  <a:schemeClr val="dk1"/>
                </a:solidFill>
              </a:rPr>
              <a:t>Întreg procesul începe cu </a:t>
            </a:r>
            <a:r>
              <a:rPr i="1" lang="en-GB">
                <a:solidFill>
                  <a:schemeClr val="dk1"/>
                </a:solidFill>
              </a:rPr>
              <a:t>Assessment</a:t>
            </a:r>
            <a:r>
              <a:rPr lang="en-GB">
                <a:solidFill>
                  <a:schemeClr val="dk1"/>
                </a:solidFill>
              </a:rPr>
              <a:t>, unde ne uităm atent la date: </a:t>
            </a:r>
            <a:endParaRPr>
              <a:solidFill>
                <a:schemeClr val="dk1"/>
              </a:solidFill>
            </a:endParaRPr>
          </a:p>
          <a:p>
            <a:pPr indent="0" lvl="0" marL="0" rtl="0" algn="l">
              <a:lnSpc>
                <a:spcPct val="115000"/>
              </a:lnSpc>
              <a:spcBef>
                <a:spcPts val="1200"/>
              </a:spcBef>
              <a:spcAft>
                <a:spcPts val="0"/>
              </a:spcAft>
              <a:buSzPts val="1100"/>
              <a:buNone/>
            </a:pPr>
            <a:r>
              <a:rPr lang="en-GB">
                <a:solidFill>
                  <a:schemeClr val="dk1"/>
                </a:solidFill>
              </a:rPr>
              <a:t>sunt complete, corecte, consecvente și actuale? Asta e partea de diagnostic. </a:t>
            </a:r>
            <a:endParaRPr>
              <a:solidFill>
                <a:schemeClr val="dk1"/>
              </a:solidFill>
            </a:endParaRPr>
          </a:p>
          <a:p>
            <a:pPr indent="0" lvl="0" marL="0" rtl="0" algn="l">
              <a:lnSpc>
                <a:spcPct val="115000"/>
              </a:lnSpc>
              <a:spcBef>
                <a:spcPts val="1200"/>
              </a:spcBef>
              <a:spcAft>
                <a:spcPts val="1200"/>
              </a:spcAft>
              <a:buSzPts val="1100"/>
              <a:buNone/>
            </a:pPr>
            <a:r>
              <a:rPr lang="en-GB">
                <a:solidFill>
                  <a:schemeClr val="dk1"/>
                </a:solidFill>
              </a:rPr>
              <a:t>Apoi, cu Data Cleaning, venim cu tratamente concrete: completăm valorile lipsă, corectăm sau eliminăm date invalide, standardizăm categorii și eliminăm datele prea vechi</a:t>
            </a:r>
            <a:endParaRPr>
              <a:solidFill>
                <a:schemeClr val="dk1"/>
              </a:solidFill>
            </a:endParaRPr>
          </a:p>
        </p:txBody>
      </p:sp>
      <p:sp>
        <p:nvSpPr>
          <p:cNvPr id="302" name="Google Shape;302;p19: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De multe ori ne grăbim să facem modele, dar adevărul e că modelele nu pot fi mai bune decât datele pe care le primesc. De aceea pipeline-ul corect este: întâi facem Assessment, apoi Cleaning și abia apoi trecem la Preprocessing și modelare. Dacă sărim peste aceste etape, riscăm să antrenăm modele pe date proaste și să avem rezultate complet eronate.</a:t>
            </a:r>
            <a:endParaRPr/>
          </a:p>
        </p:txBody>
      </p:sp>
      <p:sp>
        <p:nvSpPr>
          <p:cNvPr id="312" name="Google Shape;312;p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1: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 name="Google Shape;319;p21: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a:p>
        </p:txBody>
      </p:sp>
      <p:sp>
        <p:nvSpPr>
          <p:cNvPr id="320" name="Google Shape;320;p21: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9" name="Shape 9"/>
        <p:cNvGrpSpPr/>
        <p:nvPr/>
      </p:nvGrpSpPr>
      <p:grpSpPr>
        <a:xfrm>
          <a:off x="0" y="0"/>
          <a:ext cx="0" cy="0"/>
          <a:chOff x="0" y="0"/>
          <a:chExt cx="0" cy="0"/>
        </a:xfrm>
      </p:grpSpPr>
      <p:pic>
        <p:nvPicPr>
          <p:cNvPr descr="preencoded.png" id="10" name="Google Shape;10;p2"/>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descr="preencoded.png" id="11" name="Google Shape;11;p2"/>
          <p:cNvPicPr preferRelativeResize="0"/>
          <p:nvPr/>
        </p:nvPicPr>
        <p:blipFill rotWithShape="1">
          <a:blip r:embed="rId3">
            <a:alphaModFix/>
          </a:blip>
          <a:srcRect b="0" l="0" r="0" t="0"/>
          <a:stretch/>
        </p:blipFill>
        <p:spPr>
          <a:xfrm>
            <a:off x="638175" y="322985"/>
            <a:ext cx="1066800" cy="51608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4" name="Google Shape;14;p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1">
  <p:cSld name="DEFAULT_1">
    <p:bg>
      <p:bgPr>
        <a:solidFill>
          <a:schemeClr val="lt1"/>
        </a:solidFill>
      </p:bgPr>
    </p:bg>
    <p:spTree>
      <p:nvGrpSpPr>
        <p:cNvPr id="16" name="Shape 1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3" name="Google Shape;2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7" name="Google Shape;27;p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8" name="Google Shape;28;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4" name="Google Shape;34;p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 name="Google Shape;35;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1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1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1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1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1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 name="Google Shape;44;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7" name="Google Shape;47;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0" name="Google Shape;50;p1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1" name="Google Shape;51;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9.png"/><Relationship Id="rId7"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 name="Shape 58"/>
        <p:cNvGrpSpPr/>
        <p:nvPr/>
      </p:nvGrpSpPr>
      <p:grpSpPr>
        <a:xfrm>
          <a:off x="0" y="0"/>
          <a:ext cx="0" cy="0"/>
          <a:chOff x="0" y="0"/>
          <a:chExt cx="0" cy="0"/>
        </a:xfrm>
      </p:grpSpPr>
      <p:pic>
        <p:nvPicPr>
          <p:cNvPr descr="preencoded.png" id="59" name="Google Shape;59;p15"/>
          <p:cNvPicPr preferRelativeResize="0"/>
          <p:nvPr/>
        </p:nvPicPr>
        <p:blipFill rotWithShape="1">
          <a:blip r:embed="rId4">
            <a:alphaModFix/>
          </a:blip>
          <a:srcRect b="0" l="0" r="0" t="0"/>
          <a:stretch/>
        </p:blipFill>
        <p:spPr>
          <a:xfrm>
            <a:off x="554147" y="762000"/>
            <a:ext cx="8589850" cy="3332513"/>
          </a:xfrm>
          <a:prstGeom prst="rect">
            <a:avLst/>
          </a:prstGeom>
          <a:noFill/>
          <a:ln>
            <a:noFill/>
          </a:ln>
        </p:spPr>
      </p:pic>
      <p:pic>
        <p:nvPicPr>
          <p:cNvPr descr="preencoded.png" id="60" name="Google Shape;60;p15"/>
          <p:cNvPicPr preferRelativeResize="0"/>
          <p:nvPr/>
        </p:nvPicPr>
        <p:blipFill rotWithShape="1">
          <a:blip r:embed="rId5">
            <a:alphaModFix/>
          </a:blip>
          <a:srcRect b="0" l="0" r="0" t="0"/>
          <a:stretch/>
        </p:blipFill>
        <p:spPr>
          <a:xfrm>
            <a:off x="742950" y="1323975"/>
            <a:ext cx="8401051" cy="2681288"/>
          </a:xfrm>
          <a:prstGeom prst="rect">
            <a:avLst/>
          </a:prstGeom>
          <a:noFill/>
          <a:ln>
            <a:noFill/>
          </a:ln>
          <a:effectLst>
            <a:outerShdw blurRad="42863" rotWithShape="0" algn="bl" dir="9000000" dist="14287">
              <a:srgbClr val="313CFF">
                <a:alpha val="89411"/>
              </a:srgbClr>
            </a:outerShdw>
          </a:effectLst>
        </p:spPr>
      </p:pic>
      <p:pic>
        <p:nvPicPr>
          <p:cNvPr descr="preencoded.png" id="61" name="Google Shape;61;p15"/>
          <p:cNvPicPr preferRelativeResize="0"/>
          <p:nvPr/>
        </p:nvPicPr>
        <p:blipFill rotWithShape="1">
          <a:blip r:embed="rId6">
            <a:alphaModFix/>
          </a:blip>
          <a:srcRect b="0" l="0" r="0" t="0"/>
          <a:stretch/>
        </p:blipFill>
        <p:spPr>
          <a:xfrm>
            <a:off x="729880" y="3767138"/>
            <a:ext cx="3562350" cy="614363"/>
          </a:xfrm>
          <a:prstGeom prst="rect">
            <a:avLst/>
          </a:prstGeom>
          <a:noFill/>
          <a:ln>
            <a:noFill/>
          </a:ln>
        </p:spPr>
      </p:pic>
      <p:pic>
        <p:nvPicPr>
          <p:cNvPr descr="preencoded.png" id="62" name="Google Shape;62;p15"/>
          <p:cNvPicPr preferRelativeResize="0"/>
          <p:nvPr/>
        </p:nvPicPr>
        <p:blipFill rotWithShape="1">
          <a:blip r:embed="rId7">
            <a:alphaModFix/>
          </a:blip>
          <a:srcRect b="0" l="0" r="0" t="0"/>
          <a:stretch/>
        </p:blipFill>
        <p:spPr>
          <a:xfrm>
            <a:off x="638175" y="322985"/>
            <a:ext cx="1066800" cy="516083"/>
          </a:xfrm>
          <a:prstGeom prst="rect">
            <a:avLst/>
          </a:prstGeom>
          <a:noFill/>
          <a:ln>
            <a:noFill/>
          </a:ln>
        </p:spPr>
      </p:pic>
      <p:sp>
        <p:nvSpPr>
          <p:cNvPr id="63" name="Google Shape;63;p15"/>
          <p:cNvSpPr/>
          <p:nvPr/>
        </p:nvSpPr>
        <p:spPr>
          <a:xfrm>
            <a:off x="909638" y="1538288"/>
            <a:ext cx="7938000" cy="1990800"/>
          </a:xfrm>
          <a:prstGeom prst="rect">
            <a:avLst/>
          </a:prstGeom>
          <a:noFill/>
          <a:ln>
            <a:noFill/>
          </a:ln>
          <a:effectLst>
            <a:outerShdw rotWithShape="0" algn="bl">
              <a:srgbClr val="313CFF"/>
            </a:outerShdw>
          </a:effectLst>
        </p:spPr>
        <p:txBody>
          <a:bodyPr anchorCtr="0" anchor="t" bIns="0" lIns="0" spcFirstLastPara="1" rIns="0" wrap="square" tIns="0">
            <a:noAutofit/>
          </a:bodyPr>
          <a:lstStyle/>
          <a:p>
            <a:pPr indent="0" lvl="0" marL="0" marR="0" rtl="0" algn="ctr">
              <a:lnSpc>
                <a:spcPct val="97752"/>
              </a:lnSpc>
              <a:spcBef>
                <a:spcPts val="0"/>
              </a:spcBef>
              <a:spcAft>
                <a:spcPts val="0"/>
              </a:spcAft>
              <a:buClr>
                <a:srgbClr val="FFFFFF"/>
              </a:buClr>
              <a:buSzPts val="5300"/>
              <a:buFont typeface="Asap"/>
              <a:buNone/>
            </a:pPr>
            <a:r>
              <a:rPr b="1" i="0" lang="en-GB" sz="4700" u="none" cap="none" strike="noStrike">
                <a:solidFill>
                  <a:srgbClr val="FFFFFF"/>
                </a:solidFill>
                <a:latin typeface="Asap"/>
                <a:ea typeface="Asap"/>
                <a:cs typeface="Asap"/>
                <a:sym typeface="Asap"/>
              </a:rPr>
              <a:t>Machine Learning </a:t>
            </a:r>
            <a:endParaRPr b="1" i="0" sz="4700" u="none" cap="none" strike="noStrike">
              <a:solidFill>
                <a:srgbClr val="FFFFFF"/>
              </a:solidFill>
              <a:latin typeface="Asap"/>
              <a:ea typeface="Asap"/>
              <a:cs typeface="Asap"/>
              <a:sym typeface="Asap"/>
            </a:endParaRPr>
          </a:p>
          <a:p>
            <a:pPr indent="-342900" lvl="0" marL="342900" marR="0" rtl="0" algn="ctr">
              <a:lnSpc>
                <a:spcPct val="97752"/>
              </a:lnSpc>
              <a:spcBef>
                <a:spcPts val="0"/>
              </a:spcBef>
              <a:spcAft>
                <a:spcPts val="0"/>
              </a:spcAft>
              <a:buClr>
                <a:srgbClr val="FFFFFF"/>
              </a:buClr>
              <a:buSzPts val="3800"/>
              <a:buFont typeface="Asap"/>
              <a:buChar char="-"/>
            </a:pPr>
            <a:r>
              <a:rPr b="1" i="0" lang="en-GB" sz="3800" u="none" cap="none" strike="noStrike">
                <a:solidFill>
                  <a:srgbClr val="FFFFFF"/>
                </a:solidFill>
                <a:latin typeface="Asap"/>
                <a:ea typeface="Asap"/>
                <a:cs typeface="Asap"/>
                <a:sym typeface="Asap"/>
              </a:rPr>
              <a:t>curs - </a:t>
            </a:r>
            <a:endParaRPr b="1" i="0" sz="3800" u="none" cap="none" strike="noStrike">
              <a:solidFill>
                <a:srgbClr val="FFFFFF"/>
              </a:solidFill>
              <a:latin typeface="Asap"/>
              <a:ea typeface="Asap"/>
              <a:cs typeface="Asap"/>
              <a:sym typeface="Asap"/>
            </a:endParaRPr>
          </a:p>
        </p:txBody>
      </p:sp>
      <p:sp>
        <p:nvSpPr>
          <p:cNvPr id="64" name="Google Shape;64;p15"/>
          <p:cNvSpPr/>
          <p:nvPr/>
        </p:nvSpPr>
        <p:spPr>
          <a:xfrm>
            <a:off x="1037155" y="3914250"/>
            <a:ext cx="2786100" cy="352200"/>
          </a:xfrm>
          <a:prstGeom prst="rect">
            <a:avLst/>
          </a:prstGeom>
          <a:noFill/>
          <a:ln>
            <a:noFill/>
          </a:ln>
        </p:spPr>
        <p:txBody>
          <a:bodyPr anchorCtr="0" anchor="t" bIns="0" lIns="0" spcFirstLastPara="1" rIns="0" wrap="square" tIns="0">
            <a:noAutofit/>
          </a:bodyPr>
          <a:lstStyle/>
          <a:p>
            <a:pPr indent="0" lvl="0" marL="0" marR="0" rtl="0" algn="l">
              <a:lnSpc>
                <a:spcPct val="95625"/>
              </a:lnSpc>
              <a:spcBef>
                <a:spcPts val="0"/>
              </a:spcBef>
              <a:spcAft>
                <a:spcPts val="0"/>
              </a:spcAft>
              <a:buClr>
                <a:srgbClr val="313CFF"/>
              </a:buClr>
              <a:buSzPts val="2400"/>
              <a:buFont typeface="Asap Medium"/>
              <a:buNone/>
            </a:pPr>
            <a:r>
              <a:rPr b="0" i="0" lang="en-GB" sz="2400" u="none" cap="none" strike="noStrike">
                <a:solidFill>
                  <a:srgbClr val="313CFF"/>
                </a:solidFill>
                <a:latin typeface="Asap Medium"/>
                <a:ea typeface="Asap Medium"/>
                <a:cs typeface="Asap Medium"/>
                <a:sym typeface="Asap Medium"/>
              </a:rPr>
              <a:t>— Sesiunea </a:t>
            </a:r>
            <a:r>
              <a:rPr lang="en-GB" sz="2400">
                <a:solidFill>
                  <a:srgbClr val="313CFF"/>
                </a:solidFill>
                <a:latin typeface="Asap Medium"/>
                <a:ea typeface="Asap Medium"/>
                <a:cs typeface="Asap Medium"/>
                <a:sym typeface="Asap Medium"/>
              </a:rPr>
              <a:t>3</a:t>
            </a:r>
            <a:endParaRPr b="0" i="0" sz="2400" u="none" cap="none" strike="noStrike">
              <a:solidFill>
                <a:schemeClr val="dk1"/>
              </a:solidFill>
              <a:latin typeface="Calibri"/>
              <a:ea typeface="Calibri"/>
              <a:cs typeface="Calibri"/>
              <a:sym typeface="Calibri"/>
            </a:endParaRPr>
          </a:p>
        </p:txBody>
      </p:sp>
      <p:sp>
        <p:nvSpPr>
          <p:cNvPr id="65" name="Google Shape;65;p15"/>
          <p:cNvSpPr txBox="1"/>
          <p:nvPr/>
        </p:nvSpPr>
        <p:spPr>
          <a:xfrm>
            <a:off x="909650" y="2980035"/>
            <a:ext cx="8006400" cy="600300"/>
          </a:xfrm>
          <a:prstGeom prst="rect">
            <a:avLst/>
          </a:prstGeom>
          <a:noFill/>
          <a:ln>
            <a:noFill/>
          </a:ln>
        </p:spPr>
        <p:txBody>
          <a:bodyPr anchorCtr="0" anchor="t" bIns="68575" lIns="68575" spcFirstLastPara="1" rIns="68575" wrap="square" tIns="68575">
            <a:spAutoFit/>
          </a:bodyPr>
          <a:lstStyle/>
          <a:p>
            <a:pPr indent="0" lvl="0" marL="0" marR="0" rtl="0" algn="ctr">
              <a:lnSpc>
                <a:spcPct val="115000"/>
              </a:lnSpc>
              <a:spcBef>
                <a:spcPts val="0"/>
              </a:spcBef>
              <a:spcAft>
                <a:spcPts val="0"/>
              </a:spcAft>
              <a:buClr>
                <a:schemeClr val="dk1"/>
              </a:buClr>
              <a:buSzPts val="1100"/>
              <a:buFont typeface="Arial"/>
              <a:buNone/>
            </a:pPr>
            <a:r>
              <a:rPr b="0" i="1" lang="en-GB" sz="3000" u="none" cap="none" strike="noStrike">
                <a:solidFill>
                  <a:schemeClr val="accent6"/>
                </a:solidFill>
                <a:latin typeface="Asap SemiBold"/>
                <a:ea typeface="Asap SemiBold"/>
                <a:cs typeface="Asap SemiBold"/>
                <a:sym typeface="Asap SemiBold"/>
              </a:rPr>
              <a:t>Data Preprocessing &amp; Cleaning</a:t>
            </a:r>
            <a:r>
              <a:rPr b="0" i="0" lang="en-GB" sz="3000" u="none" cap="none" strike="noStrike">
                <a:solidFill>
                  <a:schemeClr val="accent6"/>
                </a:solidFill>
                <a:latin typeface="Asap SemiBold"/>
                <a:ea typeface="Asap SemiBold"/>
                <a:cs typeface="Asap SemiBold"/>
                <a:sym typeface="Asap SemiBold"/>
              </a:rPr>
              <a:t> </a:t>
            </a:r>
            <a:endParaRPr b="0" i="1" sz="3000" u="none" cap="none" strike="noStrike">
              <a:solidFill>
                <a:srgbClr val="FFFF01"/>
              </a:solidFill>
              <a:latin typeface="Asap SemiBold"/>
              <a:ea typeface="Asap SemiBold"/>
              <a:cs typeface="Asap SemiBold"/>
              <a:sym typeface="Asap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pic>
        <p:nvPicPr>
          <p:cNvPr descr="preencoded.png" id="70" name="Google Shape;70;p16"/>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71" name="Google Shape;71;p16"/>
          <p:cNvPicPr preferRelativeResize="0"/>
          <p:nvPr/>
        </p:nvPicPr>
        <p:blipFill rotWithShape="1">
          <a:blip r:embed="rId4">
            <a:alphaModFix/>
          </a:blip>
          <a:srcRect b="0" l="0" r="0" t="0"/>
          <a:stretch/>
        </p:blipFill>
        <p:spPr>
          <a:xfrm>
            <a:off x="4348165" y="0"/>
            <a:ext cx="4795832" cy="5143500"/>
          </a:xfrm>
          <a:prstGeom prst="rect">
            <a:avLst/>
          </a:prstGeom>
          <a:noFill/>
          <a:ln>
            <a:noFill/>
          </a:ln>
        </p:spPr>
      </p:pic>
      <p:pic>
        <p:nvPicPr>
          <p:cNvPr descr="preencoded.png" id="72" name="Google Shape;72;p16"/>
          <p:cNvPicPr preferRelativeResize="0"/>
          <p:nvPr/>
        </p:nvPicPr>
        <p:blipFill rotWithShape="1">
          <a:blip r:embed="rId5">
            <a:alphaModFix/>
          </a:blip>
          <a:srcRect b="0" l="0" r="0" t="0"/>
          <a:stretch/>
        </p:blipFill>
        <p:spPr>
          <a:xfrm>
            <a:off x="0" y="1080113"/>
            <a:ext cx="7244700" cy="4063200"/>
          </a:xfrm>
          <a:prstGeom prst="round2SameRect">
            <a:avLst>
              <a:gd fmla="val 8143" name="adj1"/>
              <a:gd fmla="val 0" name="adj2"/>
            </a:avLst>
          </a:prstGeom>
          <a:noFill/>
          <a:ln>
            <a:noFill/>
          </a:ln>
        </p:spPr>
      </p:pic>
      <p:pic>
        <p:nvPicPr>
          <p:cNvPr descr="preencoded.png" id="73" name="Google Shape;73;p16"/>
          <p:cNvPicPr preferRelativeResize="0"/>
          <p:nvPr/>
        </p:nvPicPr>
        <p:blipFill rotWithShape="1">
          <a:blip r:embed="rId6">
            <a:alphaModFix/>
          </a:blip>
          <a:srcRect b="0" l="0" r="0" t="0"/>
          <a:stretch/>
        </p:blipFill>
        <p:spPr>
          <a:xfrm>
            <a:off x="638175" y="322985"/>
            <a:ext cx="1066800" cy="516083"/>
          </a:xfrm>
          <a:prstGeom prst="rect">
            <a:avLst/>
          </a:prstGeom>
          <a:noFill/>
          <a:ln>
            <a:noFill/>
          </a:ln>
        </p:spPr>
      </p:pic>
      <p:sp>
        <p:nvSpPr>
          <p:cNvPr id="74" name="Google Shape;74;p16"/>
          <p:cNvSpPr txBox="1"/>
          <p:nvPr>
            <p:ph idx="1" type="subTitle"/>
          </p:nvPr>
        </p:nvSpPr>
        <p:spPr>
          <a:xfrm>
            <a:off x="133631" y="1238588"/>
            <a:ext cx="6280500" cy="39048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1800"/>
              <a:buNone/>
            </a:pPr>
            <a:r>
              <a:rPr b="1" lang="en-GB">
                <a:solidFill>
                  <a:schemeClr val="lt1"/>
                </a:solidFill>
                <a:latin typeface="Asap"/>
                <a:ea typeface="Asap"/>
                <a:cs typeface="Asap"/>
                <a:sym typeface="Asap"/>
              </a:rPr>
              <a:t>Pre-procesare &amp; cleaning de date</a:t>
            </a:r>
            <a:endParaRPr b="1">
              <a:solidFill>
                <a:schemeClr val="lt1"/>
              </a:solidFill>
              <a:latin typeface="Asap"/>
              <a:ea typeface="Asap"/>
              <a:cs typeface="Asap"/>
              <a:sym typeface="Asap"/>
            </a:endParaRPr>
          </a:p>
          <a:p>
            <a:pPr indent="0" lvl="0" marL="0" rtl="0" algn="l">
              <a:lnSpc>
                <a:spcPct val="90000"/>
              </a:lnSpc>
              <a:spcBef>
                <a:spcPts val="0"/>
              </a:spcBef>
              <a:spcAft>
                <a:spcPts val="0"/>
              </a:spcAft>
              <a:buClr>
                <a:schemeClr val="dk1"/>
              </a:buClr>
              <a:buSzPts val="1800"/>
              <a:buNone/>
            </a:pPr>
            <a:r>
              <a:t/>
            </a:r>
            <a:endParaRPr>
              <a:solidFill>
                <a:schemeClr val="lt1"/>
              </a:solidFill>
              <a:latin typeface="Asap"/>
              <a:ea typeface="Asap"/>
              <a:cs typeface="Asap"/>
              <a:sym typeface="Asap"/>
            </a:endParaRPr>
          </a:p>
          <a:p>
            <a:pPr indent="-247650" lvl="0" marL="254000" rtl="0" algn="just">
              <a:lnSpc>
                <a:spcPct val="90000"/>
              </a:lnSpc>
              <a:spcBef>
                <a:spcPts val="800"/>
              </a:spcBef>
              <a:spcAft>
                <a:spcPts val="0"/>
              </a:spcAft>
              <a:buClr>
                <a:srgbClr val="FFFF01"/>
              </a:buClr>
              <a:buSzPts val="1500"/>
              <a:buFont typeface="Asap"/>
              <a:buChar char="●"/>
            </a:pPr>
            <a:r>
              <a:rPr lang="en-GB" sz="1500">
                <a:solidFill>
                  <a:schemeClr val="lt1"/>
                </a:solidFill>
                <a:latin typeface="Asap"/>
                <a:ea typeface="Asap"/>
                <a:cs typeface="Asap"/>
                <a:sym typeface="Asap"/>
              </a:rPr>
              <a:t>Cum handle-uim datele care lipsesc? </a:t>
            </a:r>
            <a:endParaRPr sz="1500">
              <a:solidFill>
                <a:schemeClr val="lt1"/>
              </a:solidFill>
              <a:latin typeface="Asap"/>
              <a:ea typeface="Asap"/>
              <a:cs typeface="Asap"/>
              <a:sym typeface="Asap"/>
            </a:endParaRPr>
          </a:p>
          <a:p>
            <a:pPr indent="-247650" lvl="0" marL="254000" rtl="0" algn="just">
              <a:lnSpc>
                <a:spcPct val="90000"/>
              </a:lnSpc>
              <a:spcBef>
                <a:spcPts val="800"/>
              </a:spcBef>
              <a:spcAft>
                <a:spcPts val="0"/>
              </a:spcAft>
              <a:buClr>
                <a:srgbClr val="FFFF01"/>
              </a:buClr>
              <a:buSzPts val="1500"/>
              <a:buFont typeface="Asap"/>
              <a:buChar char="●"/>
            </a:pPr>
            <a:r>
              <a:rPr lang="en-GB" sz="1500">
                <a:solidFill>
                  <a:schemeClr val="lt1"/>
                </a:solidFill>
                <a:latin typeface="Asap"/>
                <a:ea typeface="Asap"/>
                <a:cs typeface="Asap"/>
                <a:sym typeface="Asap"/>
              </a:rPr>
              <a:t>Cum clean-uim un dataset? </a:t>
            </a:r>
            <a:endParaRPr sz="1500">
              <a:solidFill>
                <a:schemeClr val="lt1"/>
              </a:solidFill>
              <a:latin typeface="Asap"/>
              <a:ea typeface="Asap"/>
              <a:cs typeface="Asap"/>
              <a:sym typeface="Asap"/>
            </a:endParaRPr>
          </a:p>
          <a:p>
            <a:pPr indent="-247650" lvl="0" marL="254000" rtl="0" algn="just">
              <a:lnSpc>
                <a:spcPct val="90000"/>
              </a:lnSpc>
              <a:spcBef>
                <a:spcPts val="800"/>
              </a:spcBef>
              <a:spcAft>
                <a:spcPts val="0"/>
              </a:spcAft>
              <a:buClr>
                <a:srgbClr val="FFFF01"/>
              </a:buClr>
              <a:buSzPts val="1500"/>
              <a:buFont typeface="Asap"/>
              <a:buChar char="●"/>
            </a:pPr>
            <a:r>
              <a:rPr lang="en-GB" sz="1500">
                <a:solidFill>
                  <a:schemeClr val="lt1"/>
                </a:solidFill>
                <a:latin typeface="Asap"/>
                <a:ea typeface="Asap"/>
                <a:cs typeface="Asap"/>
                <a:sym typeface="Asap"/>
              </a:rPr>
              <a:t>Tehnici de assesment pentru data quality:</a:t>
            </a:r>
            <a:endParaRPr sz="1500">
              <a:solidFill>
                <a:schemeClr val="lt1"/>
              </a:solidFill>
              <a:latin typeface="Asap"/>
              <a:ea typeface="Asap"/>
              <a:cs typeface="Asap"/>
              <a:sym typeface="Asap"/>
            </a:endParaRPr>
          </a:p>
          <a:p>
            <a:pPr indent="-412750" lvl="1" marL="914400" rtl="0" algn="just">
              <a:lnSpc>
                <a:spcPct val="90000"/>
              </a:lnSpc>
              <a:spcBef>
                <a:spcPts val="800"/>
              </a:spcBef>
              <a:spcAft>
                <a:spcPts val="0"/>
              </a:spcAft>
              <a:buClr>
                <a:srgbClr val="FFFF01"/>
              </a:buClr>
              <a:buSzPts val="1500"/>
              <a:buFont typeface="Asap"/>
              <a:buChar char="○"/>
            </a:pPr>
            <a:r>
              <a:rPr lang="en-GB" sz="1500">
                <a:solidFill>
                  <a:schemeClr val="lt1"/>
                </a:solidFill>
                <a:latin typeface="Asap"/>
                <a:ea typeface="Asap"/>
                <a:cs typeface="Asap"/>
                <a:sym typeface="Asap"/>
              </a:rPr>
              <a:t>Completeness</a:t>
            </a:r>
            <a:endParaRPr sz="1500">
              <a:solidFill>
                <a:schemeClr val="lt1"/>
              </a:solidFill>
              <a:latin typeface="Asap"/>
              <a:ea typeface="Asap"/>
              <a:cs typeface="Asap"/>
              <a:sym typeface="Asap"/>
            </a:endParaRPr>
          </a:p>
          <a:p>
            <a:pPr indent="-412750" lvl="1" marL="914400" rtl="0" algn="just">
              <a:lnSpc>
                <a:spcPct val="90000"/>
              </a:lnSpc>
              <a:spcBef>
                <a:spcPts val="800"/>
              </a:spcBef>
              <a:spcAft>
                <a:spcPts val="0"/>
              </a:spcAft>
              <a:buClr>
                <a:srgbClr val="FFFF01"/>
              </a:buClr>
              <a:buSzPts val="1500"/>
              <a:buFont typeface="Asap"/>
              <a:buChar char="○"/>
            </a:pPr>
            <a:r>
              <a:rPr lang="en-GB" sz="1500">
                <a:solidFill>
                  <a:schemeClr val="lt1"/>
                </a:solidFill>
                <a:latin typeface="Asap"/>
                <a:ea typeface="Asap"/>
                <a:cs typeface="Asap"/>
                <a:sym typeface="Asap"/>
              </a:rPr>
              <a:t>Accuracy</a:t>
            </a:r>
            <a:endParaRPr sz="1500">
              <a:solidFill>
                <a:schemeClr val="lt1"/>
              </a:solidFill>
              <a:latin typeface="Asap"/>
              <a:ea typeface="Asap"/>
              <a:cs typeface="Asap"/>
              <a:sym typeface="Asap"/>
            </a:endParaRPr>
          </a:p>
          <a:p>
            <a:pPr indent="-412750" lvl="1" marL="914400" rtl="0" algn="just">
              <a:lnSpc>
                <a:spcPct val="90000"/>
              </a:lnSpc>
              <a:spcBef>
                <a:spcPts val="800"/>
              </a:spcBef>
              <a:spcAft>
                <a:spcPts val="0"/>
              </a:spcAft>
              <a:buClr>
                <a:srgbClr val="FFFF01"/>
              </a:buClr>
              <a:buSzPts val="1500"/>
              <a:buFont typeface="Asap"/>
              <a:buChar char="○"/>
            </a:pPr>
            <a:r>
              <a:rPr lang="en-GB" sz="1500">
                <a:solidFill>
                  <a:schemeClr val="lt1"/>
                </a:solidFill>
                <a:latin typeface="Asap"/>
                <a:ea typeface="Asap"/>
                <a:cs typeface="Asap"/>
                <a:sym typeface="Asap"/>
              </a:rPr>
              <a:t>Consistency</a:t>
            </a:r>
            <a:endParaRPr sz="1500">
              <a:solidFill>
                <a:schemeClr val="lt1"/>
              </a:solidFill>
              <a:latin typeface="Asap"/>
              <a:ea typeface="Asap"/>
              <a:cs typeface="Asap"/>
              <a:sym typeface="Asap"/>
            </a:endParaRPr>
          </a:p>
          <a:p>
            <a:pPr indent="-412750" lvl="1" marL="914400" rtl="0" algn="just">
              <a:lnSpc>
                <a:spcPct val="90000"/>
              </a:lnSpc>
              <a:spcBef>
                <a:spcPts val="800"/>
              </a:spcBef>
              <a:spcAft>
                <a:spcPts val="0"/>
              </a:spcAft>
              <a:buClr>
                <a:srgbClr val="FFFF01"/>
              </a:buClr>
              <a:buSzPts val="1500"/>
              <a:buFont typeface="Asap"/>
              <a:buChar char="○"/>
            </a:pPr>
            <a:r>
              <a:rPr lang="en-GB" sz="1500">
                <a:solidFill>
                  <a:schemeClr val="lt1"/>
                </a:solidFill>
                <a:latin typeface="Asap"/>
                <a:ea typeface="Asap"/>
                <a:cs typeface="Asap"/>
                <a:sym typeface="Asap"/>
              </a:rPr>
              <a:t>Timeliness</a:t>
            </a:r>
            <a:endParaRPr sz="1500">
              <a:solidFill>
                <a:schemeClr val="lt1"/>
              </a:solidFill>
              <a:latin typeface="Asap"/>
              <a:ea typeface="Asap"/>
              <a:cs typeface="Asap"/>
              <a:sym typeface="Asap"/>
            </a:endParaRPr>
          </a:p>
          <a:p>
            <a:pPr indent="0" lvl="0" marL="0" rtl="0" algn="l">
              <a:lnSpc>
                <a:spcPct val="90000"/>
              </a:lnSpc>
              <a:spcBef>
                <a:spcPts val="800"/>
              </a:spcBef>
              <a:spcAft>
                <a:spcPts val="0"/>
              </a:spcAft>
              <a:buNone/>
            </a:pPr>
            <a:r>
              <a:t/>
            </a:r>
            <a:endParaRPr>
              <a:latin typeface="Asap"/>
              <a:ea typeface="Asap"/>
              <a:cs typeface="Asap"/>
              <a:sym typeface="Asap"/>
            </a:endParaRPr>
          </a:p>
        </p:txBody>
      </p:sp>
      <p:sp>
        <p:nvSpPr>
          <p:cNvPr id="75" name="Google Shape;75;p16"/>
          <p:cNvSpPr/>
          <p:nvPr/>
        </p:nvSpPr>
        <p:spPr>
          <a:xfrm>
            <a:off x="4860218" y="683655"/>
            <a:ext cx="2278800" cy="328800"/>
          </a:xfrm>
          <a:prstGeom prst="rect">
            <a:avLst/>
          </a:prstGeom>
          <a:noFill/>
          <a:ln>
            <a:noFill/>
          </a:ln>
          <a:effectLst>
            <a:outerShdw blurRad="42863" rotWithShape="0" algn="bl" dir="7800000" dist="14287">
              <a:srgbClr val="000000">
                <a:alpha val="20392"/>
              </a:srgbClr>
            </a:outerShdw>
          </a:effectLst>
        </p:spPr>
        <p:txBody>
          <a:bodyPr anchorCtr="0" anchor="t" bIns="0" lIns="0" spcFirstLastPara="1" rIns="0" wrap="square" tIns="0">
            <a:noAutofit/>
          </a:bodyPr>
          <a:lstStyle/>
          <a:p>
            <a:pPr indent="0" lvl="0" marL="0" marR="0" rtl="0" algn="ctr">
              <a:lnSpc>
                <a:spcPct val="124898"/>
              </a:lnSpc>
              <a:spcBef>
                <a:spcPts val="0"/>
              </a:spcBef>
              <a:spcAft>
                <a:spcPts val="0"/>
              </a:spcAft>
              <a:buClr>
                <a:srgbClr val="FFFF01"/>
              </a:buClr>
              <a:buSzPts val="3700"/>
              <a:buFont typeface="Asap"/>
              <a:buNone/>
            </a:pPr>
            <a:r>
              <a:rPr b="1" i="0" lang="en-GB" sz="2600" u="none" cap="none" strike="noStrike">
                <a:solidFill>
                  <a:srgbClr val="4A86E8"/>
                </a:solidFill>
                <a:latin typeface="Asap"/>
                <a:ea typeface="Asap"/>
                <a:cs typeface="Asap"/>
                <a:sym typeface="Asap"/>
              </a:rPr>
              <a:t>SHORT GUIDE</a:t>
            </a:r>
            <a:endParaRPr b="0" i="0" sz="2500" u="none" cap="none" strike="noStrike">
              <a:solidFill>
                <a:srgbClr val="4A86E8"/>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descr="preencoded.png" id="81" name="Google Shape;81;p17"/>
          <p:cNvPicPr preferRelativeResize="0"/>
          <p:nvPr/>
        </p:nvPicPr>
        <p:blipFill rotWithShape="1">
          <a:blip r:embed="rId3">
            <a:alphaModFix/>
          </a:blip>
          <a:srcRect b="0" l="0" r="0" t="0"/>
          <a:stretch/>
        </p:blipFill>
        <p:spPr>
          <a:xfrm>
            <a:off x="4348165" y="0"/>
            <a:ext cx="4795832" cy="5143500"/>
          </a:xfrm>
          <a:prstGeom prst="rect">
            <a:avLst/>
          </a:prstGeom>
          <a:noFill/>
          <a:ln>
            <a:noFill/>
          </a:ln>
        </p:spPr>
      </p:pic>
      <p:pic>
        <p:nvPicPr>
          <p:cNvPr descr="preencoded.png" id="82" name="Google Shape;82;p17"/>
          <p:cNvPicPr preferRelativeResize="0"/>
          <p:nvPr/>
        </p:nvPicPr>
        <p:blipFill rotWithShape="1">
          <a:blip r:embed="rId4">
            <a:alphaModFix/>
          </a:blip>
          <a:srcRect b="0" l="0" r="0" t="0"/>
          <a:stretch/>
        </p:blipFill>
        <p:spPr>
          <a:xfrm>
            <a:off x="223838" y="1724025"/>
            <a:ext cx="5800725" cy="3419475"/>
          </a:xfrm>
          <a:prstGeom prst="rect">
            <a:avLst/>
          </a:prstGeom>
          <a:noFill/>
          <a:ln>
            <a:noFill/>
          </a:ln>
        </p:spPr>
      </p:pic>
      <p:pic>
        <p:nvPicPr>
          <p:cNvPr descr="preencoded.png" id="83" name="Google Shape;83;p17"/>
          <p:cNvPicPr preferRelativeResize="0"/>
          <p:nvPr/>
        </p:nvPicPr>
        <p:blipFill rotWithShape="1">
          <a:blip r:embed="rId5">
            <a:alphaModFix/>
          </a:blip>
          <a:srcRect b="0" l="0" r="0" t="0"/>
          <a:stretch/>
        </p:blipFill>
        <p:spPr>
          <a:xfrm>
            <a:off x="638175" y="322985"/>
            <a:ext cx="1066800" cy="516083"/>
          </a:xfrm>
          <a:prstGeom prst="rect">
            <a:avLst/>
          </a:prstGeom>
          <a:noFill/>
          <a:ln>
            <a:noFill/>
          </a:ln>
        </p:spPr>
      </p:pic>
      <p:pic>
        <p:nvPicPr>
          <p:cNvPr descr="preencoded.png" id="84" name="Google Shape;84;p17"/>
          <p:cNvPicPr preferRelativeResize="0"/>
          <p:nvPr/>
        </p:nvPicPr>
        <p:blipFill rotWithShape="1">
          <a:blip r:embed="rId6">
            <a:alphaModFix/>
          </a:blip>
          <a:srcRect b="0" l="0" r="0" t="0"/>
          <a:stretch/>
        </p:blipFill>
        <p:spPr>
          <a:xfrm>
            <a:off x="685800" y="1949494"/>
            <a:ext cx="338138" cy="47625"/>
          </a:xfrm>
          <a:prstGeom prst="rect">
            <a:avLst/>
          </a:prstGeom>
          <a:noFill/>
          <a:ln>
            <a:noFill/>
          </a:ln>
        </p:spPr>
      </p:pic>
      <p:sp>
        <p:nvSpPr>
          <p:cNvPr id="85" name="Google Shape;85;p17"/>
          <p:cNvSpPr/>
          <p:nvPr/>
        </p:nvSpPr>
        <p:spPr>
          <a:xfrm>
            <a:off x="223838" y="1101975"/>
            <a:ext cx="4092000" cy="516000"/>
          </a:xfrm>
          <a:prstGeom prst="rect">
            <a:avLst/>
          </a:prstGeom>
          <a:noFill/>
          <a:ln>
            <a:noFill/>
          </a:ln>
        </p:spPr>
        <p:txBody>
          <a:bodyPr anchorCtr="0" anchor="t" bIns="0" lIns="0" spcFirstLastPara="1" rIns="0" wrap="square" tIns="0">
            <a:noAutofit/>
          </a:bodyPr>
          <a:lstStyle/>
          <a:p>
            <a:pPr indent="0" lvl="0" marL="0" marR="0" rtl="0" algn="l">
              <a:lnSpc>
                <a:spcPct val="124898"/>
              </a:lnSpc>
              <a:spcBef>
                <a:spcPts val="0"/>
              </a:spcBef>
              <a:spcAft>
                <a:spcPts val="0"/>
              </a:spcAft>
              <a:buClr>
                <a:srgbClr val="FFFF01"/>
              </a:buClr>
              <a:buSzPts val="3700"/>
              <a:buFont typeface="Asap"/>
              <a:buNone/>
            </a:pPr>
            <a:r>
              <a:rPr b="1" i="0" lang="en-GB" sz="3700" u="none" cap="none" strike="noStrike">
                <a:solidFill>
                  <a:srgbClr val="FFFF01"/>
                </a:solidFill>
                <a:latin typeface="Asap"/>
                <a:ea typeface="Asap"/>
                <a:cs typeface="Asap"/>
                <a:sym typeface="Asap"/>
              </a:rPr>
              <a:t>Procesarea Datelor</a:t>
            </a:r>
            <a:endParaRPr b="0" i="0" sz="3700" u="none" cap="none" strike="noStrike">
              <a:solidFill>
                <a:schemeClr val="dk1"/>
              </a:solidFill>
              <a:latin typeface="Calibri"/>
              <a:ea typeface="Calibri"/>
              <a:cs typeface="Calibri"/>
              <a:sym typeface="Calibri"/>
            </a:endParaRPr>
          </a:p>
        </p:txBody>
      </p:sp>
      <p:sp>
        <p:nvSpPr>
          <p:cNvPr id="86" name="Google Shape;86;p17"/>
          <p:cNvSpPr/>
          <p:nvPr/>
        </p:nvSpPr>
        <p:spPr>
          <a:xfrm>
            <a:off x="1176350" y="1836725"/>
            <a:ext cx="3914400" cy="5160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1500"/>
              <a:buFont typeface="Asap Medium"/>
              <a:buNone/>
            </a:pPr>
            <a:r>
              <a:rPr b="0" i="0" lang="en-GB" sz="1500" u="none" cap="none" strike="noStrike">
                <a:solidFill>
                  <a:srgbClr val="FFFFFF"/>
                </a:solidFill>
                <a:latin typeface="Asap Medium"/>
                <a:ea typeface="Asap Medium"/>
                <a:cs typeface="Asap Medium"/>
                <a:sym typeface="Asap Medium"/>
              </a:rPr>
              <a:t>Cum verificam calitatea datelor?</a:t>
            </a:r>
            <a:endParaRPr b="0" i="0" sz="1500" u="none" cap="none" strike="noStrike">
              <a:solidFill>
                <a:schemeClr val="dk1"/>
              </a:solidFill>
              <a:latin typeface="Calibri"/>
              <a:ea typeface="Calibri"/>
              <a:cs typeface="Calibri"/>
              <a:sym typeface="Calibri"/>
            </a:endParaRPr>
          </a:p>
        </p:txBody>
      </p:sp>
      <p:sp>
        <p:nvSpPr>
          <p:cNvPr id="87" name="Google Shape;87;p17"/>
          <p:cNvSpPr/>
          <p:nvPr/>
        </p:nvSpPr>
        <p:spPr>
          <a:xfrm>
            <a:off x="321675" y="2507575"/>
            <a:ext cx="4661100" cy="2550900"/>
          </a:xfrm>
          <a:prstGeom prst="rect">
            <a:avLst/>
          </a:prstGeom>
          <a:noFill/>
          <a:ln>
            <a:noFill/>
          </a:ln>
        </p:spPr>
        <p:txBody>
          <a:bodyPr anchorCtr="0" anchor="t" bIns="0" lIns="0" spcFirstLastPara="1" rIns="0" wrap="square" tIns="0">
            <a:noAutofit/>
          </a:bodyPr>
          <a:lstStyle/>
          <a:p>
            <a:pPr indent="0" lvl="1" marL="0" marR="0" rtl="0" algn="l">
              <a:lnSpc>
                <a:spcPct val="115000"/>
              </a:lnSpc>
              <a:spcBef>
                <a:spcPts val="0"/>
              </a:spcBef>
              <a:spcAft>
                <a:spcPts val="0"/>
              </a:spcAft>
              <a:buClr>
                <a:schemeClr val="dk1"/>
              </a:buClr>
              <a:buSzPts val="1400"/>
              <a:buFont typeface="Arial"/>
              <a:buNone/>
            </a:pPr>
            <a:r>
              <a:rPr b="0" i="0" lang="en-GB" sz="1400" u="none" cap="none" strike="noStrike">
                <a:solidFill>
                  <a:schemeClr val="lt1"/>
                </a:solidFill>
                <a:latin typeface="Asap Medium"/>
                <a:ea typeface="Asap Medium"/>
                <a:cs typeface="Asap Medium"/>
                <a:sym typeface="Asap Medium"/>
              </a:rPr>
              <a:t>🗑️ „</a:t>
            </a:r>
            <a:r>
              <a:rPr b="1" i="0" lang="en-GB" sz="1400" u="none" cap="none" strike="noStrike">
                <a:solidFill>
                  <a:schemeClr val="lt1"/>
                </a:solidFill>
                <a:latin typeface="Asap"/>
                <a:ea typeface="Asap"/>
                <a:cs typeface="Asap"/>
                <a:sym typeface="Asap"/>
              </a:rPr>
              <a:t>Garbage in → Garbage out</a:t>
            </a:r>
            <a:r>
              <a:rPr b="0" i="0" lang="en-GB" sz="1400" u="none" cap="none" strike="noStrike">
                <a:solidFill>
                  <a:schemeClr val="lt1"/>
                </a:solidFill>
                <a:latin typeface="Asap Medium"/>
                <a:ea typeface="Asap Medium"/>
                <a:cs typeface="Asap Medium"/>
                <a:sym typeface="Asap Medium"/>
              </a:rPr>
              <a:t>”: modele de ML bune au nevoie de date bune.</a:t>
            </a:r>
            <a:endParaRPr b="0" i="0" sz="1400" u="none" cap="none" strike="noStrike">
              <a:solidFill>
                <a:schemeClr val="lt1"/>
              </a:solidFill>
              <a:latin typeface="Asap Medium"/>
              <a:ea typeface="Asap Medium"/>
              <a:cs typeface="Asap Medium"/>
              <a:sym typeface="Asap Medium"/>
            </a:endParaRPr>
          </a:p>
          <a:p>
            <a:pPr indent="0" lvl="1" marL="342900" marR="0" rtl="0" algn="l">
              <a:lnSpc>
                <a:spcPct val="115000"/>
              </a:lnSpc>
              <a:spcBef>
                <a:spcPts val="0"/>
              </a:spcBef>
              <a:spcAft>
                <a:spcPts val="0"/>
              </a:spcAft>
              <a:buClr>
                <a:schemeClr val="dk1"/>
              </a:buClr>
              <a:buSzPts val="1400"/>
              <a:buFont typeface="Arial"/>
              <a:buNone/>
            </a:pPr>
            <a:r>
              <a:t/>
            </a:r>
            <a:endParaRPr>
              <a:solidFill>
                <a:schemeClr val="lt1"/>
              </a:solidFill>
              <a:latin typeface="Asap Medium"/>
              <a:ea typeface="Asap Medium"/>
              <a:cs typeface="Asap Medium"/>
              <a:sym typeface="Asap Medium"/>
            </a:endParaRPr>
          </a:p>
          <a:p>
            <a:pPr indent="0" lvl="1" marL="0" marR="0" rtl="0" algn="l">
              <a:lnSpc>
                <a:spcPct val="115000"/>
              </a:lnSpc>
              <a:spcBef>
                <a:spcPts val="0"/>
              </a:spcBef>
              <a:spcAft>
                <a:spcPts val="0"/>
              </a:spcAft>
              <a:buClr>
                <a:schemeClr val="dk1"/>
              </a:buClr>
              <a:buSzPts val="1400"/>
              <a:buFont typeface="Arial"/>
              <a:buNone/>
            </a:pPr>
            <a:r>
              <a:rPr b="0" i="0" lang="en-GB" sz="1400" u="none" cap="none" strike="noStrike">
                <a:solidFill>
                  <a:schemeClr val="lt1"/>
                </a:solidFill>
                <a:latin typeface="Asap Medium"/>
                <a:ea typeface="Asap Medium"/>
                <a:cs typeface="Asap Medium"/>
                <a:sym typeface="Asap Medium"/>
              </a:rPr>
              <a:t>🔍 </a:t>
            </a:r>
            <a:r>
              <a:rPr b="1" i="0" lang="en-GB" sz="1400" u="none" cap="none" strike="noStrike">
                <a:solidFill>
                  <a:schemeClr val="lt1"/>
                </a:solidFill>
                <a:latin typeface="Asap"/>
                <a:ea typeface="Asap"/>
                <a:cs typeface="Asap"/>
                <a:sym typeface="Asap"/>
              </a:rPr>
              <a:t>Calitatea datelor</a:t>
            </a:r>
            <a:r>
              <a:rPr b="0" i="0" lang="en-GB" sz="1400" u="none" cap="none" strike="noStrike">
                <a:solidFill>
                  <a:schemeClr val="lt1"/>
                </a:solidFill>
                <a:latin typeface="Asap Medium"/>
                <a:ea typeface="Asap Medium"/>
                <a:cs typeface="Asap Medium"/>
                <a:sym typeface="Asap Medium"/>
              </a:rPr>
              <a:t> = cât de utilizabile sunt datele pentru scopul nostru.</a:t>
            </a:r>
            <a:endParaRPr b="0" i="0" sz="1400" u="none" cap="none" strike="noStrike">
              <a:solidFill>
                <a:schemeClr val="lt1"/>
              </a:solidFill>
              <a:latin typeface="Asap Medium"/>
              <a:ea typeface="Asap Medium"/>
              <a:cs typeface="Asap Medium"/>
              <a:sym typeface="Asap Medium"/>
            </a:endParaRPr>
          </a:p>
          <a:p>
            <a:pPr indent="0" lvl="1" marL="342900" marR="0" rtl="0" algn="l">
              <a:lnSpc>
                <a:spcPct val="115000"/>
              </a:lnSpc>
              <a:spcBef>
                <a:spcPts val="0"/>
              </a:spcBef>
              <a:spcAft>
                <a:spcPts val="0"/>
              </a:spcAft>
              <a:buClr>
                <a:schemeClr val="dk1"/>
              </a:buClr>
              <a:buSzPts val="1400"/>
              <a:buFont typeface="Arial"/>
              <a:buNone/>
            </a:pPr>
            <a:r>
              <a:t/>
            </a:r>
            <a:endParaRPr>
              <a:solidFill>
                <a:schemeClr val="lt1"/>
              </a:solidFill>
              <a:latin typeface="Asap Medium"/>
              <a:ea typeface="Asap Medium"/>
              <a:cs typeface="Asap Medium"/>
              <a:sym typeface="Asap Medium"/>
            </a:endParaRPr>
          </a:p>
          <a:p>
            <a:pPr indent="0" lvl="1" marL="0" marR="0" rtl="0" algn="l">
              <a:lnSpc>
                <a:spcPct val="115000"/>
              </a:lnSpc>
              <a:spcBef>
                <a:spcPts val="0"/>
              </a:spcBef>
              <a:spcAft>
                <a:spcPts val="0"/>
              </a:spcAft>
              <a:buClr>
                <a:schemeClr val="dk1"/>
              </a:buClr>
              <a:buSzPts val="1400"/>
              <a:buFont typeface="Arial"/>
              <a:buNone/>
            </a:pPr>
            <a:r>
              <a:rPr b="0" i="0" lang="en-GB" sz="1400" u="none" cap="none" strike="noStrike">
                <a:solidFill>
                  <a:schemeClr val="lt1"/>
                </a:solidFill>
                <a:latin typeface="Asap Medium"/>
                <a:ea typeface="Asap Medium"/>
                <a:cs typeface="Asap Medium"/>
                <a:sym typeface="Asap Medium"/>
              </a:rPr>
              <a:t>🎯 </a:t>
            </a:r>
            <a:r>
              <a:rPr b="1" i="0" lang="en-GB" sz="1400" u="none" cap="none" strike="noStrike">
                <a:solidFill>
                  <a:schemeClr val="lt1"/>
                </a:solidFill>
                <a:latin typeface="Asap"/>
                <a:ea typeface="Asap"/>
                <a:cs typeface="Asap"/>
                <a:sym typeface="Asap"/>
              </a:rPr>
              <a:t>Dimensiuni cheie</a:t>
            </a:r>
            <a:r>
              <a:rPr b="0" i="0" lang="en-GB" sz="1400" u="none" cap="none" strike="noStrike">
                <a:solidFill>
                  <a:schemeClr val="lt1"/>
                </a:solidFill>
                <a:latin typeface="Asap Medium"/>
                <a:ea typeface="Asap Medium"/>
                <a:cs typeface="Asap Medium"/>
                <a:sym typeface="Asap Medium"/>
              </a:rPr>
              <a:t>: Completeness, Accuracy, Consistency, Timeliness.</a:t>
            </a:r>
            <a:endParaRPr b="0" i="0" sz="1400" u="none" cap="none" strike="noStrike">
              <a:solidFill>
                <a:schemeClr val="lt1"/>
              </a:solidFill>
              <a:latin typeface="Asap Medium"/>
              <a:ea typeface="Asap Medium"/>
              <a:cs typeface="Asap Medium"/>
              <a:sym typeface="Asap Medium"/>
            </a:endParaRPr>
          </a:p>
          <a:p>
            <a:pPr indent="0" lvl="1" marL="342900" marR="0" rtl="0" algn="l">
              <a:lnSpc>
                <a:spcPct val="150000"/>
              </a:lnSpc>
              <a:spcBef>
                <a:spcPts val="0"/>
              </a:spcBef>
              <a:spcAft>
                <a:spcPts val="0"/>
              </a:spcAft>
              <a:buClr>
                <a:schemeClr val="dk1"/>
              </a:buClr>
              <a:buSzPts val="1400"/>
              <a:buFont typeface="Arial"/>
              <a:buNone/>
            </a:pPr>
            <a:r>
              <a:t/>
            </a:r>
            <a:endParaRPr b="0" i="0" sz="1400" u="none" cap="none" strike="noStrike">
              <a:solidFill>
                <a:schemeClr val="lt1"/>
              </a:solidFill>
              <a:latin typeface="Asap Medium"/>
              <a:ea typeface="Asap Medium"/>
              <a:cs typeface="Asap Medium"/>
              <a:sym typeface="Asap Medium"/>
            </a:endParaRPr>
          </a:p>
          <a:p>
            <a:pPr indent="0" lvl="0" marL="342900" marR="0" rtl="0" algn="l">
              <a:lnSpc>
                <a:spcPct val="150000"/>
              </a:lnSpc>
              <a:spcBef>
                <a:spcPts val="0"/>
              </a:spcBef>
              <a:spcAft>
                <a:spcPts val="0"/>
              </a:spcAft>
              <a:buClr>
                <a:srgbClr val="000000"/>
              </a:buClr>
              <a:buSzPts val="1200"/>
              <a:buFont typeface="Arial"/>
              <a:buNone/>
            </a:pPr>
            <a:r>
              <a:t/>
            </a:r>
            <a:endParaRPr b="0" i="0" sz="1200" u="none" cap="none" strike="noStrike">
              <a:solidFill>
                <a:schemeClr val="lt1"/>
              </a:solidFill>
              <a:latin typeface="Asap Medium"/>
              <a:ea typeface="Asap Medium"/>
              <a:cs typeface="Asap Medium"/>
              <a:sym typeface="Asap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descr="preencoded.png" id="93" name="Google Shape;93;p18"/>
          <p:cNvPicPr preferRelativeResize="0"/>
          <p:nvPr/>
        </p:nvPicPr>
        <p:blipFill rotWithShape="1">
          <a:blip r:embed="rId3">
            <a:alphaModFix/>
          </a:blip>
          <a:srcRect b="0" l="0" r="0" t="0"/>
          <a:stretch/>
        </p:blipFill>
        <p:spPr>
          <a:xfrm>
            <a:off x="4348165" y="0"/>
            <a:ext cx="4795832" cy="5143500"/>
          </a:xfrm>
          <a:prstGeom prst="rect">
            <a:avLst/>
          </a:prstGeom>
          <a:noFill/>
          <a:ln>
            <a:noFill/>
          </a:ln>
        </p:spPr>
      </p:pic>
      <p:pic>
        <p:nvPicPr>
          <p:cNvPr descr="preencoded.png" id="94" name="Google Shape;94;p18"/>
          <p:cNvPicPr preferRelativeResize="0"/>
          <p:nvPr/>
        </p:nvPicPr>
        <p:blipFill rotWithShape="1">
          <a:blip r:embed="rId4">
            <a:alphaModFix/>
          </a:blip>
          <a:srcRect b="0" l="0" r="0" t="0"/>
          <a:stretch/>
        </p:blipFill>
        <p:spPr>
          <a:xfrm>
            <a:off x="223863" y="1840263"/>
            <a:ext cx="8920163" cy="3419475"/>
          </a:xfrm>
          <a:prstGeom prst="rect">
            <a:avLst/>
          </a:prstGeom>
          <a:noFill/>
          <a:ln>
            <a:noFill/>
          </a:ln>
        </p:spPr>
      </p:pic>
      <p:pic>
        <p:nvPicPr>
          <p:cNvPr descr="preencoded.png" id="95" name="Google Shape;95;p18"/>
          <p:cNvPicPr preferRelativeResize="0"/>
          <p:nvPr/>
        </p:nvPicPr>
        <p:blipFill rotWithShape="1">
          <a:blip r:embed="rId5">
            <a:alphaModFix/>
          </a:blip>
          <a:srcRect b="0" l="0" r="0" t="0"/>
          <a:stretch/>
        </p:blipFill>
        <p:spPr>
          <a:xfrm>
            <a:off x="638175" y="322985"/>
            <a:ext cx="1066800" cy="516083"/>
          </a:xfrm>
          <a:prstGeom prst="rect">
            <a:avLst/>
          </a:prstGeom>
          <a:noFill/>
          <a:ln>
            <a:noFill/>
          </a:ln>
        </p:spPr>
      </p:pic>
      <p:sp>
        <p:nvSpPr>
          <p:cNvPr id="96" name="Google Shape;96;p18"/>
          <p:cNvSpPr/>
          <p:nvPr/>
        </p:nvSpPr>
        <p:spPr>
          <a:xfrm>
            <a:off x="223863" y="1259000"/>
            <a:ext cx="8010600" cy="595500"/>
          </a:xfrm>
          <a:prstGeom prst="rect">
            <a:avLst/>
          </a:prstGeom>
          <a:noFill/>
          <a:ln>
            <a:noFill/>
          </a:ln>
          <a:effectLst>
            <a:outerShdw blurRad="42863" rotWithShape="0" algn="bl" dir="5400000" dist="14288">
              <a:srgbClr val="000000"/>
            </a:outerShdw>
          </a:effectLst>
        </p:spPr>
        <p:txBody>
          <a:bodyPr anchorCtr="0" anchor="t" bIns="0" lIns="0" spcFirstLastPara="1" rIns="0" wrap="square" tIns="0">
            <a:noAutofit/>
          </a:bodyPr>
          <a:lstStyle/>
          <a:p>
            <a:pPr indent="0" lvl="0" marL="0" marR="0" rtl="0" algn="l">
              <a:lnSpc>
                <a:spcPct val="124898"/>
              </a:lnSpc>
              <a:spcBef>
                <a:spcPts val="0"/>
              </a:spcBef>
              <a:spcAft>
                <a:spcPts val="0"/>
              </a:spcAft>
              <a:buClr>
                <a:srgbClr val="FFFF01"/>
              </a:buClr>
              <a:buSzPts val="3700"/>
              <a:buFont typeface="Asap"/>
              <a:buNone/>
            </a:pPr>
            <a:r>
              <a:rPr b="1" i="0" lang="en-GB" sz="2600" u="none" cap="none" strike="noStrike">
                <a:solidFill>
                  <a:srgbClr val="FFFF01"/>
                </a:solidFill>
                <a:latin typeface="Asap"/>
                <a:ea typeface="Asap"/>
                <a:cs typeface="Asap"/>
                <a:sym typeface="Asap"/>
              </a:rPr>
              <a:t>Calitatea Datelor</a:t>
            </a:r>
            <a:endParaRPr b="0" i="0" sz="2600" u="none" cap="none" strike="noStrike">
              <a:solidFill>
                <a:schemeClr val="dk1"/>
              </a:solidFill>
              <a:latin typeface="Calibri"/>
              <a:ea typeface="Calibri"/>
              <a:cs typeface="Calibri"/>
              <a:sym typeface="Calibri"/>
            </a:endParaRPr>
          </a:p>
        </p:txBody>
      </p:sp>
      <p:sp>
        <p:nvSpPr>
          <p:cNvPr id="97" name="Google Shape;97;p18"/>
          <p:cNvSpPr/>
          <p:nvPr/>
        </p:nvSpPr>
        <p:spPr>
          <a:xfrm>
            <a:off x="273275" y="3042000"/>
            <a:ext cx="8670300" cy="20532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2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b="1" i="0" lang="en-GB" sz="1500" u="none" cap="none" strike="noStrike">
                <a:solidFill>
                  <a:schemeClr val="lt1"/>
                </a:solidFill>
                <a:latin typeface="Asap"/>
                <a:ea typeface="Asap"/>
                <a:cs typeface="Asap"/>
                <a:sym typeface="Asap"/>
              </a:rPr>
              <a:t>Completeness (Completitudine)</a:t>
            </a:r>
            <a:endParaRPr b="1"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Avem toate datele necesare?</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Lipsurile reduc informația utilă</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Metrica folosită este procentul valorilor lipsa pentru fiecare coloana</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lt1"/>
              </a:solidFill>
              <a:latin typeface="Asap"/>
              <a:ea typeface="Asap"/>
              <a:cs typeface="Asap"/>
              <a:sym typeface="Asap"/>
            </a:endParaRPr>
          </a:p>
          <a:p>
            <a:pPr indent="0" lvl="0" marL="0" rtl="0" algn="l">
              <a:spcBef>
                <a:spcPts val="0"/>
              </a:spcBef>
              <a:spcAft>
                <a:spcPts val="0"/>
              </a:spcAft>
              <a:buClr>
                <a:schemeClr val="dk1"/>
              </a:buClr>
              <a:buSzPts val="1500"/>
              <a:buFont typeface="Arial"/>
              <a:buNone/>
            </a:pPr>
            <a:r>
              <a:rPr b="1" lang="en-GB" sz="1500">
                <a:solidFill>
                  <a:srgbClr val="E06666"/>
                </a:solidFill>
                <a:latin typeface="Asap"/>
                <a:ea typeface="Asap"/>
                <a:cs typeface="Asap"/>
                <a:sym typeface="Asap"/>
              </a:rPr>
              <a:t>BIAS - este o eroare sistematică introdusă în model, de multe ori cauzată de date incomplete</a:t>
            </a:r>
            <a:endParaRPr b="1" sz="1500">
              <a:solidFill>
                <a:srgbClr val="E06666"/>
              </a:solidFill>
              <a:latin typeface="Asap"/>
              <a:ea typeface="Asap"/>
              <a:cs typeface="Asap"/>
              <a:sym typeface="Asap"/>
            </a:endParaRPr>
          </a:p>
          <a:p>
            <a:pPr indent="0" lvl="0" marL="0" rtl="0" algn="l">
              <a:spcBef>
                <a:spcPts val="0"/>
              </a:spcBef>
              <a:spcAft>
                <a:spcPts val="0"/>
              </a:spcAft>
              <a:buClr>
                <a:schemeClr val="dk1"/>
              </a:buClr>
              <a:buSzPts val="1500"/>
              <a:buFont typeface="Arial"/>
              <a:buNone/>
            </a:pPr>
            <a:r>
              <a:t/>
            </a:r>
            <a:endParaRPr b="1" sz="1500">
              <a:solidFill>
                <a:srgbClr val="E06666"/>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1" lang="en-GB" sz="1700">
                <a:solidFill>
                  <a:schemeClr val="lt1"/>
                </a:solidFill>
                <a:latin typeface="Asap"/>
                <a:ea typeface="Asap"/>
                <a:cs typeface="Asap"/>
                <a:sym typeface="Asap"/>
              </a:rPr>
              <a:t>-&gt; df.isnull().sum() pentru verificare</a:t>
            </a:r>
            <a:endParaRPr b="1" sz="17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1" lang="en-GB" sz="1700">
                <a:solidFill>
                  <a:schemeClr val="lt1"/>
                </a:solidFill>
                <a:latin typeface="Asap"/>
                <a:ea typeface="Asap"/>
                <a:cs typeface="Asap"/>
                <a:sym typeface="Asap"/>
              </a:rPr>
              <a:t>-&gt; inlocuim cu mean(), mediana, constanta fixa</a:t>
            </a:r>
            <a:endParaRPr b="1" sz="17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t/>
            </a:r>
            <a:endParaRPr b="1" sz="17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1" i="0" sz="1100" u="none" cap="none" strike="noStrike">
              <a:solidFill>
                <a:schemeClr val="lt1"/>
              </a:solidFill>
              <a:latin typeface="Asap"/>
              <a:ea typeface="Asap"/>
              <a:cs typeface="Asap"/>
              <a:sym typeface="Asap"/>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pic>
        <p:nvPicPr>
          <p:cNvPr descr="preencoded.png" id="103" name="Google Shape;103;p19"/>
          <p:cNvPicPr preferRelativeResize="0"/>
          <p:nvPr/>
        </p:nvPicPr>
        <p:blipFill rotWithShape="1">
          <a:blip r:embed="rId3">
            <a:alphaModFix/>
          </a:blip>
          <a:srcRect b="0" l="0" r="0" t="0"/>
          <a:stretch/>
        </p:blipFill>
        <p:spPr>
          <a:xfrm>
            <a:off x="4348165" y="0"/>
            <a:ext cx="4795832" cy="5143500"/>
          </a:xfrm>
          <a:prstGeom prst="rect">
            <a:avLst/>
          </a:prstGeom>
          <a:noFill/>
          <a:ln>
            <a:noFill/>
          </a:ln>
        </p:spPr>
      </p:pic>
      <p:pic>
        <p:nvPicPr>
          <p:cNvPr descr="preencoded.png" id="104" name="Google Shape;104;p19"/>
          <p:cNvPicPr preferRelativeResize="0"/>
          <p:nvPr/>
        </p:nvPicPr>
        <p:blipFill rotWithShape="1">
          <a:blip r:embed="rId4">
            <a:alphaModFix/>
          </a:blip>
          <a:srcRect b="0" l="0" r="0" t="0"/>
          <a:stretch/>
        </p:blipFill>
        <p:spPr>
          <a:xfrm>
            <a:off x="223838" y="1724025"/>
            <a:ext cx="8920163" cy="3419475"/>
          </a:xfrm>
          <a:prstGeom prst="rect">
            <a:avLst/>
          </a:prstGeom>
          <a:noFill/>
          <a:ln>
            <a:noFill/>
          </a:ln>
        </p:spPr>
      </p:pic>
      <p:pic>
        <p:nvPicPr>
          <p:cNvPr descr="preencoded.png" id="105" name="Google Shape;105;p19"/>
          <p:cNvPicPr preferRelativeResize="0"/>
          <p:nvPr/>
        </p:nvPicPr>
        <p:blipFill rotWithShape="1">
          <a:blip r:embed="rId5">
            <a:alphaModFix/>
          </a:blip>
          <a:srcRect b="0" l="0" r="0" t="0"/>
          <a:stretch/>
        </p:blipFill>
        <p:spPr>
          <a:xfrm>
            <a:off x="638175" y="322985"/>
            <a:ext cx="1066800" cy="516083"/>
          </a:xfrm>
          <a:prstGeom prst="rect">
            <a:avLst/>
          </a:prstGeom>
          <a:noFill/>
          <a:ln>
            <a:noFill/>
          </a:ln>
        </p:spPr>
      </p:pic>
      <p:sp>
        <p:nvSpPr>
          <p:cNvPr id="106" name="Google Shape;106;p19"/>
          <p:cNvSpPr/>
          <p:nvPr/>
        </p:nvSpPr>
        <p:spPr>
          <a:xfrm>
            <a:off x="223863" y="1259000"/>
            <a:ext cx="8010600" cy="595500"/>
          </a:xfrm>
          <a:prstGeom prst="rect">
            <a:avLst/>
          </a:prstGeom>
          <a:noFill/>
          <a:ln>
            <a:noFill/>
          </a:ln>
          <a:effectLst>
            <a:outerShdw blurRad="42863" rotWithShape="0" algn="bl" dir="5400000" dist="14288">
              <a:srgbClr val="000000"/>
            </a:outerShdw>
          </a:effectLst>
        </p:spPr>
        <p:txBody>
          <a:bodyPr anchorCtr="0" anchor="t" bIns="0" lIns="0" spcFirstLastPara="1" rIns="0" wrap="square" tIns="0">
            <a:noAutofit/>
          </a:bodyPr>
          <a:lstStyle/>
          <a:p>
            <a:pPr indent="0" lvl="0" marL="0" marR="0" rtl="0" algn="l">
              <a:lnSpc>
                <a:spcPct val="124898"/>
              </a:lnSpc>
              <a:spcBef>
                <a:spcPts val="0"/>
              </a:spcBef>
              <a:spcAft>
                <a:spcPts val="0"/>
              </a:spcAft>
              <a:buClr>
                <a:srgbClr val="FFFF01"/>
              </a:buClr>
              <a:buSzPts val="3700"/>
              <a:buFont typeface="Asap"/>
              <a:buNone/>
            </a:pPr>
            <a:r>
              <a:rPr b="1" i="0" lang="en-GB" sz="2600" u="none" cap="none" strike="noStrike">
                <a:solidFill>
                  <a:srgbClr val="FFFF01"/>
                </a:solidFill>
                <a:latin typeface="Asap"/>
                <a:ea typeface="Asap"/>
                <a:cs typeface="Asap"/>
                <a:sym typeface="Asap"/>
              </a:rPr>
              <a:t>Date lipsă (Complet</a:t>
            </a:r>
            <a:r>
              <a:rPr b="1" lang="en-GB" sz="2600">
                <a:solidFill>
                  <a:srgbClr val="FFFF01"/>
                </a:solidFill>
                <a:latin typeface="Asap"/>
                <a:ea typeface="Asap"/>
                <a:cs typeface="Asap"/>
                <a:sym typeface="Asap"/>
              </a:rPr>
              <a:t>eness)</a:t>
            </a:r>
            <a:endParaRPr b="0" i="0" sz="2600" u="none" cap="none" strike="noStrike">
              <a:solidFill>
                <a:schemeClr val="dk1"/>
              </a:solidFill>
              <a:latin typeface="Calibri"/>
              <a:ea typeface="Calibri"/>
              <a:cs typeface="Calibri"/>
              <a:sym typeface="Calibri"/>
            </a:endParaRPr>
          </a:p>
        </p:txBody>
      </p:sp>
      <p:sp>
        <p:nvSpPr>
          <p:cNvPr id="107" name="Google Shape;107;p19"/>
          <p:cNvSpPr/>
          <p:nvPr/>
        </p:nvSpPr>
        <p:spPr>
          <a:xfrm>
            <a:off x="223850" y="2318830"/>
            <a:ext cx="7595400" cy="2814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2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b="1" i="0" lang="en-GB" sz="1500" u="none" cap="none" strike="noStrike">
                <a:solidFill>
                  <a:schemeClr val="lt1"/>
                </a:solidFill>
                <a:latin typeface="Asap"/>
                <a:ea typeface="Asap"/>
                <a:cs typeface="Asap"/>
                <a:sym typeface="Asap"/>
              </a:rPr>
              <a:t>Metode de tratare a datelor lipsă:</a:t>
            </a:r>
            <a:endParaRPr b="1"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Eliminare: ștergem rânduri sau coloane cu valori lipsă.</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a:t>
            </a:r>
            <a:r>
              <a:rPr b="1" i="0" lang="en-GB" sz="1500" u="none" cap="none" strike="noStrike">
                <a:solidFill>
                  <a:schemeClr val="lt1"/>
                </a:solidFill>
                <a:latin typeface="Asap"/>
                <a:ea typeface="Asap"/>
                <a:cs typeface="Asap"/>
                <a:sym typeface="Asap"/>
              </a:rPr>
              <a:t>Imputare </a:t>
            </a:r>
            <a:r>
              <a:rPr b="0" i="0" lang="en-GB" sz="1500" u="none" cap="none" strike="noStrike">
                <a:solidFill>
                  <a:schemeClr val="lt1"/>
                </a:solidFill>
                <a:latin typeface="Asap"/>
                <a:ea typeface="Asap"/>
                <a:cs typeface="Asap"/>
                <a:sym typeface="Asap"/>
              </a:rPr>
              <a:t>simplă: completăm cu medie / mediană / mode</a:t>
            </a:r>
            <a:endParaRPr b="0" i="0" sz="1500" u="none" cap="none" strike="noStrike">
              <a:solidFill>
                <a:schemeClr val="lt1"/>
              </a:solidFill>
              <a:latin typeface="Asap"/>
              <a:ea typeface="Asap"/>
              <a:cs typeface="Asap"/>
              <a:sym typeface="Asap"/>
            </a:endParaRPr>
          </a:p>
          <a:p>
            <a:pPr indent="-323850" lvl="0" marL="457200" marR="0" rtl="0" algn="l">
              <a:lnSpc>
                <a:spcPct val="100000"/>
              </a:lnSpc>
              <a:spcBef>
                <a:spcPts val="0"/>
              </a:spcBef>
              <a:spcAft>
                <a:spcPts val="0"/>
              </a:spcAft>
              <a:buClr>
                <a:schemeClr val="lt1"/>
              </a:buClr>
              <a:buSzPts val="1500"/>
              <a:buFont typeface="Asap"/>
              <a:buChar char="-"/>
            </a:pPr>
            <a:r>
              <a:rPr lang="en-GB" sz="1500">
                <a:solidFill>
                  <a:schemeClr val="lt1"/>
                </a:solidFill>
                <a:latin typeface="Asap"/>
                <a:ea typeface="Asap"/>
                <a:cs typeface="Asap"/>
                <a:sym typeface="Asap"/>
              </a:rPr>
              <a:t>Dacă folosim mean-ul, valoarea de mean() va rămâne constantă pe toată coloana</a:t>
            </a:r>
            <a:endParaRPr sz="1500">
              <a:solidFill>
                <a:schemeClr val="lt1"/>
              </a:solidFill>
              <a:latin typeface="Asap"/>
              <a:ea typeface="Asap"/>
              <a:cs typeface="Asap"/>
              <a:sym typeface="Asap"/>
            </a:endParaRPr>
          </a:p>
          <a:p>
            <a:pPr indent="-323850" lvl="0" marL="457200" marR="0" rtl="0" algn="l">
              <a:lnSpc>
                <a:spcPct val="100000"/>
              </a:lnSpc>
              <a:spcBef>
                <a:spcPts val="0"/>
              </a:spcBef>
              <a:spcAft>
                <a:spcPts val="0"/>
              </a:spcAft>
              <a:buClr>
                <a:schemeClr val="lt1"/>
              </a:buClr>
              <a:buSzPts val="1500"/>
              <a:buFont typeface="Asap"/>
              <a:buChar char="-"/>
            </a:pPr>
            <a:r>
              <a:rPr lang="en-GB" sz="1500">
                <a:solidFill>
                  <a:schemeClr val="lt1"/>
                </a:solidFill>
                <a:latin typeface="Asap"/>
                <a:ea typeface="Asap"/>
                <a:cs typeface="Asap"/>
                <a:sym typeface="Asap"/>
              </a:rPr>
              <a:t>Mode =&gt; cea mai frecventa valoare</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None/>
            </a:pPr>
            <a:r>
              <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Forward / Backward fill: completăm cu valoarea anterioară sau următoare.</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Imputare predictivă: estimăm valoarea lipsă cu modele ML. </a:t>
            </a:r>
            <a:r>
              <a:rPr b="1" i="0" lang="en-GB" sz="1500" u="none" cap="none" strike="noStrike">
                <a:solidFill>
                  <a:schemeClr val="accent6"/>
                </a:solidFill>
                <a:latin typeface="Asap"/>
                <a:ea typeface="Asap"/>
                <a:cs typeface="Asap"/>
                <a:sym typeface="Asap"/>
              </a:rPr>
              <a:t>- </a:t>
            </a:r>
            <a:r>
              <a:rPr b="1" lang="en-GB" sz="1500">
                <a:solidFill>
                  <a:schemeClr val="accent6"/>
                </a:solidFill>
                <a:latin typeface="Asap"/>
                <a:ea typeface="Asap"/>
                <a:cs typeface="Asap"/>
                <a:sym typeface="Asap"/>
              </a:rPr>
              <a:t>TBD</a:t>
            </a:r>
            <a:endParaRPr b="1" i="0" sz="1500" u="none" cap="none" strike="noStrike">
              <a:solidFill>
                <a:schemeClr val="accent6"/>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1" i="0" sz="1100" u="none" cap="none" strike="noStrike">
              <a:solidFill>
                <a:schemeClr val="lt1"/>
              </a:solidFill>
              <a:latin typeface="Asap"/>
              <a:ea typeface="Asap"/>
              <a:cs typeface="Asap"/>
              <a:sym typeface="Asap"/>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descr="preencoded.png" id="113" name="Google Shape;113;p20"/>
          <p:cNvPicPr preferRelativeResize="0"/>
          <p:nvPr/>
        </p:nvPicPr>
        <p:blipFill rotWithShape="1">
          <a:blip r:embed="rId3">
            <a:alphaModFix/>
          </a:blip>
          <a:srcRect b="0" l="0" r="0" t="0"/>
          <a:stretch/>
        </p:blipFill>
        <p:spPr>
          <a:xfrm>
            <a:off x="4348165" y="0"/>
            <a:ext cx="4795832" cy="5143500"/>
          </a:xfrm>
          <a:prstGeom prst="rect">
            <a:avLst/>
          </a:prstGeom>
          <a:noFill/>
          <a:ln>
            <a:noFill/>
          </a:ln>
        </p:spPr>
      </p:pic>
      <p:pic>
        <p:nvPicPr>
          <p:cNvPr descr="preencoded.png" id="114" name="Google Shape;114;p20"/>
          <p:cNvPicPr preferRelativeResize="0"/>
          <p:nvPr/>
        </p:nvPicPr>
        <p:blipFill rotWithShape="1">
          <a:blip r:embed="rId4">
            <a:alphaModFix/>
          </a:blip>
          <a:srcRect b="0" l="0" r="0" t="0"/>
          <a:stretch/>
        </p:blipFill>
        <p:spPr>
          <a:xfrm>
            <a:off x="223838" y="1724025"/>
            <a:ext cx="8920163" cy="3419475"/>
          </a:xfrm>
          <a:prstGeom prst="rect">
            <a:avLst/>
          </a:prstGeom>
          <a:noFill/>
          <a:ln>
            <a:noFill/>
          </a:ln>
        </p:spPr>
      </p:pic>
      <p:pic>
        <p:nvPicPr>
          <p:cNvPr descr="preencoded.png" id="115" name="Google Shape;115;p20"/>
          <p:cNvPicPr preferRelativeResize="0"/>
          <p:nvPr/>
        </p:nvPicPr>
        <p:blipFill rotWithShape="1">
          <a:blip r:embed="rId5">
            <a:alphaModFix/>
          </a:blip>
          <a:srcRect b="0" l="0" r="0" t="0"/>
          <a:stretch/>
        </p:blipFill>
        <p:spPr>
          <a:xfrm>
            <a:off x="638175" y="322985"/>
            <a:ext cx="1066800" cy="516083"/>
          </a:xfrm>
          <a:prstGeom prst="rect">
            <a:avLst/>
          </a:prstGeom>
          <a:noFill/>
          <a:ln>
            <a:noFill/>
          </a:ln>
        </p:spPr>
      </p:pic>
      <p:sp>
        <p:nvSpPr>
          <p:cNvPr id="116" name="Google Shape;116;p20"/>
          <p:cNvSpPr/>
          <p:nvPr/>
        </p:nvSpPr>
        <p:spPr>
          <a:xfrm>
            <a:off x="223863" y="1259000"/>
            <a:ext cx="8010600" cy="595500"/>
          </a:xfrm>
          <a:prstGeom prst="rect">
            <a:avLst/>
          </a:prstGeom>
          <a:noFill/>
          <a:ln>
            <a:noFill/>
          </a:ln>
          <a:effectLst>
            <a:outerShdw blurRad="42863" rotWithShape="0" algn="bl" dir="5400000" dist="14288">
              <a:srgbClr val="000000"/>
            </a:outerShdw>
          </a:effectLst>
        </p:spPr>
        <p:txBody>
          <a:bodyPr anchorCtr="0" anchor="t" bIns="0" lIns="0" spcFirstLastPara="1" rIns="0" wrap="square" tIns="0">
            <a:noAutofit/>
          </a:bodyPr>
          <a:lstStyle/>
          <a:p>
            <a:pPr indent="0" lvl="0" marL="0" marR="0" rtl="0" algn="l">
              <a:lnSpc>
                <a:spcPct val="124898"/>
              </a:lnSpc>
              <a:spcBef>
                <a:spcPts val="0"/>
              </a:spcBef>
              <a:spcAft>
                <a:spcPts val="0"/>
              </a:spcAft>
              <a:buClr>
                <a:srgbClr val="FFFF01"/>
              </a:buClr>
              <a:buSzPts val="3700"/>
              <a:buFont typeface="Asap"/>
              <a:buNone/>
            </a:pPr>
            <a:r>
              <a:rPr b="1" i="0" lang="en-GB" sz="2600" u="none" cap="none" strike="noStrike">
                <a:solidFill>
                  <a:srgbClr val="FFFF01"/>
                </a:solidFill>
                <a:latin typeface="Asap"/>
                <a:ea typeface="Asap"/>
                <a:cs typeface="Asap"/>
                <a:sym typeface="Asap"/>
              </a:rPr>
              <a:t>Calitatea Datelor</a:t>
            </a:r>
            <a:endParaRPr b="0" i="0" sz="2600" u="none" cap="none" strike="noStrike">
              <a:solidFill>
                <a:schemeClr val="dk1"/>
              </a:solidFill>
              <a:latin typeface="Calibri"/>
              <a:ea typeface="Calibri"/>
              <a:cs typeface="Calibri"/>
              <a:sym typeface="Calibri"/>
            </a:endParaRPr>
          </a:p>
        </p:txBody>
      </p:sp>
      <p:sp>
        <p:nvSpPr>
          <p:cNvPr id="117" name="Google Shape;117;p20"/>
          <p:cNvSpPr/>
          <p:nvPr/>
        </p:nvSpPr>
        <p:spPr>
          <a:xfrm>
            <a:off x="273275" y="2411920"/>
            <a:ext cx="7595400" cy="22602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2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b="1" i="0" lang="en-GB" sz="1500" u="none" cap="none" strike="noStrike">
                <a:solidFill>
                  <a:schemeClr val="lt1"/>
                </a:solidFill>
                <a:latin typeface="Asap"/>
                <a:ea typeface="Asap"/>
                <a:cs typeface="Asap"/>
                <a:sym typeface="Asap"/>
              </a:rPr>
              <a:t>Accuracy (Acuratețe)</a:t>
            </a:r>
            <a:endParaRPr b="1"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Datele reflectă realitatea?</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Valori imposibile (ex: Age = 250)</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Identificăm prin reguli de validare și outlier detection</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Exemplu: salarii negative, vârste sub 0</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1" i="0" sz="1100" u="none" cap="none" strike="noStrike">
              <a:solidFill>
                <a:schemeClr val="lt1"/>
              </a:solidFill>
              <a:latin typeface="Asap"/>
              <a:ea typeface="Asap"/>
              <a:cs typeface="Asap"/>
              <a:sym typeface="Asap"/>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descr="preencoded.png" id="123" name="Google Shape;123;p21"/>
          <p:cNvPicPr preferRelativeResize="0"/>
          <p:nvPr/>
        </p:nvPicPr>
        <p:blipFill rotWithShape="1">
          <a:blip r:embed="rId3">
            <a:alphaModFix/>
          </a:blip>
          <a:srcRect b="0" l="0" r="0" t="0"/>
          <a:stretch/>
        </p:blipFill>
        <p:spPr>
          <a:xfrm>
            <a:off x="4348165" y="0"/>
            <a:ext cx="4795832" cy="5143500"/>
          </a:xfrm>
          <a:prstGeom prst="rect">
            <a:avLst/>
          </a:prstGeom>
          <a:noFill/>
          <a:ln>
            <a:noFill/>
          </a:ln>
        </p:spPr>
      </p:pic>
      <p:pic>
        <p:nvPicPr>
          <p:cNvPr descr="preencoded.png" id="124" name="Google Shape;124;p21"/>
          <p:cNvPicPr preferRelativeResize="0"/>
          <p:nvPr/>
        </p:nvPicPr>
        <p:blipFill rotWithShape="1">
          <a:blip r:embed="rId4">
            <a:alphaModFix/>
          </a:blip>
          <a:srcRect b="0" l="0" r="0" t="0"/>
          <a:stretch/>
        </p:blipFill>
        <p:spPr>
          <a:xfrm>
            <a:off x="223838" y="1724025"/>
            <a:ext cx="8920163" cy="3419475"/>
          </a:xfrm>
          <a:prstGeom prst="rect">
            <a:avLst/>
          </a:prstGeom>
          <a:noFill/>
          <a:ln>
            <a:noFill/>
          </a:ln>
        </p:spPr>
      </p:pic>
      <p:pic>
        <p:nvPicPr>
          <p:cNvPr descr="preencoded.png" id="125" name="Google Shape;125;p21"/>
          <p:cNvPicPr preferRelativeResize="0"/>
          <p:nvPr/>
        </p:nvPicPr>
        <p:blipFill rotWithShape="1">
          <a:blip r:embed="rId5">
            <a:alphaModFix/>
          </a:blip>
          <a:srcRect b="0" l="0" r="0" t="0"/>
          <a:stretch/>
        </p:blipFill>
        <p:spPr>
          <a:xfrm>
            <a:off x="638175" y="322985"/>
            <a:ext cx="1066800" cy="516083"/>
          </a:xfrm>
          <a:prstGeom prst="rect">
            <a:avLst/>
          </a:prstGeom>
          <a:noFill/>
          <a:ln>
            <a:noFill/>
          </a:ln>
        </p:spPr>
      </p:pic>
      <p:sp>
        <p:nvSpPr>
          <p:cNvPr id="126" name="Google Shape;126;p21"/>
          <p:cNvSpPr/>
          <p:nvPr/>
        </p:nvSpPr>
        <p:spPr>
          <a:xfrm>
            <a:off x="223863" y="1259000"/>
            <a:ext cx="8010600" cy="595500"/>
          </a:xfrm>
          <a:prstGeom prst="rect">
            <a:avLst/>
          </a:prstGeom>
          <a:noFill/>
          <a:ln>
            <a:noFill/>
          </a:ln>
          <a:effectLst>
            <a:outerShdw blurRad="42863" rotWithShape="0" algn="bl" dir="5400000" dist="14288">
              <a:srgbClr val="000000"/>
            </a:outerShdw>
          </a:effectLst>
        </p:spPr>
        <p:txBody>
          <a:bodyPr anchorCtr="0" anchor="t" bIns="0" lIns="0" spcFirstLastPara="1" rIns="0" wrap="square" tIns="0">
            <a:noAutofit/>
          </a:bodyPr>
          <a:lstStyle/>
          <a:p>
            <a:pPr indent="0" lvl="0" marL="0" marR="0" rtl="0" algn="l">
              <a:lnSpc>
                <a:spcPct val="124898"/>
              </a:lnSpc>
              <a:spcBef>
                <a:spcPts val="0"/>
              </a:spcBef>
              <a:spcAft>
                <a:spcPts val="0"/>
              </a:spcAft>
              <a:buClr>
                <a:srgbClr val="FFFF01"/>
              </a:buClr>
              <a:buSzPts val="3700"/>
              <a:buFont typeface="Asap"/>
              <a:buNone/>
            </a:pPr>
            <a:r>
              <a:rPr b="1" lang="en-GB" sz="2600">
                <a:solidFill>
                  <a:srgbClr val="FFFF01"/>
                </a:solidFill>
                <a:latin typeface="Asap"/>
                <a:ea typeface="Asap"/>
                <a:cs typeface="Asap"/>
                <a:sym typeface="Asap"/>
              </a:rPr>
              <a:t>Reguli de validare (Accuracy)</a:t>
            </a:r>
            <a:endParaRPr b="0" i="0" sz="2600" u="none" cap="none" strike="noStrike">
              <a:solidFill>
                <a:schemeClr val="dk1"/>
              </a:solidFill>
              <a:latin typeface="Calibri"/>
              <a:ea typeface="Calibri"/>
              <a:cs typeface="Calibri"/>
              <a:sym typeface="Calibri"/>
            </a:endParaRPr>
          </a:p>
        </p:txBody>
      </p:sp>
      <p:sp>
        <p:nvSpPr>
          <p:cNvPr id="127" name="Google Shape;127;p21"/>
          <p:cNvSpPr/>
          <p:nvPr/>
        </p:nvSpPr>
        <p:spPr>
          <a:xfrm>
            <a:off x="273275" y="2411920"/>
            <a:ext cx="7595400" cy="22602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2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b="1" lang="en-GB" sz="1500">
                <a:solidFill>
                  <a:schemeClr val="lt1"/>
                </a:solidFill>
                <a:latin typeface="Asap"/>
                <a:ea typeface="Asap"/>
                <a:cs typeface="Asap"/>
                <a:sym typeface="Asap"/>
              </a:rPr>
              <a:t>INTERVAL NUMERIC</a:t>
            </a:r>
            <a:endParaRPr b="1" sz="1500">
              <a:solidFill>
                <a:schemeClr val="lt1"/>
              </a:solidFill>
              <a:latin typeface="Asap"/>
              <a:ea typeface="Asap"/>
              <a:cs typeface="Asap"/>
              <a:sym typeface="Asap"/>
            </a:endParaRPr>
          </a:p>
          <a:p>
            <a:pPr indent="0" lvl="0" marL="0" marR="0" rtl="0" algn="l">
              <a:lnSpc>
                <a:spcPct val="100000"/>
              </a:lnSpc>
              <a:spcBef>
                <a:spcPts val="0"/>
              </a:spcBef>
              <a:spcAft>
                <a:spcPts val="0"/>
              </a:spcAft>
              <a:buNone/>
            </a:pPr>
            <a:r>
              <a:rPr lang="en-GB" sz="1500">
                <a:solidFill>
                  <a:schemeClr val="lt1"/>
                </a:solidFill>
                <a:latin typeface="Asap"/>
                <a:ea typeface="Asap"/>
                <a:cs typeface="Asap"/>
                <a:sym typeface="Asap"/>
              </a:rPr>
              <a:t>df[“Age”].</a:t>
            </a:r>
            <a:r>
              <a:rPr b="1" lang="en-GB" sz="1500">
                <a:solidFill>
                  <a:srgbClr val="FFFF01"/>
                </a:solidFill>
                <a:latin typeface="Asap"/>
                <a:ea typeface="Asap"/>
                <a:cs typeface="Asap"/>
                <a:sym typeface="Asap"/>
              </a:rPr>
              <a:t>between</a:t>
            </a:r>
            <a:r>
              <a:rPr lang="en-GB" sz="1500">
                <a:solidFill>
                  <a:schemeClr val="lt1"/>
                </a:solidFill>
                <a:latin typeface="Asap"/>
                <a:ea typeface="Asap"/>
                <a:cs typeface="Asap"/>
                <a:sym typeface="Asap"/>
              </a:rPr>
              <a:t>(0, 100, inclusive=”both”)</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lang="en-GB" sz="1500">
                <a:solidFill>
                  <a:schemeClr val="lt1"/>
                </a:solidFill>
                <a:latin typeface="Asap"/>
                <a:ea typeface="Asap"/>
                <a:cs typeface="Asap"/>
                <a:sym typeface="Asap"/>
              </a:rPr>
              <a:t>👉verifică dacă valorile sunt între </a:t>
            </a:r>
            <a:r>
              <a:rPr b="1" lang="en-GB" sz="1500">
                <a:solidFill>
                  <a:schemeClr val="lt1"/>
                </a:solidFill>
                <a:latin typeface="Asap"/>
                <a:ea typeface="Asap"/>
                <a:cs typeface="Asap"/>
                <a:sym typeface="Asap"/>
              </a:rPr>
              <a:t>0</a:t>
            </a:r>
            <a:r>
              <a:rPr lang="en-GB" sz="1500">
                <a:solidFill>
                  <a:schemeClr val="lt1"/>
                </a:solidFill>
                <a:latin typeface="Asap"/>
                <a:ea typeface="Asap"/>
                <a:cs typeface="Asap"/>
                <a:sym typeface="Asap"/>
              </a:rPr>
              <a:t> și </a:t>
            </a:r>
            <a:r>
              <a:rPr b="1" lang="en-GB" sz="1500">
                <a:solidFill>
                  <a:schemeClr val="lt1"/>
                </a:solidFill>
                <a:latin typeface="Asap"/>
                <a:ea typeface="Asap"/>
                <a:cs typeface="Asap"/>
                <a:sym typeface="Asap"/>
              </a:rPr>
              <a:t>100</a:t>
            </a:r>
            <a:r>
              <a:rPr lang="en-GB" sz="1500">
                <a:solidFill>
                  <a:schemeClr val="lt1"/>
                </a:solidFill>
                <a:latin typeface="Asap"/>
                <a:ea typeface="Asap"/>
                <a:cs typeface="Asap"/>
                <a:sym typeface="Asap"/>
              </a:rPr>
              <a:t> (inclusiv)</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1" lang="en-GB" sz="1500">
                <a:solidFill>
                  <a:schemeClr val="lt1"/>
                </a:solidFill>
                <a:latin typeface="Asap"/>
                <a:ea typeface="Asap"/>
                <a:cs typeface="Asap"/>
                <a:sym typeface="Asap"/>
              </a:rPr>
              <a:t>CATEGORII PERMISE</a:t>
            </a:r>
            <a:endParaRPr b="1"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lang="en-GB" sz="1500">
                <a:solidFill>
                  <a:schemeClr val="lt1"/>
                </a:solidFill>
                <a:latin typeface="Asap"/>
                <a:ea typeface="Asap"/>
                <a:cs typeface="Asap"/>
                <a:sym typeface="Asap"/>
              </a:rPr>
              <a:t>df[“Gender”].</a:t>
            </a:r>
            <a:r>
              <a:rPr b="1" lang="en-GB" sz="1500">
                <a:solidFill>
                  <a:srgbClr val="FFFF01"/>
                </a:solidFill>
                <a:latin typeface="Asap"/>
                <a:ea typeface="Asap"/>
                <a:cs typeface="Asap"/>
                <a:sym typeface="Asap"/>
              </a:rPr>
              <a:t>isin</a:t>
            </a:r>
            <a:r>
              <a:rPr lang="en-GB" sz="1500">
                <a:solidFill>
                  <a:schemeClr val="lt1"/>
                </a:solidFill>
                <a:latin typeface="Asap"/>
                <a:ea typeface="Asap"/>
                <a:cs typeface="Asap"/>
                <a:sym typeface="Asap"/>
              </a:rPr>
              <a:t>([“male”, “female”, “other”])</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lang="en-GB" sz="1500">
                <a:solidFill>
                  <a:schemeClr val="lt1"/>
                </a:solidFill>
                <a:latin typeface="Asap"/>
                <a:ea typeface="Asap"/>
                <a:cs typeface="Asap"/>
                <a:sym typeface="Asap"/>
              </a:rPr>
              <a:t>👉verifică dacă valorile aparțin unor </a:t>
            </a:r>
            <a:r>
              <a:rPr b="1" lang="en-GB" sz="1500">
                <a:solidFill>
                  <a:schemeClr val="lt1"/>
                </a:solidFill>
                <a:latin typeface="Asap"/>
                <a:ea typeface="Asap"/>
                <a:cs typeface="Asap"/>
                <a:sym typeface="Asap"/>
              </a:rPr>
              <a:t>categorii definite</a:t>
            </a:r>
            <a:endParaRPr b="1"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b="1" lang="en-GB">
                <a:solidFill>
                  <a:schemeClr val="lt1"/>
                </a:solidFill>
                <a:latin typeface="Asap"/>
                <a:ea typeface="Asap"/>
                <a:cs typeface="Asap"/>
                <a:sym typeface="Asap"/>
              </a:rPr>
              <a:t>VALORI LIPSĂ</a:t>
            </a:r>
            <a:endParaRPr b="1">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lang="en-GB">
                <a:solidFill>
                  <a:schemeClr val="lt1"/>
                </a:solidFill>
                <a:latin typeface="Asap"/>
                <a:ea typeface="Asap"/>
                <a:cs typeface="Asap"/>
                <a:sym typeface="Asap"/>
              </a:rPr>
              <a:t>df[“Age”].</a:t>
            </a:r>
            <a:r>
              <a:rPr b="1" lang="en-GB">
                <a:solidFill>
                  <a:srgbClr val="FFFF01"/>
                </a:solidFill>
                <a:latin typeface="Asap"/>
                <a:ea typeface="Asap"/>
                <a:cs typeface="Asap"/>
                <a:sym typeface="Asap"/>
              </a:rPr>
              <a:t>isna</a:t>
            </a:r>
            <a:r>
              <a:rPr lang="en-GB">
                <a:solidFill>
                  <a:schemeClr val="lt1"/>
                </a:solidFill>
                <a:latin typeface="Asap"/>
                <a:ea typeface="Asap"/>
                <a:cs typeface="Asap"/>
                <a:sym typeface="Asap"/>
              </a:rPr>
              <a:t>()       </a:t>
            </a:r>
            <a:r>
              <a:rPr lang="en-GB" sz="1500">
                <a:solidFill>
                  <a:schemeClr val="lt1"/>
                </a:solidFill>
                <a:latin typeface="Asap"/>
                <a:ea typeface="Asap"/>
                <a:cs typeface="Asap"/>
                <a:sym typeface="Asap"/>
              </a:rPr>
              <a:t>👉 e </a:t>
            </a:r>
            <a:r>
              <a:rPr b="1" lang="en-GB" sz="1500">
                <a:solidFill>
                  <a:schemeClr val="lt1"/>
                </a:solidFill>
                <a:latin typeface="Asap"/>
                <a:ea typeface="Asap"/>
                <a:cs typeface="Asap"/>
                <a:sym typeface="Asap"/>
              </a:rPr>
              <a:t>NaN</a:t>
            </a:r>
            <a:r>
              <a:rPr lang="en-GB" sz="1500">
                <a:solidFill>
                  <a:schemeClr val="lt1"/>
                </a:solidFill>
                <a:latin typeface="Asap"/>
                <a:ea typeface="Asap"/>
                <a:cs typeface="Asap"/>
                <a:sym typeface="Asap"/>
              </a:rPr>
              <a:t>?</a:t>
            </a:r>
            <a:endParaRPr>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lang="en-GB">
                <a:solidFill>
                  <a:schemeClr val="lt1"/>
                </a:solidFill>
                <a:latin typeface="Asap"/>
                <a:ea typeface="Asap"/>
                <a:cs typeface="Asap"/>
                <a:sym typeface="Asap"/>
              </a:rPr>
              <a:t>df[“Age”].</a:t>
            </a:r>
            <a:r>
              <a:rPr b="1" lang="en-GB">
                <a:solidFill>
                  <a:srgbClr val="FFFF01"/>
                </a:solidFill>
                <a:latin typeface="Asap"/>
                <a:ea typeface="Asap"/>
                <a:cs typeface="Asap"/>
                <a:sym typeface="Asap"/>
              </a:rPr>
              <a:t>notna</a:t>
            </a:r>
            <a:r>
              <a:rPr lang="en-GB">
                <a:solidFill>
                  <a:schemeClr val="lt1"/>
                </a:solidFill>
                <a:latin typeface="Asap"/>
                <a:ea typeface="Asap"/>
                <a:cs typeface="Asap"/>
                <a:sym typeface="Asap"/>
              </a:rPr>
              <a:t>()    </a:t>
            </a:r>
            <a:r>
              <a:rPr lang="en-GB" sz="1500">
                <a:solidFill>
                  <a:schemeClr val="lt1"/>
                </a:solidFill>
                <a:latin typeface="Asap"/>
                <a:ea typeface="Asap"/>
                <a:cs typeface="Asap"/>
                <a:sym typeface="Asap"/>
              </a:rPr>
              <a:t>👉 nu e </a:t>
            </a:r>
            <a:r>
              <a:rPr b="1" lang="en-GB" sz="1500">
                <a:solidFill>
                  <a:schemeClr val="lt1"/>
                </a:solidFill>
                <a:latin typeface="Asap"/>
                <a:ea typeface="Asap"/>
                <a:cs typeface="Asap"/>
                <a:sym typeface="Asap"/>
              </a:rPr>
              <a:t>NaN</a:t>
            </a:r>
            <a:r>
              <a:rPr lang="en-GB" sz="1500">
                <a:solidFill>
                  <a:schemeClr val="lt1"/>
                </a:solidFill>
                <a:latin typeface="Asap"/>
                <a:ea typeface="Asap"/>
                <a:cs typeface="Asap"/>
                <a:sym typeface="Asap"/>
              </a:rPr>
              <a:t>?</a:t>
            </a:r>
            <a:endParaRPr>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1" i="0" sz="1100" u="none" cap="none" strike="noStrike">
              <a:solidFill>
                <a:schemeClr val="lt1"/>
              </a:solidFill>
              <a:latin typeface="Asap"/>
              <a:ea typeface="Asap"/>
              <a:cs typeface="Asap"/>
              <a:sym typeface="Asap"/>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descr="preencoded.png" id="133" name="Google Shape;133;p22"/>
          <p:cNvPicPr preferRelativeResize="0"/>
          <p:nvPr/>
        </p:nvPicPr>
        <p:blipFill rotWithShape="1">
          <a:blip r:embed="rId3">
            <a:alphaModFix/>
          </a:blip>
          <a:srcRect b="0" l="0" r="0" t="0"/>
          <a:stretch/>
        </p:blipFill>
        <p:spPr>
          <a:xfrm>
            <a:off x="4348165" y="0"/>
            <a:ext cx="4795832" cy="5143500"/>
          </a:xfrm>
          <a:prstGeom prst="rect">
            <a:avLst/>
          </a:prstGeom>
          <a:noFill/>
          <a:ln>
            <a:noFill/>
          </a:ln>
        </p:spPr>
      </p:pic>
      <p:pic>
        <p:nvPicPr>
          <p:cNvPr descr="preencoded.png" id="134" name="Google Shape;134;p22"/>
          <p:cNvPicPr preferRelativeResize="0"/>
          <p:nvPr/>
        </p:nvPicPr>
        <p:blipFill rotWithShape="1">
          <a:blip r:embed="rId4">
            <a:alphaModFix/>
          </a:blip>
          <a:srcRect b="0" l="0" r="0" t="0"/>
          <a:stretch/>
        </p:blipFill>
        <p:spPr>
          <a:xfrm>
            <a:off x="223838" y="1724025"/>
            <a:ext cx="8920163" cy="3419475"/>
          </a:xfrm>
          <a:prstGeom prst="rect">
            <a:avLst/>
          </a:prstGeom>
          <a:noFill/>
          <a:ln>
            <a:noFill/>
          </a:ln>
        </p:spPr>
      </p:pic>
      <p:pic>
        <p:nvPicPr>
          <p:cNvPr descr="preencoded.png" id="135" name="Google Shape;135;p22"/>
          <p:cNvPicPr preferRelativeResize="0"/>
          <p:nvPr/>
        </p:nvPicPr>
        <p:blipFill rotWithShape="1">
          <a:blip r:embed="rId5">
            <a:alphaModFix/>
          </a:blip>
          <a:srcRect b="0" l="0" r="0" t="0"/>
          <a:stretch/>
        </p:blipFill>
        <p:spPr>
          <a:xfrm>
            <a:off x="638175" y="322985"/>
            <a:ext cx="1066800" cy="516083"/>
          </a:xfrm>
          <a:prstGeom prst="rect">
            <a:avLst/>
          </a:prstGeom>
          <a:noFill/>
          <a:ln>
            <a:noFill/>
          </a:ln>
        </p:spPr>
      </p:pic>
      <p:sp>
        <p:nvSpPr>
          <p:cNvPr id="136" name="Google Shape;136;p22"/>
          <p:cNvSpPr/>
          <p:nvPr/>
        </p:nvSpPr>
        <p:spPr>
          <a:xfrm>
            <a:off x="223863" y="1259000"/>
            <a:ext cx="8010600" cy="595500"/>
          </a:xfrm>
          <a:prstGeom prst="rect">
            <a:avLst/>
          </a:prstGeom>
          <a:noFill/>
          <a:ln>
            <a:noFill/>
          </a:ln>
          <a:effectLst>
            <a:outerShdw blurRad="42863" rotWithShape="0" algn="bl" dir="5400000" dist="14288">
              <a:srgbClr val="000000"/>
            </a:outerShdw>
          </a:effectLst>
        </p:spPr>
        <p:txBody>
          <a:bodyPr anchorCtr="0" anchor="t" bIns="0" lIns="0" spcFirstLastPara="1" rIns="0" wrap="square" tIns="0">
            <a:noAutofit/>
          </a:bodyPr>
          <a:lstStyle/>
          <a:p>
            <a:pPr indent="0" lvl="0" marL="0" marR="0" rtl="0" algn="l">
              <a:lnSpc>
                <a:spcPct val="124898"/>
              </a:lnSpc>
              <a:spcBef>
                <a:spcPts val="0"/>
              </a:spcBef>
              <a:spcAft>
                <a:spcPts val="0"/>
              </a:spcAft>
              <a:buClr>
                <a:srgbClr val="FFFF01"/>
              </a:buClr>
              <a:buSzPts val="3700"/>
              <a:buFont typeface="Asap"/>
              <a:buNone/>
            </a:pPr>
            <a:r>
              <a:rPr b="1" lang="en-GB" sz="2600">
                <a:solidFill>
                  <a:srgbClr val="FFFF01"/>
                </a:solidFill>
                <a:latin typeface="Asap"/>
                <a:ea typeface="Asap"/>
                <a:cs typeface="Asap"/>
                <a:sym typeface="Asap"/>
              </a:rPr>
              <a:t>Reguli de validare (Accuracy)</a:t>
            </a:r>
            <a:endParaRPr b="0" i="0" sz="2600" u="none" cap="none" strike="noStrike">
              <a:solidFill>
                <a:schemeClr val="dk1"/>
              </a:solidFill>
              <a:latin typeface="Calibri"/>
              <a:ea typeface="Calibri"/>
              <a:cs typeface="Calibri"/>
              <a:sym typeface="Calibri"/>
            </a:endParaRPr>
          </a:p>
        </p:txBody>
      </p:sp>
      <p:sp>
        <p:nvSpPr>
          <p:cNvPr id="137" name="Google Shape;137;p22"/>
          <p:cNvSpPr/>
          <p:nvPr/>
        </p:nvSpPr>
        <p:spPr>
          <a:xfrm>
            <a:off x="273275" y="2411920"/>
            <a:ext cx="7595400" cy="22602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2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b="1" lang="en-GB" sz="1500">
                <a:solidFill>
                  <a:schemeClr val="lt1"/>
                </a:solidFill>
                <a:latin typeface="Asap"/>
                <a:ea typeface="Asap"/>
                <a:cs typeface="Asap"/>
                <a:sym typeface="Asap"/>
              </a:rPr>
              <a:t>VALORI UNICE</a:t>
            </a:r>
            <a:endParaRPr b="1"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lang="en-GB" sz="1500">
                <a:solidFill>
                  <a:schemeClr val="lt1"/>
                </a:solidFill>
                <a:latin typeface="Asap"/>
                <a:ea typeface="Asap"/>
                <a:cs typeface="Asap"/>
                <a:sym typeface="Asap"/>
              </a:rPr>
              <a:t>df[“Gender”].</a:t>
            </a:r>
            <a:r>
              <a:rPr b="1" lang="en-GB" sz="1500">
                <a:solidFill>
                  <a:srgbClr val="FFFF01"/>
                </a:solidFill>
                <a:latin typeface="Asap"/>
                <a:ea typeface="Asap"/>
                <a:cs typeface="Asap"/>
                <a:sym typeface="Asap"/>
              </a:rPr>
              <a:t>unique</a:t>
            </a:r>
            <a:r>
              <a:rPr lang="en-GB" sz="1500">
                <a:solidFill>
                  <a:schemeClr val="lt1"/>
                </a:solidFill>
                <a:latin typeface="Asap"/>
                <a:ea typeface="Asap"/>
                <a:cs typeface="Asap"/>
                <a:sym typeface="Asap"/>
              </a:rPr>
              <a:t>() </a:t>
            </a:r>
            <a:r>
              <a:rPr lang="en-GB" sz="1500">
                <a:solidFill>
                  <a:schemeClr val="lt1"/>
                </a:solidFill>
                <a:latin typeface="Asap"/>
                <a:ea typeface="Asap"/>
                <a:cs typeface="Asap"/>
                <a:sym typeface="Asap"/>
              </a:rPr>
              <a:t>👉 display-uie </a:t>
            </a:r>
            <a:r>
              <a:rPr b="1" lang="en-GB" sz="1500">
                <a:solidFill>
                  <a:schemeClr val="lt1"/>
                </a:solidFill>
                <a:latin typeface="Asap"/>
                <a:ea typeface="Asap"/>
                <a:cs typeface="Asap"/>
                <a:sym typeface="Asap"/>
              </a:rPr>
              <a:t>categoriile</a:t>
            </a:r>
            <a:endParaRPr b="1"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lang="en-GB" sz="1500">
                <a:solidFill>
                  <a:schemeClr val="lt1"/>
                </a:solidFill>
                <a:latin typeface="Asap"/>
                <a:ea typeface="Asap"/>
                <a:cs typeface="Asap"/>
                <a:sym typeface="Asap"/>
              </a:rPr>
              <a:t>df[“Gender”].</a:t>
            </a:r>
            <a:r>
              <a:rPr b="1" lang="en-GB" sz="1500">
                <a:solidFill>
                  <a:srgbClr val="FFFF01"/>
                </a:solidFill>
                <a:latin typeface="Asap"/>
                <a:ea typeface="Asap"/>
                <a:cs typeface="Asap"/>
                <a:sym typeface="Asap"/>
              </a:rPr>
              <a:t>nunique</a:t>
            </a:r>
            <a:r>
              <a:rPr lang="en-GB" sz="1500">
                <a:solidFill>
                  <a:schemeClr val="lt1"/>
                </a:solidFill>
                <a:latin typeface="Asap"/>
                <a:ea typeface="Asap"/>
                <a:cs typeface="Asap"/>
                <a:sym typeface="Asap"/>
              </a:rPr>
              <a:t>() 👉 display-uie </a:t>
            </a:r>
            <a:r>
              <a:rPr b="1" lang="en-GB" sz="1500">
                <a:solidFill>
                  <a:schemeClr val="lt1"/>
                </a:solidFill>
                <a:latin typeface="Asap"/>
                <a:ea typeface="Asap"/>
                <a:cs typeface="Asap"/>
                <a:sym typeface="Asap"/>
              </a:rPr>
              <a:t>nr de categorii</a:t>
            </a:r>
            <a:endParaRPr b="1"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1" lang="en-GB" sz="1500">
                <a:solidFill>
                  <a:schemeClr val="lt1"/>
                </a:solidFill>
                <a:latin typeface="Asap"/>
                <a:ea typeface="Asap"/>
                <a:cs typeface="Asap"/>
                <a:sym typeface="Asap"/>
              </a:rPr>
              <a:t>DUPLICATE</a:t>
            </a:r>
            <a:endParaRPr b="1"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lang="en-GB" sz="1500">
                <a:solidFill>
                  <a:schemeClr val="lt1"/>
                </a:solidFill>
                <a:latin typeface="Asap"/>
                <a:ea typeface="Asap"/>
                <a:cs typeface="Asap"/>
                <a:sym typeface="Asap"/>
              </a:rPr>
              <a:t>df[“Id”].</a:t>
            </a:r>
            <a:r>
              <a:rPr b="1" lang="en-GB" sz="1500">
                <a:solidFill>
                  <a:srgbClr val="FFFF01"/>
                </a:solidFill>
                <a:latin typeface="Asap"/>
                <a:ea typeface="Asap"/>
                <a:cs typeface="Asap"/>
                <a:sym typeface="Asap"/>
              </a:rPr>
              <a:t>duplicated</a:t>
            </a:r>
            <a:r>
              <a:rPr lang="en-GB" sz="1500">
                <a:solidFill>
                  <a:schemeClr val="lt1"/>
                </a:solidFill>
                <a:latin typeface="Asap"/>
                <a:ea typeface="Asap"/>
                <a:cs typeface="Asap"/>
                <a:sym typeface="Asap"/>
              </a:rPr>
              <a:t>() </a:t>
            </a:r>
            <a:r>
              <a:rPr lang="en-GB" sz="1500">
                <a:solidFill>
                  <a:schemeClr val="lt1"/>
                </a:solidFill>
                <a:latin typeface="Asap"/>
                <a:ea typeface="Asap"/>
                <a:cs typeface="Asap"/>
                <a:sym typeface="Asap"/>
              </a:rPr>
              <a:t>👉numărul de rânduri </a:t>
            </a:r>
            <a:r>
              <a:rPr b="1" lang="en-GB" sz="1500">
                <a:solidFill>
                  <a:schemeClr val="lt1"/>
                </a:solidFill>
                <a:latin typeface="Asap"/>
                <a:ea typeface="Asap"/>
                <a:cs typeface="Asap"/>
                <a:sym typeface="Asap"/>
              </a:rPr>
              <a:t>duplicate</a:t>
            </a:r>
            <a:endParaRPr b="1"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b="1" lang="en-GB">
                <a:solidFill>
                  <a:schemeClr val="lt1"/>
                </a:solidFill>
                <a:latin typeface="Asap"/>
                <a:ea typeface="Asap"/>
                <a:cs typeface="Asap"/>
                <a:sym typeface="Asap"/>
              </a:rPr>
              <a:t>CONDIȚII PERSONALIZATE</a:t>
            </a:r>
            <a:endParaRPr b="1">
              <a:solidFill>
                <a:schemeClr val="lt1"/>
              </a:solidFill>
              <a:latin typeface="Asap"/>
              <a:ea typeface="Asap"/>
              <a:cs typeface="Asap"/>
              <a:sym typeface="Asap"/>
            </a:endParaRPr>
          </a:p>
          <a:p>
            <a:pPr indent="0" lvl="0" marL="0" rtl="0" algn="l">
              <a:spcBef>
                <a:spcPts val="0"/>
              </a:spcBef>
              <a:spcAft>
                <a:spcPts val="0"/>
              </a:spcAft>
              <a:buClr>
                <a:schemeClr val="dk1"/>
              </a:buClr>
              <a:buSzPts val="1100"/>
              <a:buFont typeface="Arial"/>
              <a:buNone/>
            </a:pPr>
            <a:r>
              <a:rPr lang="en-GB">
                <a:solidFill>
                  <a:schemeClr val="lt1"/>
                </a:solidFill>
                <a:latin typeface="Asap"/>
                <a:ea typeface="Asap"/>
                <a:cs typeface="Asap"/>
                <a:sym typeface="Asap"/>
              </a:rPr>
              <a:t>(df["Salary"] &gt; 0) </a:t>
            </a:r>
            <a:r>
              <a:rPr b="1" lang="en-GB">
                <a:solidFill>
                  <a:srgbClr val="FFFF01"/>
                </a:solidFill>
                <a:latin typeface="Asap"/>
                <a:ea typeface="Asap"/>
                <a:cs typeface="Asap"/>
                <a:sym typeface="Asap"/>
              </a:rPr>
              <a:t>&amp; </a:t>
            </a:r>
            <a:r>
              <a:rPr lang="en-GB">
                <a:solidFill>
                  <a:schemeClr val="lt1"/>
                </a:solidFill>
                <a:latin typeface="Asap"/>
                <a:ea typeface="Asap"/>
                <a:cs typeface="Asap"/>
                <a:sym typeface="Asap"/>
              </a:rPr>
              <a:t>(df["Salary"] &lt; 5000) </a:t>
            </a:r>
            <a:r>
              <a:rPr lang="en-GB" sz="1500">
                <a:solidFill>
                  <a:schemeClr val="lt1"/>
                </a:solidFill>
                <a:latin typeface="Asap"/>
                <a:ea typeface="Asap"/>
                <a:cs typeface="Asap"/>
                <a:sym typeface="Asap"/>
              </a:rPr>
              <a:t>👉 condiție1 </a:t>
            </a:r>
            <a:r>
              <a:rPr b="1" lang="en-GB" sz="1500">
                <a:solidFill>
                  <a:schemeClr val="lt1"/>
                </a:solidFill>
                <a:latin typeface="Asap"/>
                <a:ea typeface="Asap"/>
                <a:cs typeface="Asap"/>
                <a:sym typeface="Asap"/>
              </a:rPr>
              <a:t>și</a:t>
            </a:r>
            <a:r>
              <a:rPr lang="en-GB" sz="1500">
                <a:solidFill>
                  <a:schemeClr val="lt1"/>
                </a:solidFill>
                <a:latin typeface="Asap"/>
                <a:ea typeface="Asap"/>
                <a:cs typeface="Asap"/>
                <a:sym typeface="Asap"/>
              </a:rPr>
              <a:t> conditie2</a:t>
            </a:r>
            <a:endParaRPr>
              <a:solidFill>
                <a:schemeClr val="lt1"/>
              </a:solidFill>
              <a:latin typeface="Asap"/>
              <a:ea typeface="Asap"/>
              <a:cs typeface="Asap"/>
              <a:sym typeface="Asap"/>
            </a:endParaRPr>
          </a:p>
          <a:p>
            <a:pPr indent="0" lvl="0" marL="0" rtl="0" algn="l">
              <a:spcBef>
                <a:spcPts val="0"/>
              </a:spcBef>
              <a:spcAft>
                <a:spcPts val="0"/>
              </a:spcAft>
              <a:buClr>
                <a:schemeClr val="dk1"/>
              </a:buClr>
              <a:buSzPts val="1100"/>
              <a:buFont typeface="Arial"/>
              <a:buNone/>
            </a:pPr>
            <a:r>
              <a:rPr lang="en-GB">
                <a:solidFill>
                  <a:schemeClr val="lt1"/>
                </a:solidFill>
                <a:latin typeface="Asap"/>
                <a:ea typeface="Asap"/>
                <a:cs typeface="Asap"/>
                <a:sym typeface="Asap"/>
              </a:rPr>
              <a:t>bad_rows = </a:t>
            </a:r>
            <a:r>
              <a:rPr b="1" lang="en-GB">
                <a:solidFill>
                  <a:srgbClr val="FFFF01"/>
                </a:solidFill>
                <a:latin typeface="Asap"/>
                <a:ea typeface="Asap"/>
                <a:cs typeface="Asap"/>
                <a:sym typeface="Asap"/>
              </a:rPr>
              <a:t>~</a:t>
            </a:r>
            <a:r>
              <a:rPr lang="en-GB">
                <a:solidFill>
                  <a:schemeClr val="lt1"/>
                </a:solidFill>
                <a:latin typeface="Asap"/>
                <a:ea typeface="Asap"/>
                <a:cs typeface="Asap"/>
                <a:sym typeface="Asap"/>
              </a:rPr>
              <a:t>df["Age"].</a:t>
            </a:r>
            <a:r>
              <a:rPr b="1" lang="en-GB">
                <a:solidFill>
                  <a:srgbClr val="FFFF01"/>
                </a:solidFill>
                <a:latin typeface="Asap"/>
                <a:ea typeface="Asap"/>
                <a:cs typeface="Asap"/>
                <a:sym typeface="Asap"/>
              </a:rPr>
              <a:t>between</a:t>
            </a:r>
            <a:r>
              <a:rPr lang="en-GB">
                <a:solidFill>
                  <a:schemeClr val="lt1"/>
                </a:solidFill>
                <a:latin typeface="Asap"/>
                <a:ea typeface="Asap"/>
                <a:cs typeface="Asap"/>
                <a:sym typeface="Asap"/>
              </a:rPr>
              <a:t>(0, 100) </a:t>
            </a:r>
            <a:r>
              <a:rPr b="1" lang="en-GB">
                <a:solidFill>
                  <a:srgbClr val="FFFF01"/>
                </a:solidFill>
                <a:latin typeface="Asap"/>
                <a:ea typeface="Asap"/>
                <a:cs typeface="Asap"/>
                <a:sym typeface="Asap"/>
              </a:rPr>
              <a:t>|</a:t>
            </a:r>
            <a:r>
              <a:rPr lang="en-GB">
                <a:solidFill>
                  <a:schemeClr val="lt1"/>
                </a:solidFill>
                <a:latin typeface="Asap"/>
                <a:ea typeface="Asap"/>
                <a:cs typeface="Asap"/>
                <a:sym typeface="Asap"/>
              </a:rPr>
              <a:t> df["Salary"].isna() </a:t>
            </a:r>
            <a:r>
              <a:rPr lang="en-GB" sz="1500">
                <a:solidFill>
                  <a:schemeClr val="lt1"/>
                </a:solidFill>
                <a:latin typeface="Asap"/>
                <a:ea typeface="Asap"/>
                <a:cs typeface="Asap"/>
                <a:sym typeface="Asap"/>
              </a:rPr>
              <a:t>👉 </a:t>
            </a:r>
            <a:r>
              <a:rPr b="1" lang="en-GB" sz="1500">
                <a:solidFill>
                  <a:schemeClr val="lt1"/>
                </a:solidFill>
                <a:latin typeface="Asap"/>
                <a:ea typeface="Asap"/>
                <a:cs typeface="Asap"/>
                <a:sym typeface="Asap"/>
              </a:rPr>
              <a:t>not </a:t>
            </a:r>
            <a:r>
              <a:rPr lang="en-GB" sz="1500">
                <a:solidFill>
                  <a:schemeClr val="lt1"/>
                </a:solidFill>
                <a:latin typeface="Asap"/>
                <a:ea typeface="Asap"/>
                <a:cs typeface="Asap"/>
                <a:sym typeface="Asap"/>
              </a:rPr>
              <a:t>condiție1 </a:t>
            </a:r>
            <a:r>
              <a:rPr b="1" lang="en-GB" sz="1500">
                <a:solidFill>
                  <a:schemeClr val="lt1"/>
                </a:solidFill>
                <a:latin typeface="Asap"/>
                <a:ea typeface="Asap"/>
                <a:cs typeface="Asap"/>
                <a:sym typeface="Asap"/>
              </a:rPr>
              <a:t>sau </a:t>
            </a:r>
            <a:r>
              <a:rPr lang="en-GB" sz="1500">
                <a:solidFill>
                  <a:schemeClr val="lt1"/>
                </a:solidFill>
                <a:latin typeface="Asap"/>
                <a:ea typeface="Asap"/>
                <a:cs typeface="Asap"/>
                <a:sym typeface="Asap"/>
              </a:rPr>
              <a:t>condiție2</a:t>
            </a:r>
            <a:endParaRPr>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1" i="0" sz="1100" u="none" cap="none" strike="noStrike">
              <a:solidFill>
                <a:schemeClr val="lt1"/>
              </a:solidFill>
              <a:latin typeface="Asap"/>
              <a:ea typeface="Asap"/>
              <a:cs typeface="Asap"/>
              <a:sym typeface="Asap"/>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descr="preencoded.png" id="143" name="Google Shape;143;p23"/>
          <p:cNvPicPr preferRelativeResize="0"/>
          <p:nvPr/>
        </p:nvPicPr>
        <p:blipFill rotWithShape="1">
          <a:blip r:embed="rId3">
            <a:alphaModFix/>
          </a:blip>
          <a:srcRect b="0" l="0" r="0" t="0"/>
          <a:stretch/>
        </p:blipFill>
        <p:spPr>
          <a:xfrm>
            <a:off x="4348165" y="0"/>
            <a:ext cx="4795832" cy="5143500"/>
          </a:xfrm>
          <a:prstGeom prst="rect">
            <a:avLst/>
          </a:prstGeom>
          <a:noFill/>
          <a:ln>
            <a:noFill/>
          </a:ln>
        </p:spPr>
      </p:pic>
      <p:pic>
        <p:nvPicPr>
          <p:cNvPr descr="preencoded.png" id="144" name="Google Shape;144;p23"/>
          <p:cNvPicPr preferRelativeResize="0"/>
          <p:nvPr/>
        </p:nvPicPr>
        <p:blipFill rotWithShape="1">
          <a:blip r:embed="rId4">
            <a:alphaModFix/>
          </a:blip>
          <a:srcRect b="0" l="0" r="0" t="0"/>
          <a:stretch/>
        </p:blipFill>
        <p:spPr>
          <a:xfrm>
            <a:off x="223838" y="1724025"/>
            <a:ext cx="8920163" cy="3419475"/>
          </a:xfrm>
          <a:prstGeom prst="rect">
            <a:avLst/>
          </a:prstGeom>
          <a:noFill/>
          <a:ln>
            <a:noFill/>
          </a:ln>
        </p:spPr>
      </p:pic>
      <p:pic>
        <p:nvPicPr>
          <p:cNvPr descr="preencoded.png" id="145" name="Google Shape;145;p23"/>
          <p:cNvPicPr preferRelativeResize="0"/>
          <p:nvPr/>
        </p:nvPicPr>
        <p:blipFill rotWithShape="1">
          <a:blip r:embed="rId5">
            <a:alphaModFix/>
          </a:blip>
          <a:srcRect b="0" l="0" r="0" t="0"/>
          <a:stretch/>
        </p:blipFill>
        <p:spPr>
          <a:xfrm>
            <a:off x="638175" y="322985"/>
            <a:ext cx="1066800" cy="516083"/>
          </a:xfrm>
          <a:prstGeom prst="rect">
            <a:avLst/>
          </a:prstGeom>
          <a:noFill/>
          <a:ln>
            <a:noFill/>
          </a:ln>
        </p:spPr>
      </p:pic>
      <p:sp>
        <p:nvSpPr>
          <p:cNvPr id="146" name="Google Shape;146;p23"/>
          <p:cNvSpPr/>
          <p:nvPr/>
        </p:nvSpPr>
        <p:spPr>
          <a:xfrm>
            <a:off x="223863" y="1259000"/>
            <a:ext cx="8010600" cy="595500"/>
          </a:xfrm>
          <a:prstGeom prst="rect">
            <a:avLst/>
          </a:prstGeom>
          <a:noFill/>
          <a:ln>
            <a:noFill/>
          </a:ln>
          <a:effectLst>
            <a:outerShdw blurRad="42863" rotWithShape="0" algn="bl" dir="5400000" dist="14288">
              <a:srgbClr val="000000"/>
            </a:outerShdw>
          </a:effectLst>
        </p:spPr>
        <p:txBody>
          <a:bodyPr anchorCtr="0" anchor="t" bIns="0" lIns="0" spcFirstLastPara="1" rIns="0" wrap="square" tIns="0">
            <a:noAutofit/>
          </a:bodyPr>
          <a:lstStyle/>
          <a:p>
            <a:pPr indent="0" lvl="0" marL="0" marR="0" rtl="0" algn="l">
              <a:lnSpc>
                <a:spcPct val="124898"/>
              </a:lnSpc>
              <a:spcBef>
                <a:spcPts val="0"/>
              </a:spcBef>
              <a:spcAft>
                <a:spcPts val="0"/>
              </a:spcAft>
              <a:buClr>
                <a:srgbClr val="FFFF01"/>
              </a:buClr>
              <a:buSzPts val="3700"/>
              <a:buFont typeface="Asap"/>
              <a:buNone/>
            </a:pPr>
            <a:r>
              <a:rPr b="1" i="0" lang="en-GB" sz="2600" u="none" cap="none" strike="noStrike">
                <a:solidFill>
                  <a:srgbClr val="FFFF01"/>
                </a:solidFill>
                <a:latin typeface="Asap"/>
                <a:ea typeface="Asap"/>
                <a:cs typeface="Asap"/>
                <a:sym typeface="Asap"/>
              </a:rPr>
              <a:t>Calitatea Datelor</a:t>
            </a:r>
            <a:endParaRPr b="0" i="0" sz="2600" u="none" cap="none" strike="noStrike">
              <a:solidFill>
                <a:schemeClr val="dk1"/>
              </a:solidFill>
              <a:latin typeface="Calibri"/>
              <a:ea typeface="Calibri"/>
              <a:cs typeface="Calibri"/>
              <a:sym typeface="Calibri"/>
            </a:endParaRPr>
          </a:p>
        </p:txBody>
      </p:sp>
      <p:sp>
        <p:nvSpPr>
          <p:cNvPr id="147" name="Google Shape;147;p23"/>
          <p:cNvSpPr/>
          <p:nvPr/>
        </p:nvSpPr>
        <p:spPr>
          <a:xfrm>
            <a:off x="273275" y="2093437"/>
            <a:ext cx="7595400" cy="2814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2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b="1" i="0" lang="en-GB" sz="1500" u="none" cap="none" strike="noStrike">
                <a:solidFill>
                  <a:schemeClr val="lt1"/>
                </a:solidFill>
                <a:latin typeface="Asap"/>
                <a:ea typeface="Asap"/>
                <a:cs typeface="Asap"/>
                <a:sym typeface="Asap"/>
              </a:rPr>
              <a:t>Consistency (Consistență)</a:t>
            </a:r>
            <a:endParaRPr b="1"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Datele sunt scrise consecvent?</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Aceeași categorie, formate diferite (male/female vs m/f)</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Contradicții între surse → informații diferite</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Soluție: standardizare, dicționare de valori</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1" lang="en-GB" sz="1500">
                <a:solidFill>
                  <a:schemeClr val="lt1"/>
                </a:solidFill>
                <a:latin typeface="Asap"/>
                <a:ea typeface="Asap"/>
                <a:cs typeface="Asap"/>
                <a:sym typeface="Asap"/>
              </a:rPr>
              <a:t>-&gt;</a:t>
            </a:r>
            <a:r>
              <a:rPr b="1" lang="en-GB" sz="1800">
                <a:solidFill>
                  <a:schemeClr val="lt1"/>
                </a:solidFill>
                <a:latin typeface="Asap"/>
                <a:ea typeface="Asap"/>
                <a:cs typeface="Asap"/>
                <a:sym typeface="Asap"/>
              </a:rPr>
              <a:t> </a:t>
            </a:r>
            <a:r>
              <a:rPr b="1" lang="en-GB" sz="1350">
                <a:solidFill>
                  <a:srgbClr val="FFFF01"/>
                </a:solidFill>
                <a:latin typeface="Asap"/>
                <a:ea typeface="Asap"/>
                <a:cs typeface="Asap"/>
                <a:sym typeface="Asap"/>
              </a:rPr>
              <a:t>df["Sex"] = s.map({"m": "male", "f": "female"}).fillna(s)</a:t>
            </a:r>
            <a:endParaRPr b="1" sz="1800">
              <a:solidFill>
                <a:srgbClr val="FFFF0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1" i="0" sz="1100" u="none" cap="none" strike="noStrike">
              <a:solidFill>
                <a:schemeClr val="lt1"/>
              </a:solidFill>
              <a:latin typeface="Asap"/>
              <a:ea typeface="Asap"/>
              <a:cs typeface="Asap"/>
              <a:sym typeface="Asap"/>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descr="preencoded.png" id="153" name="Google Shape;153;p24"/>
          <p:cNvPicPr preferRelativeResize="0"/>
          <p:nvPr/>
        </p:nvPicPr>
        <p:blipFill rotWithShape="1">
          <a:blip r:embed="rId3">
            <a:alphaModFix/>
          </a:blip>
          <a:srcRect b="0" l="0" r="0" t="0"/>
          <a:stretch/>
        </p:blipFill>
        <p:spPr>
          <a:xfrm>
            <a:off x="4348165" y="0"/>
            <a:ext cx="4795832" cy="5143500"/>
          </a:xfrm>
          <a:prstGeom prst="rect">
            <a:avLst/>
          </a:prstGeom>
          <a:noFill/>
          <a:ln>
            <a:noFill/>
          </a:ln>
        </p:spPr>
      </p:pic>
      <p:pic>
        <p:nvPicPr>
          <p:cNvPr descr="preencoded.png" id="154" name="Google Shape;154;p24"/>
          <p:cNvPicPr preferRelativeResize="0"/>
          <p:nvPr/>
        </p:nvPicPr>
        <p:blipFill rotWithShape="1">
          <a:blip r:embed="rId4">
            <a:alphaModFix/>
          </a:blip>
          <a:srcRect b="0" l="0" r="0" t="0"/>
          <a:stretch/>
        </p:blipFill>
        <p:spPr>
          <a:xfrm>
            <a:off x="223838" y="1724025"/>
            <a:ext cx="8920163" cy="3419475"/>
          </a:xfrm>
          <a:prstGeom prst="rect">
            <a:avLst/>
          </a:prstGeom>
          <a:noFill/>
          <a:ln>
            <a:noFill/>
          </a:ln>
        </p:spPr>
      </p:pic>
      <p:pic>
        <p:nvPicPr>
          <p:cNvPr descr="preencoded.png" id="155" name="Google Shape;155;p24"/>
          <p:cNvPicPr preferRelativeResize="0"/>
          <p:nvPr/>
        </p:nvPicPr>
        <p:blipFill rotWithShape="1">
          <a:blip r:embed="rId5">
            <a:alphaModFix/>
          </a:blip>
          <a:srcRect b="0" l="0" r="0" t="0"/>
          <a:stretch/>
        </p:blipFill>
        <p:spPr>
          <a:xfrm>
            <a:off x="638175" y="322985"/>
            <a:ext cx="1066800" cy="516083"/>
          </a:xfrm>
          <a:prstGeom prst="rect">
            <a:avLst/>
          </a:prstGeom>
          <a:noFill/>
          <a:ln>
            <a:noFill/>
          </a:ln>
        </p:spPr>
      </p:pic>
      <p:sp>
        <p:nvSpPr>
          <p:cNvPr id="156" name="Google Shape;156;p24"/>
          <p:cNvSpPr/>
          <p:nvPr/>
        </p:nvSpPr>
        <p:spPr>
          <a:xfrm>
            <a:off x="223863" y="1259000"/>
            <a:ext cx="8010600" cy="595500"/>
          </a:xfrm>
          <a:prstGeom prst="rect">
            <a:avLst/>
          </a:prstGeom>
          <a:noFill/>
          <a:ln>
            <a:noFill/>
          </a:ln>
          <a:effectLst>
            <a:outerShdw blurRad="42863" rotWithShape="0" algn="bl" dir="5400000" dist="14288">
              <a:srgbClr val="000000"/>
            </a:outerShdw>
          </a:effectLst>
        </p:spPr>
        <p:txBody>
          <a:bodyPr anchorCtr="0" anchor="t" bIns="0" lIns="0" spcFirstLastPara="1" rIns="0" wrap="square" tIns="0">
            <a:noAutofit/>
          </a:bodyPr>
          <a:lstStyle/>
          <a:p>
            <a:pPr indent="0" lvl="0" marL="0" marR="0" rtl="0" algn="l">
              <a:lnSpc>
                <a:spcPct val="124898"/>
              </a:lnSpc>
              <a:spcBef>
                <a:spcPts val="0"/>
              </a:spcBef>
              <a:spcAft>
                <a:spcPts val="0"/>
              </a:spcAft>
              <a:buClr>
                <a:srgbClr val="FFFF01"/>
              </a:buClr>
              <a:buSzPts val="3700"/>
              <a:buFont typeface="Asap"/>
              <a:buNone/>
            </a:pPr>
            <a:r>
              <a:rPr b="1" i="0" lang="en-GB" sz="2600" u="none" cap="none" strike="noStrike">
                <a:solidFill>
                  <a:srgbClr val="FFFF01"/>
                </a:solidFill>
                <a:latin typeface="Asap"/>
                <a:ea typeface="Asap"/>
                <a:cs typeface="Asap"/>
                <a:sym typeface="Asap"/>
              </a:rPr>
              <a:t>Calitatea Datelor</a:t>
            </a:r>
            <a:endParaRPr b="0" i="0" sz="2600" u="none" cap="none" strike="noStrike">
              <a:solidFill>
                <a:schemeClr val="dk1"/>
              </a:solidFill>
              <a:latin typeface="Calibri"/>
              <a:ea typeface="Calibri"/>
              <a:cs typeface="Calibri"/>
              <a:sym typeface="Calibri"/>
            </a:endParaRPr>
          </a:p>
        </p:txBody>
      </p:sp>
      <p:pic>
        <p:nvPicPr>
          <p:cNvPr id="157" name="Google Shape;157;p24"/>
          <p:cNvPicPr preferRelativeResize="0"/>
          <p:nvPr/>
        </p:nvPicPr>
        <p:blipFill>
          <a:blip r:embed="rId6">
            <a:alphaModFix/>
          </a:blip>
          <a:stretch>
            <a:fillRect/>
          </a:stretch>
        </p:blipFill>
        <p:spPr>
          <a:xfrm>
            <a:off x="1221575" y="2113738"/>
            <a:ext cx="6924675" cy="2314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descr="preencoded.png" id="163" name="Google Shape;163;p25"/>
          <p:cNvPicPr preferRelativeResize="0"/>
          <p:nvPr/>
        </p:nvPicPr>
        <p:blipFill rotWithShape="1">
          <a:blip r:embed="rId3">
            <a:alphaModFix/>
          </a:blip>
          <a:srcRect b="0" l="0" r="0" t="0"/>
          <a:stretch/>
        </p:blipFill>
        <p:spPr>
          <a:xfrm>
            <a:off x="4348165" y="0"/>
            <a:ext cx="4795832" cy="5143500"/>
          </a:xfrm>
          <a:prstGeom prst="rect">
            <a:avLst/>
          </a:prstGeom>
          <a:noFill/>
          <a:ln>
            <a:noFill/>
          </a:ln>
        </p:spPr>
      </p:pic>
      <p:pic>
        <p:nvPicPr>
          <p:cNvPr descr="preencoded.png" id="164" name="Google Shape;164;p25"/>
          <p:cNvPicPr preferRelativeResize="0"/>
          <p:nvPr/>
        </p:nvPicPr>
        <p:blipFill rotWithShape="1">
          <a:blip r:embed="rId4">
            <a:alphaModFix/>
          </a:blip>
          <a:srcRect b="0" l="0" r="0" t="0"/>
          <a:stretch/>
        </p:blipFill>
        <p:spPr>
          <a:xfrm>
            <a:off x="223838" y="1724025"/>
            <a:ext cx="8920163" cy="3419475"/>
          </a:xfrm>
          <a:prstGeom prst="rect">
            <a:avLst/>
          </a:prstGeom>
          <a:noFill/>
          <a:ln>
            <a:noFill/>
          </a:ln>
        </p:spPr>
      </p:pic>
      <p:pic>
        <p:nvPicPr>
          <p:cNvPr descr="preencoded.png" id="165" name="Google Shape;165;p25"/>
          <p:cNvPicPr preferRelativeResize="0"/>
          <p:nvPr/>
        </p:nvPicPr>
        <p:blipFill rotWithShape="1">
          <a:blip r:embed="rId5">
            <a:alphaModFix/>
          </a:blip>
          <a:srcRect b="0" l="0" r="0" t="0"/>
          <a:stretch/>
        </p:blipFill>
        <p:spPr>
          <a:xfrm>
            <a:off x="638175" y="322985"/>
            <a:ext cx="1066800" cy="516083"/>
          </a:xfrm>
          <a:prstGeom prst="rect">
            <a:avLst/>
          </a:prstGeom>
          <a:noFill/>
          <a:ln>
            <a:noFill/>
          </a:ln>
        </p:spPr>
      </p:pic>
      <p:sp>
        <p:nvSpPr>
          <p:cNvPr id="166" name="Google Shape;166;p25"/>
          <p:cNvSpPr/>
          <p:nvPr/>
        </p:nvSpPr>
        <p:spPr>
          <a:xfrm>
            <a:off x="223863" y="1259000"/>
            <a:ext cx="8010600" cy="595500"/>
          </a:xfrm>
          <a:prstGeom prst="rect">
            <a:avLst/>
          </a:prstGeom>
          <a:noFill/>
          <a:ln>
            <a:noFill/>
          </a:ln>
          <a:effectLst>
            <a:outerShdw blurRad="42863" rotWithShape="0" algn="bl" dir="5400000" dist="14288">
              <a:srgbClr val="000000"/>
            </a:outerShdw>
          </a:effectLst>
        </p:spPr>
        <p:txBody>
          <a:bodyPr anchorCtr="0" anchor="t" bIns="0" lIns="0" spcFirstLastPara="1" rIns="0" wrap="square" tIns="0">
            <a:noAutofit/>
          </a:bodyPr>
          <a:lstStyle/>
          <a:p>
            <a:pPr indent="0" lvl="0" marL="0" marR="0" rtl="0" algn="l">
              <a:lnSpc>
                <a:spcPct val="124898"/>
              </a:lnSpc>
              <a:spcBef>
                <a:spcPts val="0"/>
              </a:spcBef>
              <a:spcAft>
                <a:spcPts val="0"/>
              </a:spcAft>
              <a:buClr>
                <a:srgbClr val="FFFF01"/>
              </a:buClr>
              <a:buSzPts val="3700"/>
              <a:buFont typeface="Asap"/>
              <a:buNone/>
            </a:pPr>
            <a:r>
              <a:rPr b="1" i="0" lang="en-GB" sz="2600" u="none" cap="none" strike="noStrike">
                <a:solidFill>
                  <a:srgbClr val="FFFF01"/>
                </a:solidFill>
                <a:latin typeface="Asap"/>
                <a:ea typeface="Asap"/>
                <a:cs typeface="Asap"/>
                <a:sym typeface="Asap"/>
              </a:rPr>
              <a:t>Calitatea Datelor</a:t>
            </a:r>
            <a:endParaRPr b="0" i="0" sz="2600" u="none" cap="none" strike="noStrike">
              <a:solidFill>
                <a:schemeClr val="dk1"/>
              </a:solidFill>
              <a:latin typeface="Calibri"/>
              <a:ea typeface="Calibri"/>
              <a:cs typeface="Calibri"/>
              <a:sym typeface="Calibri"/>
            </a:endParaRPr>
          </a:p>
        </p:txBody>
      </p:sp>
      <p:sp>
        <p:nvSpPr>
          <p:cNvPr id="167" name="Google Shape;167;p25"/>
          <p:cNvSpPr/>
          <p:nvPr/>
        </p:nvSpPr>
        <p:spPr>
          <a:xfrm>
            <a:off x="273275" y="2188982"/>
            <a:ext cx="7595400" cy="26424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2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b="1" i="0" lang="en-GB" sz="1500" u="none" cap="none" strike="noStrike">
                <a:solidFill>
                  <a:schemeClr val="lt1"/>
                </a:solidFill>
                <a:latin typeface="Asap"/>
                <a:ea typeface="Asap"/>
                <a:cs typeface="Asap"/>
                <a:sym typeface="Asap"/>
              </a:rPr>
              <a:t>Timeliness (Actualitate)</a:t>
            </a:r>
            <a:endParaRPr b="1"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Datele sunt la zi?</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Vechimea datelor contează pentru relevanță</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Exemple: date financiare de acum 5 ani, irelevante azi</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În ML real-time: contează latența (secunde/minute, nu zile)</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1" i="0" sz="1100" u="none" cap="none" strike="noStrike">
              <a:solidFill>
                <a:schemeClr val="lt1"/>
              </a:solidFill>
              <a:latin typeface="Asap"/>
              <a:ea typeface="Asap"/>
              <a:cs typeface="Asap"/>
              <a:sym typeface="Asap"/>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descr="preencoded.png" id="173" name="Google Shape;173;p26"/>
          <p:cNvPicPr preferRelativeResize="0"/>
          <p:nvPr/>
        </p:nvPicPr>
        <p:blipFill rotWithShape="1">
          <a:blip r:embed="rId3">
            <a:alphaModFix/>
          </a:blip>
          <a:srcRect b="0" l="0" r="0" t="0"/>
          <a:stretch/>
        </p:blipFill>
        <p:spPr>
          <a:xfrm>
            <a:off x="4348165" y="0"/>
            <a:ext cx="4795832" cy="5143500"/>
          </a:xfrm>
          <a:prstGeom prst="rect">
            <a:avLst/>
          </a:prstGeom>
          <a:noFill/>
          <a:ln>
            <a:noFill/>
          </a:ln>
        </p:spPr>
      </p:pic>
      <p:pic>
        <p:nvPicPr>
          <p:cNvPr descr="preencoded.png" id="174" name="Google Shape;174;p26"/>
          <p:cNvPicPr preferRelativeResize="0"/>
          <p:nvPr/>
        </p:nvPicPr>
        <p:blipFill rotWithShape="1">
          <a:blip r:embed="rId4">
            <a:alphaModFix/>
          </a:blip>
          <a:srcRect b="0" l="0" r="0" t="0"/>
          <a:stretch/>
        </p:blipFill>
        <p:spPr>
          <a:xfrm>
            <a:off x="223854" y="1724025"/>
            <a:ext cx="7941652" cy="3419475"/>
          </a:xfrm>
          <a:prstGeom prst="rect">
            <a:avLst/>
          </a:prstGeom>
          <a:noFill/>
          <a:ln>
            <a:noFill/>
          </a:ln>
        </p:spPr>
      </p:pic>
      <p:pic>
        <p:nvPicPr>
          <p:cNvPr descr="preencoded.png" id="175" name="Google Shape;175;p26"/>
          <p:cNvPicPr preferRelativeResize="0"/>
          <p:nvPr/>
        </p:nvPicPr>
        <p:blipFill rotWithShape="1">
          <a:blip r:embed="rId5">
            <a:alphaModFix/>
          </a:blip>
          <a:srcRect b="0" l="0" r="0" t="0"/>
          <a:stretch/>
        </p:blipFill>
        <p:spPr>
          <a:xfrm>
            <a:off x="638175" y="322985"/>
            <a:ext cx="1066800" cy="516083"/>
          </a:xfrm>
          <a:prstGeom prst="rect">
            <a:avLst/>
          </a:prstGeom>
          <a:noFill/>
          <a:ln>
            <a:noFill/>
          </a:ln>
        </p:spPr>
      </p:pic>
      <p:sp>
        <p:nvSpPr>
          <p:cNvPr id="176" name="Google Shape;176;p26"/>
          <p:cNvSpPr/>
          <p:nvPr/>
        </p:nvSpPr>
        <p:spPr>
          <a:xfrm>
            <a:off x="223838" y="1101975"/>
            <a:ext cx="4092000" cy="516000"/>
          </a:xfrm>
          <a:prstGeom prst="rect">
            <a:avLst/>
          </a:prstGeom>
          <a:noFill/>
          <a:ln>
            <a:noFill/>
          </a:ln>
        </p:spPr>
        <p:txBody>
          <a:bodyPr anchorCtr="0" anchor="t" bIns="0" lIns="0" spcFirstLastPara="1" rIns="0" wrap="square" tIns="0">
            <a:noAutofit/>
          </a:bodyPr>
          <a:lstStyle/>
          <a:p>
            <a:pPr indent="0" lvl="0" marL="0" marR="0" rtl="0" algn="l">
              <a:lnSpc>
                <a:spcPct val="124898"/>
              </a:lnSpc>
              <a:spcBef>
                <a:spcPts val="0"/>
              </a:spcBef>
              <a:spcAft>
                <a:spcPts val="0"/>
              </a:spcAft>
              <a:buClr>
                <a:srgbClr val="FFFF01"/>
              </a:buClr>
              <a:buSzPts val="3700"/>
              <a:buFont typeface="Asap"/>
              <a:buNone/>
            </a:pPr>
            <a:r>
              <a:rPr b="1" i="0" lang="en-GB" sz="3700" u="none" cap="none" strike="noStrike">
                <a:solidFill>
                  <a:srgbClr val="FFFF01"/>
                </a:solidFill>
                <a:latin typeface="Asap"/>
                <a:ea typeface="Asap"/>
                <a:cs typeface="Asap"/>
                <a:sym typeface="Asap"/>
              </a:rPr>
              <a:t>Procesarea Datelor</a:t>
            </a:r>
            <a:endParaRPr b="0" i="0" sz="3700" u="none" cap="none" strike="noStrike">
              <a:solidFill>
                <a:schemeClr val="dk1"/>
              </a:solidFill>
              <a:latin typeface="Calibri"/>
              <a:ea typeface="Calibri"/>
              <a:cs typeface="Calibri"/>
              <a:sym typeface="Calibri"/>
            </a:endParaRPr>
          </a:p>
        </p:txBody>
      </p:sp>
      <p:sp>
        <p:nvSpPr>
          <p:cNvPr id="177" name="Google Shape;177;p26"/>
          <p:cNvSpPr/>
          <p:nvPr/>
        </p:nvSpPr>
        <p:spPr>
          <a:xfrm>
            <a:off x="821900" y="1906625"/>
            <a:ext cx="3375600" cy="4461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1500"/>
              <a:buFont typeface="Asap Medium"/>
              <a:buNone/>
            </a:pPr>
            <a:r>
              <a:t/>
            </a:r>
            <a:endParaRPr b="0" i="0" sz="1500" u="none" cap="none" strike="noStrike">
              <a:solidFill>
                <a:schemeClr val="dk1"/>
              </a:solidFill>
              <a:latin typeface="Calibri"/>
              <a:ea typeface="Calibri"/>
              <a:cs typeface="Calibri"/>
              <a:sym typeface="Calibri"/>
            </a:endParaRPr>
          </a:p>
        </p:txBody>
      </p:sp>
      <p:sp>
        <p:nvSpPr>
          <p:cNvPr id="178" name="Google Shape;178;p26"/>
          <p:cNvSpPr/>
          <p:nvPr/>
        </p:nvSpPr>
        <p:spPr>
          <a:xfrm>
            <a:off x="551525" y="1880875"/>
            <a:ext cx="6464400" cy="3177600"/>
          </a:xfrm>
          <a:prstGeom prst="rect">
            <a:avLst/>
          </a:prstGeom>
          <a:noFill/>
          <a:ln>
            <a:noFill/>
          </a:ln>
        </p:spPr>
        <p:txBody>
          <a:bodyPr anchorCtr="0" anchor="t" bIns="0" lIns="0" spcFirstLastPara="1" rIns="0" wrap="square" tIns="0">
            <a:noAutofit/>
          </a:bodyPr>
          <a:lstStyle/>
          <a:p>
            <a:pPr indent="0" lvl="1" marL="342900" marR="0" rtl="0" algn="l">
              <a:lnSpc>
                <a:spcPct val="150000"/>
              </a:lnSpc>
              <a:spcBef>
                <a:spcPts val="0"/>
              </a:spcBef>
              <a:spcAft>
                <a:spcPts val="0"/>
              </a:spcAft>
              <a:buClr>
                <a:schemeClr val="dk1"/>
              </a:buClr>
              <a:buSzPts val="1400"/>
              <a:buFont typeface="Arial"/>
              <a:buNone/>
            </a:pPr>
            <a:r>
              <a:t/>
            </a:r>
            <a:endParaRPr>
              <a:solidFill>
                <a:schemeClr val="lt1"/>
              </a:solidFill>
              <a:latin typeface="Asap Medium"/>
              <a:ea typeface="Asap Medium"/>
              <a:cs typeface="Asap Medium"/>
              <a:sym typeface="Asap Medium"/>
            </a:endParaRPr>
          </a:p>
          <a:p>
            <a:pPr indent="0" lvl="1" marL="342900" marR="0" rtl="0" algn="l">
              <a:lnSpc>
                <a:spcPct val="150000"/>
              </a:lnSpc>
              <a:spcBef>
                <a:spcPts val="0"/>
              </a:spcBef>
              <a:spcAft>
                <a:spcPts val="0"/>
              </a:spcAft>
              <a:buClr>
                <a:schemeClr val="dk1"/>
              </a:buClr>
              <a:buSzPts val="1400"/>
              <a:buFont typeface="Arial"/>
              <a:buNone/>
            </a:pPr>
            <a:r>
              <a:rPr b="1" i="0" lang="en-GB" sz="1400" u="none" cap="none" strike="noStrike">
                <a:solidFill>
                  <a:schemeClr val="lt1"/>
                </a:solidFill>
                <a:latin typeface="Asap"/>
                <a:ea typeface="Asap"/>
                <a:cs typeface="Asap"/>
                <a:sym typeface="Asap"/>
              </a:rPr>
              <a:t>🎲 MCAR (Missing Completely At Random) </a:t>
            </a:r>
            <a:endParaRPr b="1" i="0" sz="1400" u="none" cap="none" strike="noStrike">
              <a:solidFill>
                <a:schemeClr val="lt1"/>
              </a:solidFill>
              <a:latin typeface="Asap"/>
              <a:ea typeface="Asap"/>
              <a:cs typeface="Asap"/>
              <a:sym typeface="Asap"/>
            </a:endParaRPr>
          </a:p>
          <a:p>
            <a:pPr indent="0" lvl="1" marL="342900" marR="0" rtl="0" algn="l">
              <a:lnSpc>
                <a:spcPct val="150000"/>
              </a:lnSpc>
              <a:spcBef>
                <a:spcPts val="0"/>
              </a:spcBef>
              <a:spcAft>
                <a:spcPts val="0"/>
              </a:spcAft>
              <a:buClr>
                <a:schemeClr val="dk1"/>
              </a:buClr>
              <a:buSzPts val="1400"/>
              <a:buFont typeface="Arial"/>
              <a:buNone/>
            </a:pPr>
            <a:r>
              <a:rPr b="0" i="0" lang="en-GB" sz="1400" u="none" cap="none" strike="noStrike">
                <a:solidFill>
                  <a:schemeClr val="lt1"/>
                </a:solidFill>
                <a:latin typeface="Asap Medium"/>
                <a:ea typeface="Asap Medium"/>
                <a:cs typeface="Asap Medium"/>
                <a:sym typeface="Asap Medium"/>
              </a:rPr>
              <a:t>→ lipsesc aleator, fără legătură cu alte variabile.</a:t>
            </a:r>
            <a:endParaRPr b="0" i="0" sz="1400" u="none" cap="none" strike="noStrike">
              <a:solidFill>
                <a:schemeClr val="lt1"/>
              </a:solidFill>
              <a:latin typeface="Asap Medium"/>
              <a:ea typeface="Asap Medium"/>
              <a:cs typeface="Asap Medium"/>
              <a:sym typeface="Asap Medium"/>
            </a:endParaRPr>
          </a:p>
          <a:p>
            <a:pPr indent="0" lvl="1" marL="342900" marR="0" rtl="0" algn="l">
              <a:lnSpc>
                <a:spcPct val="150000"/>
              </a:lnSpc>
              <a:spcBef>
                <a:spcPts val="0"/>
              </a:spcBef>
              <a:spcAft>
                <a:spcPts val="0"/>
              </a:spcAft>
              <a:buClr>
                <a:schemeClr val="dk1"/>
              </a:buClr>
              <a:buSzPts val="1400"/>
              <a:buFont typeface="Arial"/>
              <a:buNone/>
            </a:pPr>
            <a:r>
              <a:t/>
            </a:r>
            <a:endParaRPr>
              <a:solidFill>
                <a:schemeClr val="lt1"/>
              </a:solidFill>
              <a:latin typeface="Asap Medium"/>
              <a:ea typeface="Asap Medium"/>
              <a:cs typeface="Asap Medium"/>
              <a:sym typeface="Asap Medium"/>
            </a:endParaRPr>
          </a:p>
          <a:p>
            <a:pPr indent="0" lvl="1" marL="342900" marR="0" rtl="0" algn="l">
              <a:lnSpc>
                <a:spcPct val="150000"/>
              </a:lnSpc>
              <a:spcBef>
                <a:spcPts val="0"/>
              </a:spcBef>
              <a:spcAft>
                <a:spcPts val="0"/>
              </a:spcAft>
              <a:buClr>
                <a:schemeClr val="dk1"/>
              </a:buClr>
              <a:buSzPts val="1400"/>
              <a:buFont typeface="Arial"/>
              <a:buNone/>
            </a:pPr>
            <a:r>
              <a:rPr b="1" i="0" lang="en-GB" sz="1400" u="none" cap="none" strike="noStrike">
                <a:solidFill>
                  <a:schemeClr val="lt1"/>
                </a:solidFill>
                <a:latin typeface="Asap"/>
                <a:ea typeface="Asap"/>
                <a:cs typeface="Asap"/>
                <a:sym typeface="Asap"/>
              </a:rPr>
              <a:t>🧩 MAR (Missing At Random) </a:t>
            </a:r>
            <a:endParaRPr b="1" i="0" sz="1400" u="none" cap="none" strike="noStrike">
              <a:solidFill>
                <a:schemeClr val="lt1"/>
              </a:solidFill>
              <a:latin typeface="Asap"/>
              <a:ea typeface="Asap"/>
              <a:cs typeface="Asap"/>
              <a:sym typeface="Asap"/>
            </a:endParaRPr>
          </a:p>
          <a:p>
            <a:pPr indent="0" lvl="1" marL="342900" marR="0" rtl="0" algn="l">
              <a:lnSpc>
                <a:spcPct val="150000"/>
              </a:lnSpc>
              <a:spcBef>
                <a:spcPts val="0"/>
              </a:spcBef>
              <a:spcAft>
                <a:spcPts val="0"/>
              </a:spcAft>
              <a:buClr>
                <a:schemeClr val="dk1"/>
              </a:buClr>
              <a:buSzPts val="1400"/>
              <a:buFont typeface="Arial"/>
              <a:buNone/>
            </a:pPr>
            <a:r>
              <a:rPr b="0" i="0" lang="en-GB" sz="1400" u="none" cap="none" strike="noStrike">
                <a:solidFill>
                  <a:schemeClr val="lt1"/>
                </a:solidFill>
                <a:latin typeface="Asap Medium"/>
                <a:ea typeface="Asap Medium"/>
                <a:cs typeface="Asap Medium"/>
                <a:sym typeface="Asap Medium"/>
              </a:rPr>
              <a:t>→ lipsesc, dar probabilitatea lipsei depinde de alte variabile observabile.</a:t>
            </a:r>
            <a:endParaRPr b="0" i="0" sz="1400" u="none" cap="none" strike="noStrike">
              <a:solidFill>
                <a:schemeClr val="lt1"/>
              </a:solidFill>
              <a:latin typeface="Asap Medium"/>
              <a:ea typeface="Asap Medium"/>
              <a:cs typeface="Asap Medium"/>
              <a:sym typeface="Asap Medium"/>
            </a:endParaRPr>
          </a:p>
          <a:p>
            <a:pPr indent="0" lvl="1" marL="342900" marR="0" rtl="0" algn="l">
              <a:lnSpc>
                <a:spcPct val="150000"/>
              </a:lnSpc>
              <a:spcBef>
                <a:spcPts val="0"/>
              </a:spcBef>
              <a:spcAft>
                <a:spcPts val="0"/>
              </a:spcAft>
              <a:buClr>
                <a:schemeClr val="dk1"/>
              </a:buClr>
              <a:buSzPts val="1400"/>
              <a:buFont typeface="Arial"/>
              <a:buNone/>
            </a:pPr>
            <a:r>
              <a:t/>
            </a:r>
            <a:endParaRPr>
              <a:solidFill>
                <a:schemeClr val="lt1"/>
              </a:solidFill>
              <a:latin typeface="Asap Medium"/>
              <a:ea typeface="Asap Medium"/>
              <a:cs typeface="Asap Medium"/>
              <a:sym typeface="Asap Medium"/>
            </a:endParaRPr>
          </a:p>
          <a:p>
            <a:pPr indent="0" lvl="1" marL="342900" marR="0" rtl="0" algn="l">
              <a:lnSpc>
                <a:spcPct val="150000"/>
              </a:lnSpc>
              <a:spcBef>
                <a:spcPts val="0"/>
              </a:spcBef>
              <a:spcAft>
                <a:spcPts val="0"/>
              </a:spcAft>
              <a:buClr>
                <a:schemeClr val="dk1"/>
              </a:buClr>
              <a:buSzPts val="1400"/>
              <a:buFont typeface="Arial"/>
              <a:buNone/>
            </a:pPr>
            <a:r>
              <a:rPr b="1" i="0" lang="en-GB" sz="1400" u="none" cap="none" strike="noStrike">
                <a:solidFill>
                  <a:schemeClr val="lt1"/>
                </a:solidFill>
                <a:latin typeface="Asap"/>
                <a:ea typeface="Asap"/>
                <a:cs typeface="Asap"/>
                <a:sym typeface="Asap"/>
              </a:rPr>
              <a:t>🚫 MNAR (Missing Not At Random) </a:t>
            </a:r>
            <a:endParaRPr b="1" i="0" sz="1400" u="none" cap="none" strike="noStrike">
              <a:solidFill>
                <a:schemeClr val="lt1"/>
              </a:solidFill>
              <a:latin typeface="Asap"/>
              <a:ea typeface="Asap"/>
              <a:cs typeface="Asap"/>
              <a:sym typeface="Asap"/>
            </a:endParaRPr>
          </a:p>
          <a:p>
            <a:pPr indent="0" lvl="1" marL="342900" marR="0" rtl="0" algn="l">
              <a:lnSpc>
                <a:spcPct val="150000"/>
              </a:lnSpc>
              <a:spcBef>
                <a:spcPts val="0"/>
              </a:spcBef>
              <a:spcAft>
                <a:spcPts val="0"/>
              </a:spcAft>
              <a:buClr>
                <a:schemeClr val="dk1"/>
              </a:buClr>
              <a:buSzPts val="1400"/>
              <a:buFont typeface="Arial"/>
              <a:buNone/>
            </a:pPr>
            <a:r>
              <a:rPr b="0" i="0" lang="en-GB" sz="1400" u="none" cap="none" strike="noStrike">
                <a:solidFill>
                  <a:schemeClr val="lt1"/>
                </a:solidFill>
                <a:latin typeface="Asap Medium"/>
                <a:ea typeface="Asap Medium"/>
                <a:cs typeface="Asap Medium"/>
                <a:sym typeface="Asap Medium"/>
              </a:rPr>
              <a:t>→ lipsesc dintr-un motiv intern, legat de valoarea în sine.</a:t>
            </a:r>
            <a:endParaRPr b="0" i="0" sz="1400" u="none" cap="none" strike="noStrike">
              <a:solidFill>
                <a:schemeClr val="lt1"/>
              </a:solidFill>
              <a:latin typeface="Asap Medium"/>
              <a:ea typeface="Asap Medium"/>
              <a:cs typeface="Asap Medium"/>
              <a:sym typeface="Asap Medium"/>
            </a:endParaRPr>
          </a:p>
          <a:p>
            <a:pPr indent="0" lvl="1" marL="342900" marR="0" rtl="0" algn="l">
              <a:lnSpc>
                <a:spcPct val="150000"/>
              </a:lnSpc>
              <a:spcBef>
                <a:spcPts val="0"/>
              </a:spcBef>
              <a:spcAft>
                <a:spcPts val="0"/>
              </a:spcAft>
              <a:buClr>
                <a:schemeClr val="dk1"/>
              </a:buClr>
              <a:buSzPts val="1400"/>
              <a:buFont typeface="Arial"/>
              <a:buNone/>
            </a:pPr>
            <a:r>
              <a:t/>
            </a:r>
            <a:endParaRPr b="0" i="0" sz="1400" u="none" cap="none" strike="noStrike">
              <a:solidFill>
                <a:schemeClr val="lt1"/>
              </a:solidFill>
              <a:latin typeface="Asap Medium"/>
              <a:ea typeface="Asap Medium"/>
              <a:cs typeface="Asap Medium"/>
              <a:sym typeface="Asap Medium"/>
            </a:endParaRPr>
          </a:p>
          <a:p>
            <a:pPr indent="0" lvl="0" marL="342900" marR="0" rtl="0" algn="l">
              <a:lnSpc>
                <a:spcPct val="150000"/>
              </a:lnSpc>
              <a:spcBef>
                <a:spcPts val="0"/>
              </a:spcBef>
              <a:spcAft>
                <a:spcPts val="0"/>
              </a:spcAft>
              <a:buClr>
                <a:srgbClr val="000000"/>
              </a:buClr>
              <a:buSzPts val="1200"/>
              <a:buFont typeface="Arial"/>
              <a:buNone/>
            </a:pPr>
            <a:r>
              <a:t/>
            </a:r>
            <a:endParaRPr b="0" i="0" sz="1200" u="none" cap="none" strike="noStrike">
              <a:solidFill>
                <a:schemeClr val="lt1"/>
              </a:solidFill>
              <a:latin typeface="Asap Medium"/>
              <a:ea typeface="Asap Medium"/>
              <a:cs typeface="Asap Medium"/>
              <a:sym typeface="Asap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descr="preencoded.png" id="184" name="Google Shape;184;p27"/>
          <p:cNvPicPr preferRelativeResize="0"/>
          <p:nvPr/>
        </p:nvPicPr>
        <p:blipFill rotWithShape="1">
          <a:blip r:embed="rId3">
            <a:alphaModFix/>
          </a:blip>
          <a:srcRect b="0" l="0" r="0" t="0"/>
          <a:stretch/>
        </p:blipFill>
        <p:spPr>
          <a:xfrm>
            <a:off x="346050" y="1918988"/>
            <a:ext cx="8798100" cy="3224400"/>
          </a:xfrm>
          <a:prstGeom prst="round2SameRect">
            <a:avLst>
              <a:gd fmla="val 16667" name="adj1"/>
              <a:gd fmla="val 0" name="adj2"/>
            </a:avLst>
          </a:prstGeom>
          <a:noFill/>
          <a:ln>
            <a:noFill/>
          </a:ln>
        </p:spPr>
      </p:pic>
      <p:sp>
        <p:nvSpPr>
          <p:cNvPr id="185" name="Google Shape;185;p27"/>
          <p:cNvSpPr txBox="1"/>
          <p:nvPr/>
        </p:nvSpPr>
        <p:spPr>
          <a:xfrm>
            <a:off x="346050" y="1519125"/>
            <a:ext cx="4786800" cy="408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chemeClr val="dk1"/>
              </a:buClr>
              <a:buSzPts val="1800"/>
              <a:buFont typeface="Arial"/>
              <a:buNone/>
            </a:pPr>
            <a:r>
              <a:rPr b="1" lang="en-GB" sz="2200">
                <a:solidFill>
                  <a:srgbClr val="FFFF01"/>
                </a:solidFill>
              </a:rPr>
              <a:t>QUIZ</a:t>
            </a:r>
            <a:endParaRPr b="1" i="0" sz="1700" u="none" cap="none" strike="noStrike">
              <a:solidFill>
                <a:srgbClr val="FFFF01"/>
              </a:solidFill>
              <a:latin typeface="Asap"/>
              <a:ea typeface="Asap"/>
              <a:cs typeface="Asap"/>
              <a:sym typeface="Asap"/>
            </a:endParaRPr>
          </a:p>
        </p:txBody>
      </p:sp>
      <p:sp>
        <p:nvSpPr>
          <p:cNvPr id="186" name="Google Shape;186;p27"/>
          <p:cNvSpPr txBox="1"/>
          <p:nvPr/>
        </p:nvSpPr>
        <p:spPr>
          <a:xfrm>
            <a:off x="1034116" y="2237700"/>
            <a:ext cx="7409700" cy="23397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b="1" lang="en-GB" sz="1500">
                <a:solidFill>
                  <a:schemeClr val="lt1"/>
                </a:solidFill>
                <a:latin typeface="Asap"/>
                <a:ea typeface="Asap"/>
                <a:cs typeface="Asap"/>
                <a:sym typeface="Asap"/>
              </a:rPr>
              <a:t>Într-un chestionar despre venituri, câțiva respondenți au sărit întâmplător peste întrebarea despre salariu, doar pentru că s-au grăbit.</a:t>
            </a:r>
            <a:endParaRPr b="1" sz="1500">
              <a:solidFill>
                <a:schemeClr val="lt1"/>
              </a:solidFill>
              <a:latin typeface="Asap"/>
              <a:ea typeface="Asap"/>
              <a:cs typeface="Asap"/>
              <a:sym typeface="Asap"/>
            </a:endParaRPr>
          </a:p>
          <a:p>
            <a:pPr indent="0" lvl="0" marL="0" marR="0" rtl="0" algn="l">
              <a:lnSpc>
                <a:spcPct val="150000"/>
              </a:lnSpc>
              <a:spcBef>
                <a:spcPts val="0"/>
              </a:spcBef>
              <a:spcAft>
                <a:spcPts val="0"/>
              </a:spcAft>
              <a:buNone/>
            </a:pPr>
            <a:r>
              <a:t/>
            </a:r>
            <a:endParaRPr sz="1400">
              <a:solidFill>
                <a:schemeClr val="lt1"/>
              </a:solidFill>
              <a:latin typeface="Asap"/>
              <a:ea typeface="Asap"/>
              <a:cs typeface="Asap"/>
              <a:sym typeface="Asap"/>
            </a:endParaRPr>
          </a:p>
          <a:p>
            <a:pPr indent="-222250" lvl="0" marL="215900" marR="0" rtl="0" algn="l">
              <a:lnSpc>
                <a:spcPct val="150000"/>
              </a:lnSpc>
              <a:spcBef>
                <a:spcPts val="0"/>
              </a:spcBef>
              <a:spcAft>
                <a:spcPts val="0"/>
              </a:spcAft>
              <a:buClr>
                <a:srgbClr val="FFFF01"/>
              </a:buClr>
              <a:buSzPts val="1500"/>
              <a:buFont typeface="Asap"/>
              <a:buChar char="●"/>
            </a:pPr>
            <a:r>
              <a:rPr lang="en-GB" sz="1500">
                <a:solidFill>
                  <a:schemeClr val="lt1"/>
                </a:solidFill>
                <a:latin typeface="Asap"/>
                <a:ea typeface="Asap"/>
                <a:cs typeface="Asap"/>
                <a:sym typeface="Asap"/>
              </a:rPr>
              <a:t>MCAR (Missing Completely at Random)</a:t>
            </a:r>
            <a:endParaRPr sz="1500">
              <a:solidFill>
                <a:schemeClr val="lt1"/>
              </a:solidFill>
              <a:latin typeface="Asap"/>
              <a:ea typeface="Asap"/>
              <a:cs typeface="Asap"/>
              <a:sym typeface="Asap"/>
            </a:endParaRPr>
          </a:p>
          <a:p>
            <a:pPr indent="-222250" lvl="0" marL="215900" marR="0" rtl="0" algn="l">
              <a:lnSpc>
                <a:spcPct val="150000"/>
              </a:lnSpc>
              <a:spcBef>
                <a:spcPts val="0"/>
              </a:spcBef>
              <a:spcAft>
                <a:spcPts val="0"/>
              </a:spcAft>
              <a:buClr>
                <a:srgbClr val="FFFF01"/>
              </a:buClr>
              <a:buSzPts val="1500"/>
              <a:buFont typeface="Asap"/>
              <a:buChar char="●"/>
            </a:pPr>
            <a:r>
              <a:rPr lang="en-GB" sz="1500">
                <a:solidFill>
                  <a:schemeClr val="lt1"/>
                </a:solidFill>
                <a:latin typeface="Asap"/>
                <a:ea typeface="Asap"/>
                <a:cs typeface="Asap"/>
                <a:sym typeface="Asap"/>
              </a:rPr>
              <a:t>MAR (Missing at Random)</a:t>
            </a:r>
            <a:endParaRPr sz="1500">
              <a:solidFill>
                <a:schemeClr val="lt1"/>
              </a:solidFill>
              <a:latin typeface="Asap"/>
              <a:ea typeface="Asap"/>
              <a:cs typeface="Asap"/>
              <a:sym typeface="Asap"/>
            </a:endParaRPr>
          </a:p>
          <a:p>
            <a:pPr indent="-222250" lvl="0" marL="215900" marR="0" rtl="0" algn="l">
              <a:lnSpc>
                <a:spcPct val="150000"/>
              </a:lnSpc>
              <a:spcBef>
                <a:spcPts val="0"/>
              </a:spcBef>
              <a:spcAft>
                <a:spcPts val="0"/>
              </a:spcAft>
              <a:buClr>
                <a:srgbClr val="FFFF01"/>
              </a:buClr>
              <a:buSzPts val="1500"/>
              <a:buFont typeface="Asap"/>
              <a:buChar char="●"/>
            </a:pPr>
            <a:r>
              <a:rPr lang="en-GB" sz="1500">
                <a:solidFill>
                  <a:schemeClr val="lt1"/>
                </a:solidFill>
                <a:latin typeface="Asap"/>
                <a:ea typeface="Asap"/>
                <a:cs typeface="Asap"/>
                <a:sym typeface="Asap"/>
              </a:rPr>
              <a:t>MNAR (Missing Not at Random)</a:t>
            </a:r>
            <a:endParaRPr sz="1500">
              <a:solidFill>
                <a:schemeClr val="lt1"/>
              </a:solidFill>
              <a:latin typeface="Asap"/>
              <a:ea typeface="Asap"/>
              <a:cs typeface="Asap"/>
              <a:sym typeface="Asap"/>
            </a:endParaRPr>
          </a:p>
          <a:p>
            <a:pPr indent="-127000" lvl="1" marL="558800" marR="0" rtl="0" algn="l">
              <a:lnSpc>
                <a:spcPct val="150000"/>
              </a:lnSpc>
              <a:spcBef>
                <a:spcPts val="0"/>
              </a:spcBef>
              <a:spcAft>
                <a:spcPts val="0"/>
              </a:spcAft>
              <a:buClr>
                <a:schemeClr val="dk1"/>
              </a:buClr>
              <a:buSzPts val="1400"/>
              <a:buFont typeface="Noto Sans Symbols"/>
              <a:buNone/>
            </a:pPr>
            <a:r>
              <a:t/>
            </a:r>
            <a:endParaRPr b="0" i="0" sz="1400" u="none" cap="none" strike="noStrike">
              <a:solidFill>
                <a:schemeClr val="lt1"/>
              </a:solidFill>
              <a:latin typeface="Asap"/>
              <a:ea typeface="Asap"/>
              <a:cs typeface="Asap"/>
              <a:sym typeface="Asap"/>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descr="preencoded.png" id="192" name="Google Shape;192;p28"/>
          <p:cNvPicPr preferRelativeResize="0"/>
          <p:nvPr/>
        </p:nvPicPr>
        <p:blipFill rotWithShape="1">
          <a:blip r:embed="rId3">
            <a:alphaModFix/>
          </a:blip>
          <a:srcRect b="0" l="0" r="0" t="0"/>
          <a:stretch/>
        </p:blipFill>
        <p:spPr>
          <a:xfrm>
            <a:off x="346050" y="1918988"/>
            <a:ext cx="8798100" cy="3224400"/>
          </a:xfrm>
          <a:prstGeom prst="round2SameRect">
            <a:avLst>
              <a:gd fmla="val 16667" name="adj1"/>
              <a:gd fmla="val 0" name="adj2"/>
            </a:avLst>
          </a:prstGeom>
          <a:noFill/>
          <a:ln>
            <a:noFill/>
          </a:ln>
        </p:spPr>
      </p:pic>
      <p:sp>
        <p:nvSpPr>
          <p:cNvPr id="193" name="Google Shape;193;p28"/>
          <p:cNvSpPr txBox="1"/>
          <p:nvPr/>
        </p:nvSpPr>
        <p:spPr>
          <a:xfrm>
            <a:off x="346050" y="1519125"/>
            <a:ext cx="4786800" cy="408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chemeClr val="dk1"/>
              </a:buClr>
              <a:buSzPts val="1800"/>
              <a:buFont typeface="Arial"/>
              <a:buNone/>
            </a:pPr>
            <a:r>
              <a:rPr b="1" lang="en-GB" sz="2200">
                <a:solidFill>
                  <a:srgbClr val="FFFF01"/>
                </a:solidFill>
              </a:rPr>
              <a:t>QUIZ</a:t>
            </a:r>
            <a:endParaRPr b="1" i="0" sz="1700" u="none" cap="none" strike="noStrike">
              <a:solidFill>
                <a:srgbClr val="FFFF01"/>
              </a:solidFill>
              <a:latin typeface="Asap"/>
              <a:ea typeface="Asap"/>
              <a:cs typeface="Asap"/>
              <a:sym typeface="Asap"/>
            </a:endParaRPr>
          </a:p>
        </p:txBody>
      </p:sp>
      <p:sp>
        <p:nvSpPr>
          <p:cNvPr id="194" name="Google Shape;194;p28"/>
          <p:cNvSpPr txBox="1"/>
          <p:nvPr/>
        </p:nvSpPr>
        <p:spPr>
          <a:xfrm>
            <a:off x="1034116" y="2237700"/>
            <a:ext cx="7409700" cy="23397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b="1" lang="en-GB" sz="1500">
                <a:solidFill>
                  <a:schemeClr val="lt1"/>
                </a:solidFill>
                <a:latin typeface="Asap"/>
                <a:ea typeface="Asap"/>
                <a:cs typeface="Asap"/>
                <a:sym typeface="Asap"/>
              </a:rPr>
              <a:t>Într-un studiu medical, datele despre tensiunea arterială lipsesc mai des la pacienții vârstnici, pentru că aceștia obosesc mai repede și nu termină toate măsurătorile.</a:t>
            </a:r>
            <a:endParaRPr b="1" sz="1900">
              <a:solidFill>
                <a:schemeClr val="lt1"/>
              </a:solidFill>
              <a:latin typeface="Asap"/>
              <a:ea typeface="Asap"/>
              <a:cs typeface="Asap"/>
              <a:sym typeface="Asap"/>
            </a:endParaRPr>
          </a:p>
          <a:p>
            <a:pPr indent="0" lvl="0" marL="0" marR="0" rtl="0" algn="l">
              <a:lnSpc>
                <a:spcPct val="150000"/>
              </a:lnSpc>
              <a:spcBef>
                <a:spcPts val="0"/>
              </a:spcBef>
              <a:spcAft>
                <a:spcPts val="0"/>
              </a:spcAft>
              <a:buNone/>
            </a:pPr>
            <a:r>
              <a:t/>
            </a:r>
            <a:endParaRPr sz="1400">
              <a:solidFill>
                <a:schemeClr val="lt1"/>
              </a:solidFill>
              <a:latin typeface="Asap"/>
              <a:ea typeface="Asap"/>
              <a:cs typeface="Asap"/>
              <a:sym typeface="Asap"/>
            </a:endParaRPr>
          </a:p>
          <a:p>
            <a:pPr indent="-222250" lvl="0" marL="215900" marR="0" rtl="0" algn="l">
              <a:lnSpc>
                <a:spcPct val="150000"/>
              </a:lnSpc>
              <a:spcBef>
                <a:spcPts val="0"/>
              </a:spcBef>
              <a:spcAft>
                <a:spcPts val="0"/>
              </a:spcAft>
              <a:buClr>
                <a:srgbClr val="FFFF01"/>
              </a:buClr>
              <a:buSzPts val="1500"/>
              <a:buFont typeface="Asap"/>
              <a:buChar char="●"/>
            </a:pPr>
            <a:r>
              <a:rPr lang="en-GB" sz="1500">
                <a:solidFill>
                  <a:schemeClr val="lt1"/>
                </a:solidFill>
                <a:latin typeface="Asap"/>
                <a:ea typeface="Asap"/>
                <a:cs typeface="Asap"/>
                <a:sym typeface="Asap"/>
              </a:rPr>
              <a:t>MCAR (Missing Completely at Random)</a:t>
            </a:r>
            <a:endParaRPr sz="1500">
              <a:solidFill>
                <a:schemeClr val="lt1"/>
              </a:solidFill>
              <a:latin typeface="Asap"/>
              <a:ea typeface="Asap"/>
              <a:cs typeface="Asap"/>
              <a:sym typeface="Asap"/>
            </a:endParaRPr>
          </a:p>
          <a:p>
            <a:pPr indent="-222250" lvl="0" marL="215900" marR="0" rtl="0" algn="l">
              <a:lnSpc>
                <a:spcPct val="150000"/>
              </a:lnSpc>
              <a:spcBef>
                <a:spcPts val="0"/>
              </a:spcBef>
              <a:spcAft>
                <a:spcPts val="0"/>
              </a:spcAft>
              <a:buClr>
                <a:srgbClr val="FFFF01"/>
              </a:buClr>
              <a:buSzPts val="1500"/>
              <a:buFont typeface="Asap"/>
              <a:buChar char="●"/>
            </a:pPr>
            <a:r>
              <a:rPr lang="en-GB" sz="1500">
                <a:solidFill>
                  <a:schemeClr val="lt1"/>
                </a:solidFill>
                <a:latin typeface="Asap"/>
                <a:ea typeface="Asap"/>
                <a:cs typeface="Asap"/>
                <a:sym typeface="Asap"/>
              </a:rPr>
              <a:t>MAR (Missing at Random)</a:t>
            </a:r>
            <a:endParaRPr sz="1500">
              <a:solidFill>
                <a:schemeClr val="lt1"/>
              </a:solidFill>
              <a:latin typeface="Asap"/>
              <a:ea typeface="Asap"/>
              <a:cs typeface="Asap"/>
              <a:sym typeface="Asap"/>
            </a:endParaRPr>
          </a:p>
          <a:p>
            <a:pPr indent="-222250" lvl="0" marL="215900" marR="0" rtl="0" algn="l">
              <a:lnSpc>
                <a:spcPct val="150000"/>
              </a:lnSpc>
              <a:spcBef>
                <a:spcPts val="0"/>
              </a:spcBef>
              <a:spcAft>
                <a:spcPts val="0"/>
              </a:spcAft>
              <a:buClr>
                <a:srgbClr val="FFFF01"/>
              </a:buClr>
              <a:buSzPts val="1500"/>
              <a:buFont typeface="Asap"/>
              <a:buChar char="●"/>
            </a:pPr>
            <a:r>
              <a:rPr lang="en-GB" sz="1500">
                <a:solidFill>
                  <a:schemeClr val="lt1"/>
                </a:solidFill>
                <a:latin typeface="Asap"/>
                <a:ea typeface="Asap"/>
                <a:cs typeface="Asap"/>
                <a:sym typeface="Asap"/>
              </a:rPr>
              <a:t>MNAR (Missing Not at Random)</a:t>
            </a:r>
            <a:endParaRPr sz="1500">
              <a:solidFill>
                <a:schemeClr val="lt1"/>
              </a:solidFill>
              <a:latin typeface="Asap"/>
              <a:ea typeface="Asap"/>
              <a:cs typeface="Asap"/>
              <a:sym typeface="Asap"/>
            </a:endParaRPr>
          </a:p>
          <a:p>
            <a:pPr indent="-127000" lvl="1" marL="558800" marR="0" rtl="0" algn="l">
              <a:lnSpc>
                <a:spcPct val="150000"/>
              </a:lnSpc>
              <a:spcBef>
                <a:spcPts val="0"/>
              </a:spcBef>
              <a:spcAft>
                <a:spcPts val="0"/>
              </a:spcAft>
              <a:buClr>
                <a:schemeClr val="dk1"/>
              </a:buClr>
              <a:buSzPts val="1400"/>
              <a:buFont typeface="Noto Sans Symbols"/>
              <a:buNone/>
            </a:pPr>
            <a:r>
              <a:t/>
            </a:r>
            <a:endParaRPr b="0" i="0" sz="1400" u="none" cap="none" strike="noStrike">
              <a:solidFill>
                <a:schemeClr val="lt1"/>
              </a:solidFill>
              <a:latin typeface="Asap"/>
              <a:ea typeface="Asap"/>
              <a:cs typeface="Asap"/>
              <a:sym typeface="Asap"/>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descr="preencoded.png" id="200" name="Google Shape;200;p29"/>
          <p:cNvPicPr preferRelativeResize="0"/>
          <p:nvPr/>
        </p:nvPicPr>
        <p:blipFill rotWithShape="1">
          <a:blip r:embed="rId3">
            <a:alphaModFix/>
          </a:blip>
          <a:srcRect b="0" l="0" r="0" t="0"/>
          <a:stretch/>
        </p:blipFill>
        <p:spPr>
          <a:xfrm>
            <a:off x="346050" y="1918988"/>
            <a:ext cx="8798100" cy="3224400"/>
          </a:xfrm>
          <a:prstGeom prst="round2SameRect">
            <a:avLst>
              <a:gd fmla="val 16667" name="adj1"/>
              <a:gd fmla="val 0" name="adj2"/>
            </a:avLst>
          </a:prstGeom>
          <a:noFill/>
          <a:ln>
            <a:noFill/>
          </a:ln>
        </p:spPr>
      </p:pic>
      <p:sp>
        <p:nvSpPr>
          <p:cNvPr id="201" name="Google Shape;201;p29"/>
          <p:cNvSpPr txBox="1"/>
          <p:nvPr/>
        </p:nvSpPr>
        <p:spPr>
          <a:xfrm>
            <a:off x="346050" y="1519125"/>
            <a:ext cx="4786800" cy="408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chemeClr val="dk1"/>
              </a:buClr>
              <a:buSzPts val="1800"/>
              <a:buFont typeface="Arial"/>
              <a:buNone/>
            </a:pPr>
            <a:r>
              <a:rPr b="1" lang="en-GB" sz="2200">
                <a:solidFill>
                  <a:srgbClr val="FFFF01"/>
                </a:solidFill>
              </a:rPr>
              <a:t>QUIZ</a:t>
            </a:r>
            <a:endParaRPr b="1" i="0" sz="1700" u="none" cap="none" strike="noStrike">
              <a:solidFill>
                <a:srgbClr val="FFFF01"/>
              </a:solidFill>
              <a:latin typeface="Asap"/>
              <a:ea typeface="Asap"/>
              <a:cs typeface="Asap"/>
              <a:sym typeface="Asap"/>
            </a:endParaRPr>
          </a:p>
        </p:txBody>
      </p:sp>
      <p:sp>
        <p:nvSpPr>
          <p:cNvPr id="202" name="Google Shape;202;p29"/>
          <p:cNvSpPr txBox="1"/>
          <p:nvPr/>
        </p:nvSpPr>
        <p:spPr>
          <a:xfrm>
            <a:off x="1034116" y="2237700"/>
            <a:ext cx="7409700" cy="23397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b="1" lang="en-GB" sz="1500">
                <a:solidFill>
                  <a:schemeClr val="lt1"/>
                </a:solidFill>
                <a:latin typeface="Asap"/>
                <a:ea typeface="Asap"/>
                <a:cs typeface="Asap"/>
                <a:sym typeface="Asap"/>
              </a:rPr>
              <a:t>Într-un sondaj despre venituri, persoanele cu salarii foarte mari aleg să nu răspundă la întrebarea despre câștiguri.</a:t>
            </a:r>
            <a:endParaRPr b="1" sz="1500">
              <a:solidFill>
                <a:schemeClr val="lt1"/>
              </a:solidFill>
              <a:latin typeface="Asap"/>
              <a:ea typeface="Asap"/>
              <a:cs typeface="Asap"/>
              <a:sym typeface="Asap"/>
            </a:endParaRPr>
          </a:p>
          <a:p>
            <a:pPr indent="0" lvl="0" marL="0" marR="0" rtl="0" algn="l">
              <a:lnSpc>
                <a:spcPct val="150000"/>
              </a:lnSpc>
              <a:spcBef>
                <a:spcPts val="0"/>
              </a:spcBef>
              <a:spcAft>
                <a:spcPts val="0"/>
              </a:spcAft>
              <a:buNone/>
            </a:pPr>
            <a:r>
              <a:t/>
            </a:r>
            <a:endParaRPr sz="1400">
              <a:solidFill>
                <a:schemeClr val="lt1"/>
              </a:solidFill>
              <a:latin typeface="Asap"/>
              <a:ea typeface="Asap"/>
              <a:cs typeface="Asap"/>
              <a:sym typeface="Asap"/>
            </a:endParaRPr>
          </a:p>
          <a:p>
            <a:pPr indent="-222250" lvl="0" marL="215900" marR="0" rtl="0" algn="l">
              <a:lnSpc>
                <a:spcPct val="150000"/>
              </a:lnSpc>
              <a:spcBef>
                <a:spcPts val="0"/>
              </a:spcBef>
              <a:spcAft>
                <a:spcPts val="0"/>
              </a:spcAft>
              <a:buClr>
                <a:srgbClr val="FFFF01"/>
              </a:buClr>
              <a:buSzPts val="1500"/>
              <a:buFont typeface="Asap"/>
              <a:buChar char="●"/>
            </a:pPr>
            <a:r>
              <a:rPr lang="en-GB" sz="1500">
                <a:solidFill>
                  <a:schemeClr val="lt1"/>
                </a:solidFill>
                <a:latin typeface="Asap"/>
                <a:ea typeface="Asap"/>
                <a:cs typeface="Asap"/>
                <a:sym typeface="Asap"/>
              </a:rPr>
              <a:t>MCAR (Missing Completely at Random)</a:t>
            </a:r>
            <a:endParaRPr sz="1500">
              <a:solidFill>
                <a:schemeClr val="lt1"/>
              </a:solidFill>
              <a:latin typeface="Asap"/>
              <a:ea typeface="Asap"/>
              <a:cs typeface="Asap"/>
              <a:sym typeface="Asap"/>
            </a:endParaRPr>
          </a:p>
          <a:p>
            <a:pPr indent="-222250" lvl="0" marL="215900" marR="0" rtl="0" algn="l">
              <a:lnSpc>
                <a:spcPct val="150000"/>
              </a:lnSpc>
              <a:spcBef>
                <a:spcPts val="0"/>
              </a:spcBef>
              <a:spcAft>
                <a:spcPts val="0"/>
              </a:spcAft>
              <a:buClr>
                <a:srgbClr val="FFFF01"/>
              </a:buClr>
              <a:buSzPts val="1500"/>
              <a:buFont typeface="Asap"/>
              <a:buChar char="●"/>
            </a:pPr>
            <a:r>
              <a:rPr lang="en-GB" sz="1500">
                <a:solidFill>
                  <a:schemeClr val="lt1"/>
                </a:solidFill>
                <a:latin typeface="Asap"/>
                <a:ea typeface="Asap"/>
                <a:cs typeface="Asap"/>
                <a:sym typeface="Asap"/>
              </a:rPr>
              <a:t>MAR (Missing at Random)</a:t>
            </a:r>
            <a:endParaRPr sz="1500">
              <a:solidFill>
                <a:schemeClr val="lt1"/>
              </a:solidFill>
              <a:latin typeface="Asap"/>
              <a:ea typeface="Asap"/>
              <a:cs typeface="Asap"/>
              <a:sym typeface="Asap"/>
            </a:endParaRPr>
          </a:p>
          <a:p>
            <a:pPr indent="-222250" lvl="0" marL="215900" marR="0" rtl="0" algn="l">
              <a:lnSpc>
                <a:spcPct val="150000"/>
              </a:lnSpc>
              <a:spcBef>
                <a:spcPts val="0"/>
              </a:spcBef>
              <a:spcAft>
                <a:spcPts val="0"/>
              </a:spcAft>
              <a:buClr>
                <a:srgbClr val="FFFF01"/>
              </a:buClr>
              <a:buSzPts val="1500"/>
              <a:buFont typeface="Asap"/>
              <a:buChar char="●"/>
            </a:pPr>
            <a:r>
              <a:rPr lang="en-GB" sz="1500">
                <a:solidFill>
                  <a:schemeClr val="lt1"/>
                </a:solidFill>
                <a:latin typeface="Asap"/>
                <a:ea typeface="Asap"/>
                <a:cs typeface="Asap"/>
                <a:sym typeface="Asap"/>
              </a:rPr>
              <a:t>MNAR (Missing Not at Random)</a:t>
            </a:r>
            <a:endParaRPr sz="1500">
              <a:solidFill>
                <a:schemeClr val="lt1"/>
              </a:solidFill>
              <a:latin typeface="Asap"/>
              <a:ea typeface="Asap"/>
              <a:cs typeface="Asap"/>
              <a:sym typeface="Asap"/>
            </a:endParaRPr>
          </a:p>
          <a:p>
            <a:pPr indent="-127000" lvl="1" marL="558800" marR="0" rtl="0" algn="l">
              <a:lnSpc>
                <a:spcPct val="150000"/>
              </a:lnSpc>
              <a:spcBef>
                <a:spcPts val="0"/>
              </a:spcBef>
              <a:spcAft>
                <a:spcPts val="0"/>
              </a:spcAft>
              <a:buClr>
                <a:schemeClr val="dk1"/>
              </a:buClr>
              <a:buSzPts val="1400"/>
              <a:buFont typeface="Noto Sans Symbols"/>
              <a:buNone/>
            </a:pPr>
            <a:r>
              <a:t/>
            </a:r>
            <a:endParaRPr b="0" i="0" sz="1400" u="none" cap="none" strike="noStrike">
              <a:solidFill>
                <a:schemeClr val="lt1"/>
              </a:solidFill>
              <a:latin typeface="Asap"/>
              <a:ea typeface="Asap"/>
              <a:cs typeface="Asap"/>
              <a:sym typeface="Asap"/>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descr="preencoded.png" id="208" name="Google Shape;208;p30"/>
          <p:cNvPicPr preferRelativeResize="0"/>
          <p:nvPr/>
        </p:nvPicPr>
        <p:blipFill rotWithShape="1">
          <a:blip r:embed="rId3">
            <a:alphaModFix/>
          </a:blip>
          <a:srcRect b="0" l="0" r="0" t="0"/>
          <a:stretch/>
        </p:blipFill>
        <p:spPr>
          <a:xfrm>
            <a:off x="346050" y="1918988"/>
            <a:ext cx="8798100" cy="3224400"/>
          </a:xfrm>
          <a:prstGeom prst="round2SameRect">
            <a:avLst>
              <a:gd fmla="val 16667" name="adj1"/>
              <a:gd fmla="val 0" name="adj2"/>
            </a:avLst>
          </a:prstGeom>
          <a:noFill/>
          <a:ln>
            <a:noFill/>
          </a:ln>
        </p:spPr>
      </p:pic>
      <p:sp>
        <p:nvSpPr>
          <p:cNvPr id="209" name="Google Shape;209;p30"/>
          <p:cNvSpPr txBox="1"/>
          <p:nvPr/>
        </p:nvSpPr>
        <p:spPr>
          <a:xfrm>
            <a:off x="346050" y="1519125"/>
            <a:ext cx="4786800" cy="408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chemeClr val="dk1"/>
              </a:buClr>
              <a:buSzPts val="1800"/>
              <a:buFont typeface="Arial"/>
              <a:buNone/>
            </a:pPr>
            <a:r>
              <a:rPr b="1" lang="en-GB" sz="2200">
                <a:solidFill>
                  <a:srgbClr val="FFFF01"/>
                </a:solidFill>
              </a:rPr>
              <a:t>QUIZ</a:t>
            </a:r>
            <a:endParaRPr b="1" i="0" sz="1700" u="none" cap="none" strike="noStrike">
              <a:solidFill>
                <a:srgbClr val="FFFF01"/>
              </a:solidFill>
              <a:latin typeface="Asap"/>
              <a:ea typeface="Asap"/>
              <a:cs typeface="Asap"/>
              <a:sym typeface="Asap"/>
            </a:endParaRPr>
          </a:p>
        </p:txBody>
      </p:sp>
      <p:sp>
        <p:nvSpPr>
          <p:cNvPr id="210" name="Google Shape;210;p30"/>
          <p:cNvSpPr txBox="1"/>
          <p:nvPr/>
        </p:nvSpPr>
        <p:spPr>
          <a:xfrm>
            <a:off x="1034116" y="2237700"/>
            <a:ext cx="7409700" cy="23397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b="1" lang="en-GB" sz="1500">
                <a:solidFill>
                  <a:schemeClr val="lt1"/>
                </a:solidFill>
                <a:latin typeface="Asap"/>
                <a:ea typeface="Asap"/>
                <a:cs typeface="Asap"/>
                <a:sym typeface="Asap"/>
              </a:rPr>
              <a:t>Într-un dataset despre transport, 10% dintre înregistrările cu timpul de sosire al autobuzului lipsesc din cauza unei erori de înregistrare aleatorii în sistemul GPS.</a:t>
            </a:r>
            <a:endParaRPr b="1" sz="1900">
              <a:solidFill>
                <a:schemeClr val="lt1"/>
              </a:solidFill>
              <a:latin typeface="Asap"/>
              <a:ea typeface="Asap"/>
              <a:cs typeface="Asap"/>
              <a:sym typeface="Asap"/>
            </a:endParaRPr>
          </a:p>
          <a:p>
            <a:pPr indent="0" lvl="0" marL="0" marR="0" rtl="0" algn="l">
              <a:lnSpc>
                <a:spcPct val="150000"/>
              </a:lnSpc>
              <a:spcBef>
                <a:spcPts val="0"/>
              </a:spcBef>
              <a:spcAft>
                <a:spcPts val="0"/>
              </a:spcAft>
              <a:buNone/>
            </a:pPr>
            <a:r>
              <a:t/>
            </a:r>
            <a:endParaRPr sz="1400">
              <a:solidFill>
                <a:schemeClr val="lt1"/>
              </a:solidFill>
              <a:latin typeface="Asap"/>
              <a:ea typeface="Asap"/>
              <a:cs typeface="Asap"/>
              <a:sym typeface="Asap"/>
            </a:endParaRPr>
          </a:p>
          <a:p>
            <a:pPr indent="-222250" lvl="0" marL="215900" marR="0" rtl="0" algn="l">
              <a:lnSpc>
                <a:spcPct val="150000"/>
              </a:lnSpc>
              <a:spcBef>
                <a:spcPts val="0"/>
              </a:spcBef>
              <a:spcAft>
                <a:spcPts val="0"/>
              </a:spcAft>
              <a:buClr>
                <a:srgbClr val="FFFF01"/>
              </a:buClr>
              <a:buSzPts val="1500"/>
              <a:buFont typeface="Asap"/>
              <a:buChar char="●"/>
            </a:pPr>
            <a:r>
              <a:rPr lang="en-GB" sz="1500">
                <a:solidFill>
                  <a:schemeClr val="lt1"/>
                </a:solidFill>
                <a:latin typeface="Asap"/>
                <a:ea typeface="Asap"/>
                <a:cs typeface="Asap"/>
                <a:sym typeface="Asap"/>
              </a:rPr>
              <a:t>MCAR (Missing Completely at Random)</a:t>
            </a:r>
            <a:endParaRPr sz="1500">
              <a:solidFill>
                <a:schemeClr val="lt1"/>
              </a:solidFill>
              <a:latin typeface="Asap"/>
              <a:ea typeface="Asap"/>
              <a:cs typeface="Asap"/>
              <a:sym typeface="Asap"/>
            </a:endParaRPr>
          </a:p>
          <a:p>
            <a:pPr indent="-222250" lvl="0" marL="215900" marR="0" rtl="0" algn="l">
              <a:lnSpc>
                <a:spcPct val="150000"/>
              </a:lnSpc>
              <a:spcBef>
                <a:spcPts val="0"/>
              </a:spcBef>
              <a:spcAft>
                <a:spcPts val="0"/>
              </a:spcAft>
              <a:buClr>
                <a:srgbClr val="FFFF01"/>
              </a:buClr>
              <a:buSzPts val="1500"/>
              <a:buFont typeface="Asap"/>
              <a:buChar char="●"/>
            </a:pPr>
            <a:r>
              <a:rPr lang="en-GB" sz="1500">
                <a:solidFill>
                  <a:schemeClr val="lt1"/>
                </a:solidFill>
                <a:latin typeface="Asap"/>
                <a:ea typeface="Asap"/>
                <a:cs typeface="Asap"/>
                <a:sym typeface="Asap"/>
              </a:rPr>
              <a:t>MAR (Missing at Random)</a:t>
            </a:r>
            <a:endParaRPr sz="1500">
              <a:solidFill>
                <a:schemeClr val="lt1"/>
              </a:solidFill>
              <a:latin typeface="Asap"/>
              <a:ea typeface="Asap"/>
              <a:cs typeface="Asap"/>
              <a:sym typeface="Asap"/>
            </a:endParaRPr>
          </a:p>
          <a:p>
            <a:pPr indent="-222250" lvl="0" marL="215900" marR="0" rtl="0" algn="l">
              <a:lnSpc>
                <a:spcPct val="150000"/>
              </a:lnSpc>
              <a:spcBef>
                <a:spcPts val="0"/>
              </a:spcBef>
              <a:spcAft>
                <a:spcPts val="0"/>
              </a:spcAft>
              <a:buClr>
                <a:srgbClr val="FFFF01"/>
              </a:buClr>
              <a:buSzPts val="1500"/>
              <a:buFont typeface="Asap"/>
              <a:buChar char="●"/>
            </a:pPr>
            <a:r>
              <a:rPr lang="en-GB" sz="1500">
                <a:solidFill>
                  <a:schemeClr val="lt1"/>
                </a:solidFill>
                <a:latin typeface="Asap"/>
                <a:ea typeface="Asap"/>
                <a:cs typeface="Asap"/>
                <a:sym typeface="Asap"/>
              </a:rPr>
              <a:t>MNAR (Missing Not at Random)</a:t>
            </a:r>
            <a:endParaRPr sz="1500">
              <a:solidFill>
                <a:schemeClr val="lt1"/>
              </a:solidFill>
              <a:latin typeface="Asap"/>
              <a:ea typeface="Asap"/>
              <a:cs typeface="Asap"/>
              <a:sym typeface="Asap"/>
            </a:endParaRPr>
          </a:p>
          <a:p>
            <a:pPr indent="-127000" lvl="1" marL="558800" marR="0" rtl="0" algn="l">
              <a:lnSpc>
                <a:spcPct val="150000"/>
              </a:lnSpc>
              <a:spcBef>
                <a:spcPts val="0"/>
              </a:spcBef>
              <a:spcAft>
                <a:spcPts val="0"/>
              </a:spcAft>
              <a:buClr>
                <a:schemeClr val="dk1"/>
              </a:buClr>
              <a:buSzPts val="1400"/>
              <a:buFont typeface="Noto Sans Symbols"/>
              <a:buNone/>
            </a:pPr>
            <a:r>
              <a:t/>
            </a:r>
            <a:endParaRPr b="0" i="0" sz="1400" u="none" cap="none" strike="noStrike">
              <a:solidFill>
                <a:schemeClr val="lt1"/>
              </a:solidFill>
              <a:latin typeface="Asap"/>
              <a:ea typeface="Asap"/>
              <a:cs typeface="Asap"/>
              <a:sym typeface="Asap"/>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pic>
        <p:nvPicPr>
          <p:cNvPr descr="preencoded.png" id="216" name="Google Shape;216;p31"/>
          <p:cNvPicPr preferRelativeResize="0"/>
          <p:nvPr/>
        </p:nvPicPr>
        <p:blipFill rotWithShape="1">
          <a:blip r:embed="rId3">
            <a:alphaModFix/>
          </a:blip>
          <a:srcRect b="0" l="0" r="0" t="0"/>
          <a:stretch/>
        </p:blipFill>
        <p:spPr>
          <a:xfrm>
            <a:off x="346050" y="1918988"/>
            <a:ext cx="8798100" cy="3224400"/>
          </a:xfrm>
          <a:prstGeom prst="round2SameRect">
            <a:avLst>
              <a:gd fmla="val 16667" name="adj1"/>
              <a:gd fmla="val 0" name="adj2"/>
            </a:avLst>
          </a:prstGeom>
          <a:noFill/>
          <a:ln>
            <a:noFill/>
          </a:ln>
        </p:spPr>
      </p:pic>
      <p:sp>
        <p:nvSpPr>
          <p:cNvPr id="217" name="Google Shape;217;p31"/>
          <p:cNvSpPr txBox="1"/>
          <p:nvPr/>
        </p:nvSpPr>
        <p:spPr>
          <a:xfrm>
            <a:off x="346050" y="1519125"/>
            <a:ext cx="4786800" cy="408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chemeClr val="dk1"/>
              </a:buClr>
              <a:buSzPts val="1800"/>
              <a:buFont typeface="Arial"/>
              <a:buNone/>
            </a:pPr>
            <a:r>
              <a:rPr b="1" lang="en-GB" sz="2200">
                <a:solidFill>
                  <a:srgbClr val="FFFF01"/>
                </a:solidFill>
              </a:rPr>
              <a:t>QUIZ</a:t>
            </a:r>
            <a:endParaRPr b="1" i="0" sz="1700" u="none" cap="none" strike="noStrike">
              <a:solidFill>
                <a:srgbClr val="FFFF01"/>
              </a:solidFill>
              <a:latin typeface="Asap"/>
              <a:ea typeface="Asap"/>
              <a:cs typeface="Asap"/>
              <a:sym typeface="Asap"/>
            </a:endParaRPr>
          </a:p>
        </p:txBody>
      </p:sp>
      <p:sp>
        <p:nvSpPr>
          <p:cNvPr id="218" name="Google Shape;218;p31"/>
          <p:cNvSpPr txBox="1"/>
          <p:nvPr/>
        </p:nvSpPr>
        <p:spPr>
          <a:xfrm>
            <a:off x="1034116" y="2237700"/>
            <a:ext cx="7409700" cy="23397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b="1" lang="en-GB" sz="1500">
                <a:solidFill>
                  <a:schemeClr val="lt1"/>
                </a:solidFill>
                <a:latin typeface="Asap"/>
                <a:ea typeface="Asap"/>
                <a:cs typeface="Asap"/>
                <a:sym typeface="Asap"/>
              </a:rPr>
              <a:t>Într-un sondaj online, răspunsurile la întrebarea despre tipul de telefon lipsesc mai des la tinerii sub 20 de ani, pentru că aceștia nu au avut răbdare să răspundă complet.</a:t>
            </a:r>
            <a:endParaRPr b="1" sz="2300">
              <a:solidFill>
                <a:schemeClr val="lt1"/>
              </a:solidFill>
              <a:latin typeface="Asap"/>
              <a:ea typeface="Asap"/>
              <a:cs typeface="Asap"/>
              <a:sym typeface="Asap"/>
            </a:endParaRPr>
          </a:p>
          <a:p>
            <a:pPr indent="0" lvl="0" marL="0" marR="0" rtl="0" algn="l">
              <a:lnSpc>
                <a:spcPct val="150000"/>
              </a:lnSpc>
              <a:spcBef>
                <a:spcPts val="0"/>
              </a:spcBef>
              <a:spcAft>
                <a:spcPts val="0"/>
              </a:spcAft>
              <a:buNone/>
            </a:pPr>
            <a:r>
              <a:t/>
            </a:r>
            <a:endParaRPr sz="1400">
              <a:solidFill>
                <a:schemeClr val="lt1"/>
              </a:solidFill>
              <a:latin typeface="Asap"/>
              <a:ea typeface="Asap"/>
              <a:cs typeface="Asap"/>
              <a:sym typeface="Asap"/>
            </a:endParaRPr>
          </a:p>
          <a:p>
            <a:pPr indent="-222250" lvl="0" marL="215900" marR="0" rtl="0" algn="l">
              <a:lnSpc>
                <a:spcPct val="150000"/>
              </a:lnSpc>
              <a:spcBef>
                <a:spcPts val="0"/>
              </a:spcBef>
              <a:spcAft>
                <a:spcPts val="0"/>
              </a:spcAft>
              <a:buClr>
                <a:srgbClr val="FFFF01"/>
              </a:buClr>
              <a:buSzPts val="1500"/>
              <a:buFont typeface="Asap"/>
              <a:buChar char="●"/>
            </a:pPr>
            <a:r>
              <a:rPr lang="en-GB" sz="1500">
                <a:solidFill>
                  <a:schemeClr val="lt1"/>
                </a:solidFill>
                <a:latin typeface="Asap"/>
                <a:ea typeface="Asap"/>
                <a:cs typeface="Asap"/>
                <a:sym typeface="Asap"/>
              </a:rPr>
              <a:t>MCAR (Missing Completely at Random)</a:t>
            </a:r>
            <a:endParaRPr sz="1500">
              <a:solidFill>
                <a:schemeClr val="lt1"/>
              </a:solidFill>
              <a:latin typeface="Asap"/>
              <a:ea typeface="Asap"/>
              <a:cs typeface="Asap"/>
              <a:sym typeface="Asap"/>
            </a:endParaRPr>
          </a:p>
          <a:p>
            <a:pPr indent="-222250" lvl="0" marL="215900" marR="0" rtl="0" algn="l">
              <a:lnSpc>
                <a:spcPct val="150000"/>
              </a:lnSpc>
              <a:spcBef>
                <a:spcPts val="0"/>
              </a:spcBef>
              <a:spcAft>
                <a:spcPts val="0"/>
              </a:spcAft>
              <a:buClr>
                <a:srgbClr val="FFFF01"/>
              </a:buClr>
              <a:buSzPts val="1500"/>
              <a:buFont typeface="Asap"/>
              <a:buChar char="●"/>
            </a:pPr>
            <a:r>
              <a:rPr lang="en-GB" sz="1500">
                <a:solidFill>
                  <a:schemeClr val="lt1"/>
                </a:solidFill>
                <a:latin typeface="Asap"/>
                <a:ea typeface="Asap"/>
                <a:cs typeface="Asap"/>
                <a:sym typeface="Asap"/>
              </a:rPr>
              <a:t>MAR (Missing at Random)</a:t>
            </a:r>
            <a:endParaRPr sz="1500">
              <a:solidFill>
                <a:schemeClr val="lt1"/>
              </a:solidFill>
              <a:latin typeface="Asap"/>
              <a:ea typeface="Asap"/>
              <a:cs typeface="Asap"/>
              <a:sym typeface="Asap"/>
            </a:endParaRPr>
          </a:p>
          <a:p>
            <a:pPr indent="-222250" lvl="0" marL="215900" marR="0" rtl="0" algn="l">
              <a:lnSpc>
                <a:spcPct val="150000"/>
              </a:lnSpc>
              <a:spcBef>
                <a:spcPts val="0"/>
              </a:spcBef>
              <a:spcAft>
                <a:spcPts val="0"/>
              </a:spcAft>
              <a:buClr>
                <a:srgbClr val="FFFF01"/>
              </a:buClr>
              <a:buSzPts val="1500"/>
              <a:buFont typeface="Asap"/>
              <a:buChar char="●"/>
            </a:pPr>
            <a:r>
              <a:rPr lang="en-GB" sz="1500">
                <a:solidFill>
                  <a:schemeClr val="lt1"/>
                </a:solidFill>
                <a:latin typeface="Asap"/>
                <a:ea typeface="Asap"/>
                <a:cs typeface="Asap"/>
                <a:sym typeface="Asap"/>
              </a:rPr>
              <a:t>MNAR (Missing Not at Random)</a:t>
            </a:r>
            <a:endParaRPr sz="1500">
              <a:solidFill>
                <a:schemeClr val="lt1"/>
              </a:solidFill>
              <a:latin typeface="Asap"/>
              <a:ea typeface="Asap"/>
              <a:cs typeface="Asap"/>
              <a:sym typeface="Asap"/>
            </a:endParaRPr>
          </a:p>
          <a:p>
            <a:pPr indent="-127000" lvl="1" marL="558800" marR="0" rtl="0" algn="l">
              <a:lnSpc>
                <a:spcPct val="150000"/>
              </a:lnSpc>
              <a:spcBef>
                <a:spcPts val="0"/>
              </a:spcBef>
              <a:spcAft>
                <a:spcPts val="0"/>
              </a:spcAft>
              <a:buClr>
                <a:schemeClr val="dk1"/>
              </a:buClr>
              <a:buSzPts val="1400"/>
              <a:buFont typeface="Noto Sans Symbols"/>
              <a:buNone/>
            </a:pPr>
            <a:r>
              <a:t/>
            </a:r>
            <a:endParaRPr b="0" i="0" sz="1400" u="none" cap="none" strike="noStrike">
              <a:solidFill>
                <a:schemeClr val="lt1"/>
              </a:solidFill>
              <a:latin typeface="Asap"/>
              <a:ea typeface="Asap"/>
              <a:cs typeface="Asap"/>
              <a:sym typeface="Asap"/>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descr="preencoded.png" id="224" name="Google Shape;224;p32"/>
          <p:cNvPicPr preferRelativeResize="0"/>
          <p:nvPr/>
        </p:nvPicPr>
        <p:blipFill rotWithShape="1">
          <a:blip r:embed="rId3">
            <a:alphaModFix/>
          </a:blip>
          <a:srcRect b="0" l="0" r="0" t="0"/>
          <a:stretch/>
        </p:blipFill>
        <p:spPr>
          <a:xfrm>
            <a:off x="4348165" y="0"/>
            <a:ext cx="4795832" cy="5143500"/>
          </a:xfrm>
          <a:prstGeom prst="rect">
            <a:avLst/>
          </a:prstGeom>
          <a:noFill/>
          <a:ln>
            <a:noFill/>
          </a:ln>
        </p:spPr>
      </p:pic>
      <p:pic>
        <p:nvPicPr>
          <p:cNvPr descr="preencoded.png" id="225" name="Google Shape;225;p32"/>
          <p:cNvPicPr preferRelativeResize="0"/>
          <p:nvPr/>
        </p:nvPicPr>
        <p:blipFill rotWithShape="1">
          <a:blip r:embed="rId4">
            <a:alphaModFix/>
          </a:blip>
          <a:srcRect b="0" l="0" r="0" t="0"/>
          <a:stretch/>
        </p:blipFill>
        <p:spPr>
          <a:xfrm>
            <a:off x="223838" y="1724025"/>
            <a:ext cx="8920163" cy="3419475"/>
          </a:xfrm>
          <a:prstGeom prst="rect">
            <a:avLst/>
          </a:prstGeom>
          <a:noFill/>
          <a:ln>
            <a:noFill/>
          </a:ln>
        </p:spPr>
      </p:pic>
      <p:pic>
        <p:nvPicPr>
          <p:cNvPr descr="preencoded.png" id="226" name="Google Shape;226;p32"/>
          <p:cNvPicPr preferRelativeResize="0"/>
          <p:nvPr/>
        </p:nvPicPr>
        <p:blipFill rotWithShape="1">
          <a:blip r:embed="rId5">
            <a:alphaModFix/>
          </a:blip>
          <a:srcRect b="0" l="0" r="0" t="0"/>
          <a:stretch/>
        </p:blipFill>
        <p:spPr>
          <a:xfrm>
            <a:off x="638175" y="322985"/>
            <a:ext cx="1066800" cy="516083"/>
          </a:xfrm>
          <a:prstGeom prst="rect">
            <a:avLst/>
          </a:prstGeom>
          <a:noFill/>
          <a:ln>
            <a:noFill/>
          </a:ln>
        </p:spPr>
      </p:pic>
      <p:sp>
        <p:nvSpPr>
          <p:cNvPr id="227" name="Google Shape;227;p32"/>
          <p:cNvSpPr/>
          <p:nvPr/>
        </p:nvSpPr>
        <p:spPr>
          <a:xfrm>
            <a:off x="223863" y="1259000"/>
            <a:ext cx="8010600" cy="595500"/>
          </a:xfrm>
          <a:prstGeom prst="rect">
            <a:avLst/>
          </a:prstGeom>
          <a:noFill/>
          <a:ln>
            <a:noFill/>
          </a:ln>
          <a:effectLst>
            <a:outerShdw blurRad="42863" rotWithShape="0" algn="bl" dir="5400000" dist="14288">
              <a:srgbClr val="000000"/>
            </a:outerShdw>
          </a:effectLst>
        </p:spPr>
        <p:txBody>
          <a:bodyPr anchorCtr="0" anchor="t" bIns="0" lIns="0" spcFirstLastPara="1" rIns="0" wrap="square" tIns="0">
            <a:noAutofit/>
          </a:bodyPr>
          <a:lstStyle/>
          <a:p>
            <a:pPr indent="0" lvl="0" marL="0" marR="0" rtl="0" algn="l">
              <a:lnSpc>
                <a:spcPct val="124898"/>
              </a:lnSpc>
              <a:spcBef>
                <a:spcPts val="0"/>
              </a:spcBef>
              <a:spcAft>
                <a:spcPts val="0"/>
              </a:spcAft>
              <a:buClr>
                <a:srgbClr val="FFFF01"/>
              </a:buClr>
              <a:buSzPts val="3700"/>
              <a:buFont typeface="Asap"/>
              <a:buNone/>
            </a:pPr>
            <a:r>
              <a:rPr b="1" i="0" lang="en-GB" sz="2600" u="none" cap="none" strike="noStrike">
                <a:solidFill>
                  <a:srgbClr val="FFFF01"/>
                </a:solidFill>
                <a:latin typeface="Asap"/>
                <a:ea typeface="Asap"/>
                <a:cs typeface="Asap"/>
                <a:sym typeface="Asap"/>
              </a:rPr>
              <a:t>Scalarea variabilelor</a:t>
            </a:r>
            <a:endParaRPr b="0" i="0" sz="2600" u="none" cap="none" strike="noStrike">
              <a:solidFill>
                <a:schemeClr val="dk1"/>
              </a:solidFill>
              <a:latin typeface="Calibri"/>
              <a:ea typeface="Calibri"/>
              <a:cs typeface="Calibri"/>
              <a:sym typeface="Calibri"/>
            </a:endParaRPr>
          </a:p>
        </p:txBody>
      </p:sp>
      <p:sp>
        <p:nvSpPr>
          <p:cNvPr id="228" name="Google Shape;228;p32"/>
          <p:cNvSpPr/>
          <p:nvPr/>
        </p:nvSpPr>
        <p:spPr>
          <a:xfrm>
            <a:off x="273275" y="1854575"/>
            <a:ext cx="7595400" cy="2814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2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b="1" i="0" lang="en-GB" sz="1500" u="none" cap="none" strike="noStrike">
                <a:solidFill>
                  <a:schemeClr val="lt1"/>
                </a:solidFill>
                <a:latin typeface="Asap"/>
                <a:ea typeface="Asap"/>
                <a:cs typeface="Asap"/>
                <a:sym typeface="Asap"/>
              </a:rPr>
              <a:t>De ce contează scalarea?</a:t>
            </a:r>
            <a:endParaRPr b="1"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Diferite variabile pot avea scale foarte diferite (ex: salariu vs vârstă).</a:t>
            </a:r>
            <a:endParaRPr b="0" i="0" sz="11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Algoritmii bazati pe distanță (KNN, clustering) → feature-urile cu valori mari domină.</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Scalarea = punem toate variabilele </a:t>
            </a:r>
            <a:r>
              <a:rPr lang="en-GB" sz="1500">
                <a:solidFill>
                  <a:schemeClr val="lt1"/>
                </a:solidFill>
                <a:latin typeface="Asap"/>
                <a:ea typeface="Asap"/>
                <a:cs typeface="Asap"/>
                <a:sym typeface="Asap"/>
              </a:rPr>
              <a:t>în aceeași scală de valori</a:t>
            </a:r>
            <a:endParaRPr b="0" i="0" sz="14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1" i="0" sz="1100" u="none" cap="none" strike="noStrike">
              <a:solidFill>
                <a:schemeClr val="lt1"/>
              </a:solidFill>
              <a:latin typeface="Asap"/>
              <a:ea typeface="Asap"/>
              <a:cs typeface="Asap"/>
              <a:sym typeface="Asap"/>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descr="preencoded.png" id="234" name="Google Shape;234;p33"/>
          <p:cNvPicPr preferRelativeResize="0"/>
          <p:nvPr/>
        </p:nvPicPr>
        <p:blipFill rotWithShape="1">
          <a:blip r:embed="rId3">
            <a:alphaModFix/>
          </a:blip>
          <a:srcRect b="0" l="0" r="0" t="0"/>
          <a:stretch/>
        </p:blipFill>
        <p:spPr>
          <a:xfrm>
            <a:off x="4348165" y="0"/>
            <a:ext cx="4795832" cy="5143500"/>
          </a:xfrm>
          <a:prstGeom prst="rect">
            <a:avLst/>
          </a:prstGeom>
          <a:noFill/>
          <a:ln>
            <a:noFill/>
          </a:ln>
        </p:spPr>
      </p:pic>
      <p:pic>
        <p:nvPicPr>
          <p:cNvPr descr="preencoded.png" id="235" name="Google Shape;235;p33"/>
          <p:cNvPicPr preferRelativeResize="0"/>
          <p:nvPr/>
        </p:nvPicPr>
        <p:blipFill rotWithShape="1">
          <a:blip r:embed="rId4">
            <a:alphaModFix/>
          </a:blip>
          <a:srcRect b="0" l="0" r="0" t="0"/>
          <a:stretch/>
        </p:blipFill>
        <p:spPr>
          <a:xfrm>
            <a:off x="223838" y="1724025"/>
            <a:ext cx="8920163" cy="3419475"/>
          </a:xfrm>
          <a:prstGeom prst="rect">
            <a:avLst/>
          </a:prstGeom>
          <a:noFill/>
          <a:ln>
            <a:noFill/>
          </a:ln>
        </p:spPr>
      </p:pic>
      <p:pic>
        <p:nvPicPr>
          <p:cNvPr descr="preencoded.png" id="236" name="Google Shape;236;p33"/>
          <p:cNvPicPr preferRelativeResize="0"/>
          <p:nvPr/>
        </p:nvPicPr>
        <p:blipFill rotWithShape="1">
          <a:blip r:embed="rId5">
            <a:alphaModFix/>
          </a:blip>
          <a:srcRect b="0" l="0" r="0" t="0"/>
          <a:stretch/>
        </p:blipFill>
        <p:spPr>
          <a:xfrm>
            <a:off x="638175" y="322985"/>
            <a:ext cx="1066800" cy="516083"/>
          </a:xfrm>
          <a:prstGeom prst="rect">
            <a:avLst/>
          </a:prstGeom>
          <a:noFill/>
          <a:ln>
            <a:noFill/>
          </a:ln>
        </p:spPr>
      </p:pic>
      <p:sp>
        <p:nvSpPr>
          <p:cNvPr id="237" name="Google Shape;237;p33"/>
          <p:cNvSpPr/>
          <p:nvPr/>
        </p:nvSpPr>
        <p:spPr>
          <a:xfrm>
            <a:off x="223863" y="1259000"/>
            <a:ext cx="8010600" cy="595500"/>
          </a:xfrm>
          <a:prstGeom prst="rect">
            <a:avLst/>
          </a:prstGeom>
          <a:noFill/>
          <a:ln>
            <a:noFill/>
          </a:ln>
          <a:effectLst>
            <a:outerShdw blurRad="42863" rotWithShape="0" algn="bl" dir="5400000" dist="14288">
              <a:srgbClr val="000000"/>
            </a:outerShdw>
          </a:effectLst>
        </p:spPr>
        <p:txBody>
          <a:bodyPr anchorCtr="0" anchor="t" bIns="0" lIns="0" spcFirstLastPara="1" rIns="0" wrap="square" tIns="0">
            <a:noAutofit/>
          </a:bodyPr>
          <a:lstStyle/>
          <a:p>
            <a:pPr indent="0" lvl="0" marL="0" marR="0" rtl="0" algn="l">
              <a:lnSpc>
                <a:spcPct val="124898"/>
              </a:lnSpc>
              <a:spcBef>
                <a:spcPts val="0"/>
              </a:spcBef>
              <a:spcAft>
                <a:spcPts val="0"/>
              </a:spcAft>
              <a:buClr>
                <a:srgbClr val="FFFF01"/>
              </a:buClr>
              <a:buSzPts val="3700"/>
              <a:buFont typeface="Asap"/>
              <a:buNone/>
            </a:pPr>
            <a:r>
              <a:rPr b="1" i="0" lang="en-GB" sz="2600" u="none" cap="none" strike="noStrike">
                <a:solidFill>
                  <a:srgbClr val="FFFF01"/>
                </a:solidFill>
                <a:latin typeface="Asap"/>
                <a:ea typeface="Asap"/>
                <a:cs typeface="Asap"/>
                <a:sym typeface="Asap"/>
              </a:rPr>
              <a:t>Scalarea variabilelor</a:t>
            </a:r>
            <a:endParaRPr b="0" i="0" sz="2600" u="none" cap="none" strike="noStrike">
              <a:solidFill>
                <a:schemeClr val="dk1"/>
              </a:solidFill>
              <a:latin typeface="Calibri"/>
              <a:ea typeface="Calibri"/>
              <a:cs typeface="Calibri"/>
              <a:sym typeface="Calibri"/>
            </a:endParaRPr>
          </a:p>
        </p:txBody>
      </p:sp>
      <p:sp>
        <p:nvSpPr>
          <p:cNvPr id="238" name="Google Shape;238;p33"/>
          <p:cNvSpPr/>
          <p:nvPr/>
        </p:nvSpPr>
        <p:spPr>
          <a:xfrm>
            <a:off x="223875" y="1854497"/>
            <a:ext cx="7595400" cy="20502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2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b="1" i="0" lang="en-GB" sz="1500" u="none" cap="none" strike="noStrike">
                <a:solidFill>
                  <a:schemeClr val="lt1"/>
                </a:solidFill>
                <a:latin typeface="Asap"/>
                <a:ea typeface="Asap"/>
                <a:cs typeface="Asap"/>
                <a:sym typeface="Asap"/>
              </a:rPr>
              <a:t>Metode de scalare - Scalare Min-Max</a:t>
            </a:r>
            <a:endParaRPr b="1"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Formula:</a:t>
            </a:r>
            <a:r>
              <a:rPr b="1" i="0" lang="en-GB" sz="1700" u="none" cap="none" strike="noStrike">
                <a:solidFill>
                  <a:srgbClr val="313CFF"/>
                </a:solidFill>
                <a:latin typeface="Asap"/>
                <a:ea typeface="Asap"/>
                <a:cs typeface="Asap"/>
                <a:sym typeface="Asap"/>
              </a:rPr>
              <a:t> (x - min) / (max - min) </a:t>
            </a:r>
            <a:r>
              <a:rPr b="0" i="0" lang="en-GB" sz="1500" u="none" cap="none" strike="noStrike">
                <a:solidFill>
                  <a:schemeClr val="lt1"/>
                </a:solidFill>
                <a:latin typeface="Asap"/>
                <a:ea typeface="Asap"/>
                <a:cs typeface="Asap"/>
                <a:sym typeface="Asap"/>
              </a:rPr>
              <a:t>→ valori între 0 și 1.</a:t>
            </a:r>
            <a:endParaRPr b="0" i="0" sz="11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Pro: păstrează proporțiile relative.</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Contra: foarte sensibil la outlieri.</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1" i="0" sz="1100" u="none" cap="none" strike="noStrike">
              <a:solidFill>
                <a:schemeClr val="lt1"/>
              </a:solidFill>
              <a:latin typeface="Asap"/>
              <a:ea typeface="Asap"/>
              <a:cs typeface="Asap"/>
              <a:sym typeface="Asap"/>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descr="preencoded.png" id="244" name="Google Shape;244;p34"/>
          <p:cNvPicPr preferRelativeResize="0"/>
          <p:nvPr/>
        </p:nvPicPr>
        <p:blipFill rotWithShape="1">
          <a:blip r:embed="rId3">
            <a:alphaModFix/>
          </a:blip>
          <a:srcRect b="0" l="0" r="0" t="0"/>
          <a:stretch/>
        </p:blipFill>
        <p:spPr>
          <a:xfrm>
            <a:off x="4348165" y="0"/>
            <a:ext cx="4795832" cy="5143500"/>
          </a:xfrm>
          <a:prstGeom prst="rect">
            <a:avLst/>
          </a:prstGeom>
          <a:noFill/>
          <a:ln>
            <a:noFill/>
          </a:ln>
        </p:spPr>
      </p:pic>
      <p:pic>
        <p:nvPicPr>
          <p:cNvPr descr="preencoded.png" id="245" name="Google Shape;245;p34"/>
          <p:cNvPicPr preferRelativeResize="0"/>
          <p:nvPr/>
        </p:nvPicPr>
        <p:blipFill rotWithShape="1">
          <a:blip r:embed="rId4">
            <a:alphaModFix/>
          </a:blip>
          <a:srcRect b="0" l="0" r="0" t="0"/>
          <a:stretch/>
        </p:blipFill>
        <p:spPr>
          <a:xfrm>
            <a:off x="223838" y="1724025"/>
            <a:ext cx="8920163" cy="3419475"/>
          </a:xfrm>
          <a:prstGeom prst="rect">
            <a:avLst/>
          </a:prstGeom>
          <a:noFill/>
          <a:ln>
            <a:noFill/>
          </a:ln>
        </p:spPr>
      </p:pic>
      <p:pic>
        <p:nvPicPr>
          <p:cNvPr descr="preencoded.png" id="246" name="Google Shape;246;p34"/>
          <p:cNvPicPr preferRelativeResize="0"/>
          <p:nvPr/>
        </p:nvPicPr>
        <p:blipFill rotWithShape="1">
          <a:blip r:embed="rId5">
            <a:alphaModFix/>
          </a:blip>
          <a:srcRect b="0" l="0" r="0" t="0"/>
          <a:stretch/>
        </p:blipFill>
        <p:spPr>
          <a:xfrm>
            <a:off x="638175" y="322985"/>
            <a:ext cx="1066800" cy="516083"/>
          </a:xfrm>
          <a:prstGeom prst="rect">
            <a:avLst/>
          </a:prstGeom>
          <a:noFill/>
          <a:ln>
            <a:noFill/>
          </a:ln>
        </p:spPr>
      </p:pic>
      <p:sp>
        <p:nvSpPr>
          <p:cNvPr id="247" name="Google Shape;247;p34"/>
          <p:cNvSpPr/>
          <p:nvPr/>
        </p:nvSpPr>
        <p:spPr>
          <a:xfrm>
            <a:off x="223863" y="1259000"/>
            <a:ext cx="8010600" cy="595500"/>
          </a:xfrm>
          <a:prstGeom prst="rect">
            <a:avLst/>
          </a:prstGeom>
          <a:noFill/>
          <a:ln>
            <a:noFill/>
          </a:ln>
          <a:effectLst>
            <a:outerShdw blurRad="42863" rotWithShape="0" algn="bl" dir="5400000" dist="14288">
              <a:srgbClr val="000000"/>
            </a:outerShdw>
          </a:effectLst>
        </p:spPr>
        <p:txBody>
          <a:bodyPr anchorCtr="0" anchor="t" bIns="0" lIns="0" spcFirstLastPara="1" rIns="0" wrap="square" tIns="0">
            <a:noAutofit/>
          </a:bodyPr>
          <a:lstStyle/>
          <a:p>
            <a:pPr indent="0" lvl="0" marL="0" marR="0" rtl="0" algn="l">
              <a:lnSpc>
                <a:spcPct val="124898"/>
              </a:lnSpc>
              <a:spcBef>
                <a:spcPts val="0"/>
              </a:spcBef>
              <a:spcAft>
                <a:spcPts val="0"/>
              </a:spcAft>
              <a:buClr>
                <a:srgbClr val="FFFF01"/>
              </a:buClr>
              <a:buSzPts val="3700"/>
              <a:buFont typeface="Asap"/>
              <a:buNone/>
            </a:pPr>
            <a:r>
              <a:rPr b="1" i="0" lang="en-GB" sz="2600" u="none" cap="none" strike="noStrike">
                <a:solidFill>
                  <a:srgbClr val="FFFF01"/>
                </a:solidFill>
                <a:latin typeface="Asap"/>
                <a:ea typeface="Asap"/>
                <a:cs typeface="Asap"/>
                <a:sym typeface="Asap"/>
              </a:rPr>
              <a:t>Scalarea variabilelor</a:t>
            </a:r>
            <a:endParaRPr b="0" i="0" sz="2600" u="none" cap="none" strike="noStrike">
              <a:solidFill>
                <a:schemeClr val="dk1"/>
              </a:solidFill>
              <a:latin typeface="Calibri"/>
              <a:ea typeface="Calibri"/>
              <a:cs typeface="Calibri"/>
              <a:sym typeface="Calibri"/>
            </a:endParaRPr>
          </a:p>
        </p:txBody>
      </p:sp>
      <p:sp>
        <p:nvSpPr>
          <p:cNvPr id="248" name="Google Shape;248;p34"/>
          <p:cNvSpPr/>
          <p:nvPr/>
        </p:nvSpPr>
        <p:spPr>
          <a:xfrm>
            <a:off x="245878" y="2274425"/>
            <a:ext cx="8759400" cy="1920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2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b="1" i="0" lang="en-GB" sz="1500" u="none" cap="none" strike="noStrike">
                <a:solidFill>
                  <a:schemeClr val="lt1"/>
                </a:solidFill>
                <a:latin typeface="Asap"/>
                <a:ea typeface="Asap"/>
                <a:cs typeface="Asap"/>
                <a:sym typeface="Asap"/>
              </a:rPr>
              <a:t>Metode de scalare - Scalare Standard</a:t>
            </a:r>
            <a:endParaRPr b="1"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Formula:</a:t>
            </a:r>
            <a:r>
              <a:rPr b="0" i="0" lang="en-GB" sz="1500" u="none" cap="none" strike="noStrike">
                <a:solidFill>
                  <a:srgbClr val="9FC5E8"/>
                </a:solidFill>
                <a:latin typeface="Asap"/>
                <a:ea typeface="Asap"/>
                <a:cs typeface="Asap"/>
                <a:sym typeface="Asap"/>
              </a:rPr>
              <a:t> </a:t>
            </a:r>
            <a:r>
              <a:rPr b="1" i="0" lang="en-GB" sz="1700" u="none" cap="none" strike="noStrike">
                <a:solidFill>
                  <a:schemeClr val="accent1"/>
                </a:solidFill>
                <a:latin typeface="Asap"/>
                <a:ea typeface="Asap"/>
                <a:cs typeface="Asap"/>
                <a:sym typeface="Asap"/>
              </a:rPr>
              <a:t>(x - medie) / deviatia standard </a:t>
            </a:r>
            <a:endParaRPr b="1" i="0" sz="1700" u="none" cap="none" strike="noStrike">
              <a:solidFill>
                <a:schemeClr val="accent1"/>
              </a:solidFill>
              <a:latin typeface="Asap"/>
              <a:ea typeface="Asap"/>
              <a:cs typeface="Asap"/>
              <a:sym typeface="Asap"/>
            </a:endParaRPr>
          </a:p>
          <a:p>
            <a:pPr indent="45720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a:t>
            </a:r>
            <a:r>
              <a:rPr b="1" i="0" lang="en-GB" sz="1500" u="none" cap="none" strike="noStrike">
                <a:solidFill>
                  <a:srgbClr val="FFFF01"/>
                </a:solidFill>
                <a:latin typeface="Asap"/>
                <a:ea typeface="Asap"/>
                <a:cs typeface="Asap"/>
                <a:sym typeface="Asap"/>
              </a:rPr>
              <a:t>media devine 0, deviația standard devine 1.</a:t>
            </a:r>
            <a:endParaRPr b="1" i="0" sz="1500" u="none" cap="none" strike="noStrike">
              <a:solidFill>
                <a:srgbClr val="FFFF01"/>
              </a:solidFill>
              <a:latin typeface="Asap"/>
              <a:ea typeface="Asap"/>
              <a:cs typeface="Asap"/>
              <a:sym typeface="Asap"/>
            </a:endParaRPr>
          </a:p>
          <a:p>
            <a:pPr indent="457200" lvl="0" marL="0" rtl="0" algn="l">
              <a:spcBef>
                <a:spcPts val="0"/>
              </a:spcBef>
              <a:spcAft>
                <a:spcPts val="0"/>
              </a:spcAft>
              <a:buClr>
                <a:schemeClr val="dk1"/>
              </a:buClr>
              <a:buSzPts val="1500"/>
              <a:buFont typeface="Arial"/>
              <a:buNone/>
            </a:pPr>
            <a:r>
              <a:rPr lang="en-GB" sz="1500">
                <a:solidFill>
                  <a:schemeClr val="lt1"/>
                </a:solidFill>
                <a:latin typeface="Asap"/>
                <a:ea typeface="Asap"/>
                <a:cs typeface="Asap"/>
                <a:sym typeface="Asap"/>
              </a:rPr>
              <a:t>ex. [2, 4, 6] =&gt; </a:t>
            </a:r>
            <a:r>
              <a:rPr b="1" lang="en-GB" sz="1500">
                <a:solidFill>
                  <a:schemeClr val="lt1"/>
                </a:solidFill>
                <a:latin typeface="Asap"/>
                <a:ea typeface="Asap"/>
                <a:cs typeface="Asap"/>
                <a:sym typeface="Asap"/>
              </a:rPr>
              <a:t>media = 4</a:t>
            </a:r>
            <a:endParaRPr b="1" sz="1500">
              <a:solidFill>
                <a:schemeClr val="lt1"/>
              </a:solidFill>
              <a:latin typeface="Asap"/>
              <a:ea typeface="Asap"/>
              <a:cs typeface="Asap"/>
              <a:sym typeface="Asap"/>
            </a:endParaRPr>
          </a:p>
          <a:p>
            <a:pPr indent="457200" lvl="0" marL="0" rtl="0" algn="l">
              <a:spcBef>
                <a:spcPts val="0"/>
              </a:spcBef>
              <a:spcAft>
                <a:spcPts val="0"/>
              </a:spcAft>
              <a:buClr>
                <a:schemeClr val="dk1"/>
              </a:buClr>
              <a:buSzPts val="1500"/>
              <a:buFont typeface="Arial"/>
              <a:buNone/>
            </a:pPr>
            <a:r>
              <a:rPr b="1" lang="en-GB" sz="1500">
                <a:solidFill>
                  <a:schemeClr val="lt1"/>
                </a:solidFill>
                <a:latin typeface="Asap"/>
                <a:ea typeface="Asap"/>
                <a:cs typeface="Asap"/>
                <a:sym typeface="Asap"/>
              </a:rPr>
              <a:t>Daca scadem media =&gt; [-2, 0, 2] =&gt; media e 0</a:t>
            </a:r>
            <a:endParaRPr b="1" sz="1500">
              <a:solidFill>
                <a:schemeClr val="lt1"/>
              </a:solidFill>
              <a:latin typeface="Asap"/>
              <a:ea typeface="Asap"/>
              <a:cs typeface="Asap"/>
              <a:sym typeface="Asap"/>
            </a:endParaRPr>
          </a:p>
          <a:p>
            <a:pPr indent="457200" lvl="0" marL="0" rtl="0" algn="l">
              <a:spcBef>
                <a:spcPts val="0"/>
              </a:spcBef>
              <a:spcAft>
                <a:spcPts val="0"/>
              </a:spcAft>
              <a:buClr>
                <a:schemeClr val="dk1"/>
              </a:buClr>
              <a:buSzPts val="1500"/>
              <a:buFont typeface="Arial"/>
              <a:buNone/>
            </a:pPr>
            <a:r>
              <a:rPr b="1" lang="en-GB" sz="1500">
                <a:solidFill>
                  <a:schemeClr val="lt1"/>
                </a:solidFill>
                <a:latin typeface="Asap"/>
                <a:ea typeface="Asap"/>
                <a:cs typeface="Asap"/>
                <a:sym typeface="Asap"/>
              </a:rPr>
              <a:t>Deviatia standard </a:t>
            </a:r>
            <a:r>
              <a:rPr lang="en-GB" sz="1500">
                <a:solidFill>
                  <a:schemeClr val="lt1"/>
                </a:solidFill>
                <a:latin typeface="Asap"/>
                <a:ea typeface="Asap"/>
                <a:cs typeface="Asap"/>
                <a:sym typeface="Asap"/>
              </a:rPr>
              <a:t>arata </a:t>
            </a:r>
            <a:r>
              <a:rPr b="1" lang="en-GB" sz="1500">
                <a:solidFill>
                  <a:schemeClr val="lt1"/>
                </a:solidFill>
                <a:latin typeface="Asap"/>
                <a:ea typeface="Asap"/>
                <a:cs typeface="Asap"/>
                <a:sym typeface="Asap"/>
              </a:rPr>
              <a:t>cat de imprastiate sunt valorile</a:t>
            </a:r>
            <a:r>
              <a:rPr lang="en-GB" sz="1500">
                <a:solidFill>
                  <a:schemeClr val="lt1"/>
                </a:solidFill>
                <a:latin typeface="Asap"/>
                <a:ea typeface="Asap"/>
                <a:cs typeface="Asap"/>
                <a:sym typeface="Asap"/>
              </a:rPr>
              <a:t> fata de medie. =&gt; </a:t>
            </a:r>
            <a:r>
              <a:rPr b="1" lang="en-GB" sz="1500">
                <a:solidFill>
                  <a:schemeClr val="lt1"/>
                </a:solidFill>
                <a:latin typeface="Asap"/>
                <a:ea typeface="Asap"/>
                <a:cs typeface="Asap"/>
                <a:sym typeface="Asap"/>
              </a:rPr>
              <a:t>deviatia e 2</a:t>
            </a:r>
            <a:r>
              <a:rPr lang="en-GB" sz="1500">
                <a:solidFill>
                  <a:schemeClr val="lt1"/>
                </a:solidFill>
                <a:latin typeface="Asap"/>
                <a:ea typeface="Asap"/>
                <a:cs typeface="Asap"/>
                <a:sym typeface="Asap"/>
              </a:rPr>
              <a:t> </a:t>
            </a:r>
            <a:endParaRPr sz="1500">
              <a:solidFill>
                <a:schemeClr val="lt1"/>
              </a:solidFill>
              <a:latin typeface="Asap"/>
              <a:ea typeface="Asap"/>
              <a:cs typeface="Asap"/>
              <a:sym typeface="Asap"/>
            </a:endParaRPr>
          </a:p>
          <a:p>
            <a:pPr indent="457200" lvl="0" marL="0" rtl="0" algn="l">
              <a:spcBef>
                <a:spcPts val="0"/>
              </a:spcBef>
              <a:spcAft>
                <a:spcPts val="0"/>
              </a:spcAft>
              <a:buClr>
                <a:schemeClr val="dk1"/>
              </a:buClr>
              <a:buSzPts val="1500"/>
              <a:buFont typeface="Arial"/>
              <a:buNone/>
            </a:pPr>
            <a:r>
              <a:rPr b="1" lang="en-GB" sz="1500">
                <a:solidFill>
                  <a:schemeClr val="lt1"/>
                </a:solidFill>
                <a:latin typeface="Asap"/>
                <a:ea typeface="Asap"/>
                <a:cs typeface="Asap"/>
                <a:sym typeface="Asap"/>
              </a:rPr>
              <a:t>Daca impartim toate valorile la deviatie</a:t>
            </a:r>
            <a:r>
              <a:rPr lang="en-GB" sz="1500">
                <a:solidFill>
                  <a:schemeClr val="lt1"/>
                </a:solidFill>
                <a:latin typeface="Asap"/>
                <a:ea typeface="Asap"/>
                <a:cs typeface="Asap"/>
                <a:sym typeface="Asap"/>
              </a:rPr>
              <a:t> =&gt; [-1, 0, 1]</a:t>
            </a:r>
            <a:endParaRPr sz="1500">
              <a:solidFill>
                <a:schemeClr val="lt1"/>
              </a:solidFill>
              <a:latin typeface="Asap"/>
              <a:ea typeface="Asap"/>
              <a:cs typeface="Asap"/>
              <a:sym typeface="Asap"/>
            </a:endParaRPr>
          </a:p>
          <a:p>
            <a:pPr indent="457200" lvl="0" marL="0" rtl="0" algn="l">
              <a:spcBef>
                <a:spcPts val="0"/>
              </a:spcBef>
              <a:spcAft>
                <a:spcPts val="0"/>
              </a:spcAft>
              <a:buClr>
                <a:schemeClr val="dk1"/>
              </a:buClr>
              <a:buSzPts val="1500"/>
              <a:buFont typeface="Arial"/>
              <a:buNone/>
            </a:pPr>
            <a:r>
              <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i="0" lang="en-GB" sz="1500" u="none" cap="none" strike="noStrike">
                <a:solidFill>
                  <a:schemeClr val="lt1"/>
                </a:solidFill>
                <a:latin typeface="Asap"/>
                <a:ea typeface="Asap"/>
                <a:cs typeface="Asap"/>
                <a:sym typeface="Asap"/>
              </a:rPr>
              <a:t>Valorile sunt centrate și măsurate în „câte deviații standard” sunt de la medie.</a:t>
            </a:r>
            <a:endParaRPr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Pro: mai robust la outlieri decât Min-Max.</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Contra: nu garantează valori între 0 și 1.</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1" i="0" sz="1100" u="none" cap="none" strike="noStrike">
              <a:solidFill>
                <a:schemeClr val="lt1"/>
              </a:solidFill>
              <a:latin typeface="Asap"/>
              <a:ea typeface="Asap"/>
              <a:cs typeface="Asap"/>
              <a:sym typeface="Asap"/>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pic>
        <p:nvPicPr>
          <p:cNvPr descr="preencoded.png" id="254" name="Google Shape;254;p35"/>
          <p:cNvPicPr preferRelativeResize="0"/>
          <p:nvPr/>
        </p:nvPicPr>
        <p:blipFill rotWithShape="1">
          <a:blip r:embed="rId3">
            <a:alphaModFix/>
          </a:blip>
          <a:srcRect b="0" l="0" r="0" t="0"/>
          <a:stretch/>
        </p:blipFill>
        <p:spPr>
          <a:xfrm>
            <a:off x="4348165" y="0"/>
            <a:ext cx="4795832" cy="5143500"/>
          </a:xfrm>
          <a:prstGeom prst="rect">
            <a:avLst/>
          </a:prstGeom>
          <a:noFill/>
          <a:ln>
            <a:noFill/>
          </a:ln>
        </p:spPr>
      </p:pic>
      <p:pic>
        <p:nvPicPr>
          <p:cNvPr descr="preencoded.png" id="255" name="Google Shape;255;p35"/>
          <p:cNvPicPr preferRelativeResize="0"/>
          <p:nvPr/>
        </p:nvPicPr>
        <p:blipFill rotWithShape="1">
          <a:blip r:embed="rId4">
            <a:alphaModFix/>
          </a:blip>
          <a:srcRect b="0" l="0" r="0" t="0"/>
          <a:stretch/>
        </p:blipFill>
        <p:spPr>
          <a:xfrm>
            <a:off x="223838" y="1724025"/>
            <a:ext cx="8920163" cy="3419475"/>
          </a:xfrm>
          <a:prstGeom prst="rect">
            <a:avLst/>
          </a:prstGeom>
          <a:noFill/>
          <a:ln>
            <a:noFill/>
          </a:ln>
        </p:spPr>
      </p:pic>
      <p:pic>
        <p:nvPicPr>
          <p:cNvPr descr="preencoded.png" id="256" name="Google Shape;256;p35"/>
          <p:cNvPicPr preferRelativeResize="0"/>
          <p:nvPr/>
        </p:nvPicPr>
        <p:blipFill rotWithShape="1">
          <a:blip r:embed="rId5">
            <a:alphaModFix/>
          </a:blip>
          <a:srcRect b="0" l="0" r="0" t="0"/>
          <a:stretch/>
        </p:blipFill>
        <p:spPr>
          <a:xfrm>
            <a:off x="638175" y="322985"/>
            <a:ext cx="1066800" cy="516083"/>
          </a:xfrm>
          <a:prstGeom prst="rect">
            <a:avLst/>
          </a:prstGeom>
          <a:noFill/>
          <a:ln>
            <a:noFill/>
          </a:ln>
        </p:spPr>
      </p:pic>
      <p:sp>
        <p:nvSpPr>
          <p:cNvPr id="257" name="Google Shape;257;p35"/>
          <p:cNvSpPr/>
          <p:nvPr/>
        </p:nvSpPr>
        <p:spPr>
          <a:xfrm>
            <a:off x="223863" y="1259000"/>
            <a:ext cx="8010600" cy="595500"/>
          </a:xfrm>
          <a:prstGeom prst="rect">
            <a:avLst/>
          </a:prstGeom>
          <a:noFill/>
          <a:ln>
            <a:noFill/>
          </a:ln>
          <a:effectLst>
            <a:outerShdw blurRad="42863" rotWithShape="0" algn="bl" dir="5400000" dist="14288">
              <a:srgbClr val="000000"/>
            </a:outerShdw>
          </a:effectLst>
        </p:spPr>
        <p:txBody>
          <a:bodyPr anchorCtr="0" anchor="t" bIns="0" lIns="0" spcFirstLastPara="1" rIns="0" wrap="square" tIns="0">
            <a:noAutofit/>
          </a:bodyPr>
          <a:lstStyle/>
          <a:p>
            <a:pPr indent="0" lvl="0" marL="0" marR="0" rtl="0" algn="l">
              <a:lnSpc>
                <a:spcPct val="124898"/>
              </a:lnSpc>
              <a:spcBef>
                <a:spcPts val="0"/>
              </a:spcBef>
              <a:spcAft>
                <a:spcPts val="0"/>
              </a:spcAft>
              <a:buClr>
                <a:srgbClr val="FFFF01"/>
              </a:buClr>
              <a:buSzPts val="3700"/>
              <a:buFont typeface="Asap"/>
              <a:buNone/>
            </a:pPr>
            <a:r>
              <a:rPr b="1" i="0" lang="en-GB" sz="2600" u="none" cap="none" strike="noStrike">
                <a:solidFill>
                  <a:srgbClr val="FFFF01"/>
                </a:solidFill>
                <a:latin typeface="Asap"/>
                <a:ea typeface="Asap"/>
                <a:cs typeface="Asap"/>
                <a:sym typeface="Asap"/>
              </a:rPr>
              <a:t>Scalarea variabilelor</a:t>
            </a:r>
            <a:endParaRPr b="0" i="0" sz="2600" u="none" cap="none" strike="noStrike">
              <a:solidFill>
                <a:schemeClr val="dk1"/>
              </a:solidFill>
              <a:latin typeface="Calibri"/>
              <a:ea typeface="Calibri"/>
              <a:cs typeface="Calibri"/>
              <a:sym typeface="Calibri"/>
            </a:endParaRPr>
          </a:p>
        </p:txBody>
      </p:sp>
      <p:sp>
        <p:nvSpPr>
          <p:cNvPr id="258" name="Google Shape;258;p35"/>
          <p:cNvSpPr/>
          <p:nvPr/>
        </p:nvSpPr>
        <p:spPr>
          <a:xfrm>
            <a:off x="305700" y="1956351"/>
            <a:ext cx="7595400" cy="27744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2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b="1" i="0" lang="en-GB" sz="1500" u="none" cap="none" strike="noStrike">
                <a:solidFill>
                  <a:schemeClr val="lt1"/>
                </a:solidFill>
                <a:latin typeface="Asap"/>
                <a:ea typeface="Asap"/>
                <a:cs typeface="Asap"/>
                <a:sym typeface="Asap"/>
              </a:rPr>
              <a:t>Min-Max vs Scalare Standard</a:t>
            </a:r>
            <a:endParaRPr b="1"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Exemplu: Pret bilet in setul de date titanic = 7.25 →</a:t>
            </a:r>
            <a:endParaRPr b="0" i="0" sz="1500" u="none" cap="none" strike="noStrike">
              <a:solidFill>
                <a:schemeClr val="lt1"/>
              </a:solidFill>
              <a:latin typeface="Asap"/>
              <a:ea typeface="Asap"/>
              <a:cs typeface="Asap"/>
              <a:sym typeface="Asap"/>
            </a:endParaRPr>
          </a:p>
          <a:p>
            <a:pPr indent="-323850" lvl="0" marL="914400" marR="0" rtl="0" algn="l">
              <a:lnSpc>
                <a:spcPct val="100000"/>
              </a:lnSpc>
              <a:spcBef>
                <a:spcPts val="0"/>
              </a:spcBef>
              <a:spcAft>
                <a:spcPts val="0"/>
              </a:spcAft>
              <a:buClr>
                <a:schemeClr val="lt1"/>
              </a:buClr>
              <a:buSzPts val="1500"/>
              <a:buFont typeface="Asap"/>
              <a:buChar char="●"/>
            </a:pPr>
            <a:r>
              <a:rPr b="1" i="0" lang="en-GB" sz="1500" u="none" cap="none" strike="noStrike">
                <a:solidFill>
                  <a:schemeClr val="lt1"/>
                </a:solidFill>
                <a:latin typeface="Asap"/>
                <a:ea typeface="Asap"/>
                <a:cs typeface="Asap"/>
                <a:sym typeface="Asap"/>
              </a:rPr>
              <a:t>Min-Max</a:t>
            </a:r>
            <a:r>
              <a:rPr b="0" i="0" lang="en-GB" sz="1500" u="none" cap="none" strike="noStrike">
                <a:solidFill>
                  <a:schemeClr val="lt1"/>
                </a:solidFill>
                <a:latin typeface="Asap"/>
                <a:ea typeface="Asap"/>
                <a:cs typeface="Asap"/>
                <a:sym typeface="Asap"/>
              </a:rPr>
              <a:t> = 0.014 → foarte mic față de maxim.</a:t>
            </a:r>
            <a:endParaRPr b="0" i="0" sz="1500" u="none" cap="none" strike="noStrike">
              <a:solidFill>
                <a:schemeClr val="lt1"/>
              </a:solidFill>
              <a:latin typeface="Asap"/>
              <a:ea typeface="Asap"/>
              <a:cs typeface="Asap"/>
              <a:sym typeface="Asap"/>
            </a:endParaRPr>
          </a:p>
          <a:p>
            <a:pPr indent="-323850" lvl="0" marL="914400" marR="0" rtl="0" algn="l">
              <a:lnSpc>
                <a:spcPct val="100000"/>
              </a:lnSpc>
              <a:spcBef>
                <a:spcPts val="0"/>
              </a:spcBef>
              <a:spcAft>
                <a:spcPts val="0"/>
              </a:spcAft>
              <a:buClr>
                <a:schemeClr val="lt1"/>
              </a:buClr>
              <a:buSzPts val="1500"/>
              <a:buFont typeface="Asap"/>
              <a:buChar char="●"/>
            </a:pPr>
            <a:r>
              <a:rPr b="1" lang="en-GB" sz="1500">
                <a:solidFill>
                  <a:schemeClr val="lt1"/>
                </a:solidFill>
                <a:latin typeface="Asap"/>
                <a:ea typeface="Asap"/>
                <a:cs typeface="Asap"/>
                <a:sym typeface="Asap"/>
              </a:rPr>
              <a:t>StandardScaler</a:t>
            </a:r>
            <a:r>
              <a:rPr b="1" i="0" lang="en-GB" sz="1500" u="none" cap="none" strike="noStrike">
                <a:solidFill>
                  <a:schemeClr val="lt1"/>
                </a:solidFill>
                <a:latin typeface="Asap"/>
                <a:ea typeface="Asap"/>
                <a:cs typeface="Asap"/>
                <a:sym typeface="Asap"/>
              </a:rPr>
              <a:t> </a:t>
            </a:r>
            <a:r>
              <a:rPr b="0" i="0" lang="en-GB" sz="1500" u="none" cap="none" strike="noStrike">
                <a:solidFill>
                  <a:schemeClr val="lt1"/>
                </a:solidFill>
                <a:latin typeface="Asap"/>
                <a:ea typeface="Asap"/>
                <a:cs typeface="Asap"/>
                <a:sym typeface="Asap"/>
              </a:rPr>
              <a:t>= </a:t>
            </a:r>
            <a:r>
              <a:rPr lang="en-GB" sz="1500">
                <a:solidFill>
                  <a:schemeClr val="lt1"/>
                </a:solidFill>
                <a:latin typeface="Asap"/>
                <a:ea typeface="Asap"/>
                <a:cs typeface="Asap"/>
                <a:sym typeface="Asap"/>
              </a:rPr>
              <a:t>-0.5</a:t>
            </a:r>
            <a:r>
              <a:rPr b="0" i="0" lang="en-GB" sz="1500" u="none" cap="none" strike="noStrike">
                <a:solidFill>
                  <a:schemeClr val="lt1"/>
                </a:solidFill>
                <a:latin typeface="Asap"/>
                <a:ea typeface="Asap"/>
                <a:cs typeface="Asap"/>
                <a:sym typeface="Asap"/>
              </a:rPr>
              <a:t> → </a:t>
            </a:r>
            <a:r>
              <a:rPr lang="en-GB" sz="1500">
                <a:solidFill>
                  <a:schemeClr val="lt1"/>
                </a:solidFill>
                <a:latin typeface="Asap"/>
                <a:ea typeface="Asap"/>
                <a:cs typeface="Asap"/>
                <a:sym typeface="Asap"/>
              </a:rPr>
              <a:t>puțin sub medie (media e 0)</a:t>
            </a:r>
            <a:endParaRPr sz="1500">
              <a:solidFill>
                <a:schemeClr val="lt1"/>
              </a:solidFill>
              <a:latin typeface="Asap"/>
              <a:ea typeface="Asap"/>
              <a:cs typeface="Asap"/>
              <a:sym typeface="Asap"/>
            </a:endParaRPr>
          </a:p>
          <a:p>
            <a:pPr indent="0" lvl="0" marL="457200" marR="0" rtl="0" algn="l">
              <a:lnSpc>
                <a:spcPct val="100000"/>
              </a:lnSpc>
              <a:spcBef>
                <a:spcPts val="0"/>
              </a:spcBef>
              <a:spcAft>
                <a:spcPts val="0"/>
              </a:spcAft>
              <a:buNone/>
            </a:pPr>
            <a:r>
              <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Diferența:</a:t>
            </a:r>
            <a:endParaRPr b="0" i="0" sz="1500" u="none" cap="none" strike="noStrike">
              <a:solidFill>
                <a:schemeClr val="lt1"/>
              </a:solidFill>
              <a:latin typeface="Asap"/>
              <a:ea typeface="Asap"/>
              <a:cs typeface="Asap"/>
              <a:sym typeface="Asap"/>
            </a:endParaRPr>
          </a:p>
          <a:p>
            <a:pPr indent="-323850" lvl="0" marL="914400" marR="0" rtl="0" algn="l">
              <a:lnSpc>
                <a:spcPct val="100000"/>
              </a:lnSpc>
              <a:spcBef>
                <a:spcPts val="0"/>
              </a:spcBef>
              <a:spcAft>
                <a:spcPts val="0"/>
              </a:spcAft>
              <a:buClr>
                <a:schemeClr val="lt1"/>
              </a:buClr>
              <a:buSzPts val="1500"/>
              <a:buFont typeface="Asap"/>
              <a:buChar char="●"/>
            </a:pPr>
            <a:r>
              <a:rPr b="0" i="0" lang="en-GB" sz="1500" u="none" cap="none" strike="noStrike">
                <a:solidFill>
                  <a:schemeClr val="lt1"/>
                </a:solidFill>
                <a:latin typeface="Asap"/>
                <a:ea typeface="Asap"/>
                <a:cs typeface="Asap"/>
                <a:sym typeface="Asap"/>
              </a:rPr>
              <a:t>Min-Max compară față de minimul și maximul posibil.</a:t>
            </a:r>
            <a:endParaRPr b="0" i="0" sz="1500" u="none" cap="none" strike="noStrike">
              <a:solidFill>
                <a:schemeClr val="lt1"/>
              </a:solidFill>
              <a:latin typeface="Asap"/>
              <a:ea typeface="Asap"/>
              <a:cs typeface="Asap"/>
              <a:sym typeface="Asap"/>
            </a:endParaRPr>
          </a:p>
          <a:p>
            <a:pPr indent="-323850" lvl="0" marL="914400" marR="0" rtl="0" algn="l">
              <a:lnSpc>
                <a:spcPct val="100000"/>
              </a:lnSpc>
              <a:spcBef>
                <a:spcPts val="0"/>
              </a:spcBef>
              <a:spcAft>
                <a:spcPts val="0"/>
              </a:spcAft>
              <a:buClr>
                <a:schemeClr val="lt1"/>
              </a:buClr>
              <a:buSzPts val="1500"/>
              <a:buFont typeface="Asap"/>
              <a:buChar char="●"/>
            </a:pPr>
            <a:r>
              <a:rPr b="0" i="0" lang="en-GB" sz="1500" u="none" cap="none" strike="noStrike">
                <a:solidFill>
                  <a:schemeClr val="lt1"/>
                </a:solidFill>
                <a:latin typeface="Asap"/>
                <a:ea typeface="Asap"/>
                <a:cs typeface="Asap"/>
                <a:sym typeface="Asap"/>
              </a:rPr>
              <a:t>StandardScaler compară față de medie și variație.</a:t>
            </a:r>
            <a:endParaRPr b="0" i="0" sz="15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chemeClr val="dk1"/>
              </a:buClr>
              <a:buSzPts val="1400"/>
              <a:buFont typeface="Arial"/>
              <a:buNone/>
            </a:pPr>
            <a:r>
              <a:t/>
            </a:r>
            <a:endParaRPr b="1" i="0" sz="1100" u="none" cap="none" strike="noStrike">
              <a:solidFill>
                <a:schemeClr val="lt1"/>
              </a:solidFill>
              <a:latin typeface="Asap"/>
              <a:ea typeface="Asap"/>
              <a:cs typeface="Asap"/>
              <a:sym typeface="Asap"/>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pic>
        <p:nvPicPr>
          <p:cNvPr descr="preencoded.png" id="264" name="Google Shape;264;p36"/>
          <p:cNvPicPr preferRelativeResize="0"/>
          <p:nvPr/>
        </p:nvPicPr>
        <p:blipFill rotWithShape="1">
          <a:blip r:embed="rId3">
            <a:alphaModFix/>
          </a:blip>
          <a:srcRect b="0" l="0" r="0" t="0"/>
          <a:stretch/>
        </p:blipFill>
        <p:spPr>
          <a:xfrm>
            <a:off x="4348165" y="0"/>
            <a:ext cx="4795832" cy="5143500"/>
          </a:xfrm>
          <a:prstGeom prst="rect">
            <a:avLst/>
          </a:prstGeom>
          <a:noFill/>
          <a:ln>
            <a:noFill/>
          </a:ln>
        </p:spPr>
      </p:pic>
      <p:pic>
        <p:nvPicPr>
          <p:cNvPr descr="preencoded.png" id="265" name="Google Shape;265;p36"/>
          <p:cNvPicPr preferRelativeResize="0"/>
          <p:nvPr/>
        </p:nvPicPr>
        <p:blipFill rotWithShape="1">
          <a:blip r:embed="rId4">
            <a:alphaModFix/>
          </a:blip>
          <a:srcRect b="0" l="0" r="0" t="0"/>
          <a:stretch/>
        </p:blipFill>
        <p:spPr>
          <a:xfrm>
            <a:off x="223838" y="1724025"/>
            <a:ext cx="8920163" cy="3419475"/>
          </a:xfrm>
          <a:prstGeom prst="rect">
            <a:avLst/>
          </a:prstGeom>
          <a:noFill/>
          <a:ln>
            <a:noFill/>
          </a:ln>
        </p:spPr>
      </p:pic>
      <p:pic>
        <p:nvPicPr>
          <p:cNvPr descr="preencoded.png" id="266" name="Google Shape;266;p36"/>
          <p:cNvPicPr preferRelativeResize="0"/>
          <p:nvPr/>
        </p:nvPicPr>
        <p:blipFill rotWithShape="1">
          <a:blip r:embed="rId5">
            <a:alphaModFix/>
          </a:blip>
          <a:srcRect b="0" l="0" r="0" t="0"/>
          <a:stretch/>
        </p:blipFill>
        <p:spPr>
          <a:xfrm>
            <a:off x="638175" y="322985"/>
            <a:ext cx="1066800" cy="516083"/>
          </a:xfrm>
          <a:prstGeom prst="rect">
            <a:avLst/>
          </a:prstGeom>
          <a:noFill/>
          <a:ln>
            <a:noFill/>
          </a:ln>
        </p:spPr>
      </p:pic>
      <p:sp>
        <p:nvSpPr>
          <p:cNvPr id="267" name="Google Shape;267;p36"/>
          <p:cNvSpPr/>
          <p:nvPr/>
        </p:nvSpPr>
        <p:spPr>
          <a:xfrm>
            <a:off x="223863" y="1259000"/>
            <a:ext cx="8010600" cy="595500"/>
          </a:xfrm>
          <a:prstGeom prst="rect">
            <a:avLst/>
          </a:prstGeom>
          <a:noFill/>
          <a:ln>
            <a:noFill/>
          </a:ln>
          <a:effectLst>
            <a:outerShdw blurRad="42863" rotWithShape="0" algn="bl" dir="5400000" dist="14288">
              <a:srgbClr val="000000"/>
            </a:outerShdw>
          </a:effectLst>
        </p:spPr>
        <p:txBody>
          <a:bodyPr anchorCtr="0" anchor="t" bIns="0" lIns="0" spcFirstLastPara="1" rIns="0" wrap="square" tIns="0">
            <a:noAutofit/>
          </a:bodyPr>
          <a:lstStyle/>
          <a:p>
            <a:pPr indent="0" lvl="0" marL="0" marR="0" rtl="0" algn="l">
              <a:lnSpc>
                <a:spcPct val="124898"/>
              </a:lnSpc>
              <a:spcBef>
                <a:spcPts val="0"/>
              </a:spcBef>
              <a:spcAft>
                <a:spcPts val="0"/>
              </a:spcAft>
              <a:buClr>
                <a:srgbClr val="FFFF01"/>
              </a:buClr>
              <a:buSzPts val="3700"/>
              <a:buFont typeface="Asap"/>
              <a:buNone/>
            </a:pPr>
            <a:r>
              <a:rPr b="1" i="0" lang="en-GB" sz="2400" u="none" cap="none" strike="noStrike">
                <a:solidFill>
                  <a:srgbClr val="FFFF01"/>
                </a:solidFill>
                <a:latin typeface="Asap"/>
                <a:ea typeface="Asap"/>
                <a:cs typeface="Asap"/>
                <a:sym typeface="Asap"/>
              </a:rPr>
              <a:t>Transformarea datelor categorice</a:t>
            </a:r>
            <a:endParaRPr b="0" i="0" sz="2400" u="none" cap="none" strike="noStrike">
              <a:solidFill>
                <a:schemeClr val="dk1"/>
              </a:solidFill>
              <a:latin typeface="Calibri"/>
              <a:ea typeface="Calibri"/>
              <a:cs typeface="Calibri"/>
              <a:sym typeface="Calibri"/>
            </a:endParaRPr>
          </a:p>
        </p:txBody>
      </p:sp>
      <p:sp>
        <p:nvSpPr>
          <p:cNvPr id="268" name="Google Shape;268;p36"/>
          <p:cNvSpPr/>
          <p:nvPr/>
        </p:nvSpPr>
        <p:spPr>
          <a:xfrm>
            <a:off x="342775" y="1854500"/>
            <a:ext cx="7595400" cy="22125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2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b="1" i="0" lang="en-GB" sz="1500" u="none" cap="none" strike="noStrike">
                <a:solidFill>
                  <a:schemeClr val="lt1"/>
                </a:solidFill>
                <a:latin typeface="Asap"/>
                <a:ea typeface="Asap"/>
                <a:cs typeface="Asap"/>
                <a:sym typeface="Asap"/>
              </a:rPr>
              <a:t>Ce sunt datele categorice și de ce le transformăm?</a:t>
            </a:r>
            <a:endParaRPr b="1"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b="1"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b="0" i="0" lang="en-GB" sz="1500" u="none" cap="none" strike="noStrike">
                <a:solidFill>
                  <a:schemeClr val="lt1"/>
                </a:solidFill>
                <a:latin typeface="Asap"/>
                <a:ea typeface="Asap"/>
                <a:cs typeface="Asap"/>
                <a:sym typeface="Asap"/>
              </a:rPr>
              <a:t>🧠 Modelele ML lucrează doar cu numere, nu cu text.</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b="0" i="0" lang="en-GB" sz="1500" u="none" cap="none" strike="noStrike">
                <a:solidFill>
                  <a:schemeClr val="lt1"/>
                </a:solidFill>
                <a:latin typeface="Asap"/>
                <a:ea typeface="Asap"/>
                <a:cs typeface="Asap"/>
                <a:sym typeface="Asap"/>
              </a:rPr>
              <a:t>🔤 Valorile precum male, female</a:t>
            </a:r>
            <a:r>
              <a:rPr lang="en-GB" sz="1500">
                <a:solidFill>
                  <a:schemeClr val="lt1"/>
                </a:solidFill>
                <a:latin typeface="Asap"/>
                <a:ea typeface="Asap"/>
                <a:cs typeface="Asap"/>
                <a:sym typeface="Asap"/>
              </a:rPr>
              <a:t> </a:t>
            </a:r>
            <a:r>
              <a:rPr b="0" i="0" lang="en-GB" sz="1500" u="none" cap="none" strike="noStrike">
                <a:solidFill>
                  <a:schemeClr val="lt1"/>
                </a:solidFill>
                <a:latin typeface="Asap"/>
                <a:ea typeface="Asap"/>
                <a:cs typeface="Asap"/>
                <a:sym typeface="Asap"/>
              </a:rPr>
              <a:t>→ trebuie transformate.</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b="0" i="0" lang="en-GB" sz="1500" u="none" cap="none" strike="noStrike">
                <a:solidFill>
                  <a:schemeClr val="lt1"/>
                </a:solidFill>
                <a:latin typeface="Asap"/>
                <a:ea typeface="Asap"/>
                <a:cs typeface="Asap"/>
                <a:sym typeface="Asap"/>
              </a:rPr>
              <a:t>🔢 Label Encoding → categorie = un număr.</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b="0" i="0" sz="1100" u="none" cap="none" strike="noStrike">
              <a:solidFill>
                <a:schemeClr val="lt1"/>
              </a:solidFill>
              <a:latin typeface="Asap"/>
              <a:ea typeface="Asap"/>
              <a:cs typeface="Asap"/>
              <a:sym typeface="Asap"/>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descr="preencoded.png" id="274" name="Google Shape;274;p37"/>
          <p:cNvPicPr preferRelativeResize="0"/>
          <p:nvPr/>
        </p:nvPicPr>
        <p:blipFill rotWithShape="1">
          <a:blip r:embed="rId3">
            <a:alphaModFix/>
          </a:blip>
          <a:srcRect b="0" l="0" r="0" t="0"/>
          <a:stretch/>
        </p:blipFill>
        <p:spPr>
          <a:xfrm>
            <a:off x="4348165" y="0"/>
            <a:ext cx="4795832" cy="5143500"/>
          </a:xfrm>
          <a:prstGeom prst="rect">
            <a:avLst/>
          </a:prstGeom>
          <a:noFill/>
          <a:ln>
            <a:noFill/>
          </a:ln>
        </p:spPr>
      </p:pic>
      <p:pic>
        <p:nvPicPr>
          <p:cNvPr descr="preencoded.png" id="275" name="Google Shape;275;p37"/>
          <p:cNvPicPr preferRelativeResize="0"/>
          <p:nvPr/>
        </p:nvPicPr>
        <p:blipFill rotWithShape="1">
          <a:blip r:embed="rId4">
            <a:alphaModFix/>
          </a:blip>
          <a:srcRect b="0" l="0" r="0" t="0"/>
          <a:stretch/>
        </p:blipFill>
        <p:spPr>
          <a:xfrm>
            <a:off x="223838" y="1724025"/>
            <a:ext cx="8920163" cy="3419475"/>
          </a:xfrm>
          <a:prstGeom prst="rect">
            <a:avLst/>
          </a:prstGeom>
          <a:noFill/>
          <a:ln>
            <a:noFill/>
          </a:ln>
        </p:spPr>
      </p:pic>
      <p:pic>
        <p:nvPicPr>
          <p:cNvPr descr="preencoded.png" id="276" name="Google Shape;276;p37"/>
          <p:cNvPicPr preferRelativeResize="0"/>
          <p:nvPr/>
        </p:nvPicPr>
        <p:blipFill rotWithShape="1">
          <a:blip r:embed="rId5">
            <a:alphaModFix/>
          </a:blip>
          <a:srcRect b="0" l="0" r="0" t="0"/>
          <a:stretch/>
        </p:blipFill>
        <p:spPr>
          <a:xfrm>
            <a:off x="638175" y="322985"/>
            <a:ext cx="1066800" cy="516083"/>
          </a:xfrm>
          <a:prstGeom prst="rect">
            <a:avLst/>
          </a:prstGeom>
          <a:noFill/>
          <a:ln>
            <a:noFill/>
          </a:ln>
        </p:spPr>
      </p:pic>
      <p:sp>
        <p:nvSpPr>
          <p:cNvPr id="277" name="Google Shape;277;p37"/>
          <p:cNvSpPr/>
          <p:nvPr/>
        </p:nvSpPr>
        <p:spPr>
          <a:xfrm>
            <a:off x="223863" y="1259000"/>
            <a:ext cx="8010600" cy="595500"/>
          </a:xfrm>
          <a:prstGeom prst="rect">
            <a:avLst/>
          </a:prstGeom>
          <a:noFill/>
          <a:ln>
            <a:noFill/>
          </a:ln>
          <a:effectLst>
            <a:outerShdw blurRad="42863" rotWithShape="0" algn="bl" dir="5400000" dist="14288">
              <a:srgbClr val="000000"/>
            </a:outerShdw>
          </a:effectLst>
        </p:spPr>
        <p:txBody>
          <a:bodyPr anchorCtr="0" anchor="t" bIns="0" lIns="0" spcFirstLastPara="1" rIns="0" wrap="square" tIns="0">
            <a:noAutofit/>
          </a:bodyPr>
          <a:lstStyle/>
          <a:p>
            <a:pPr indent="0" lvl="0" marL="0" marR="0" rtl="0" algn="l">
              <a:lnSpc>
                <a:spcPct val="124898"/>
              </a:lnSpc>
              <a:spcBef>
                <a:spcPts val="0"/>
              </a:spcBef>
              <a:spcAft>
                <a:spcPts val="0"/>
              </a:spcAft>
              <a:buClr>
                <a:srgbClr val="FFFF01"/>
              </a:buClr>
              <a:buSzPts val="3700"/>
              <a:buFont typeface="Asap"/>
              <a:buNone/>
            </a:pPr>
            <a:r>
              <a:rPr b="1" i="0" lang="en-GB" sz="2400" u="none" cap="none" strike="noStrike">
                <a:solidFill>
                  <a:srgbClr val="FFFF01"/>
                </a:solidFill>
                <a:latin typeface="Asap"/>
                <a:ea typeface="Asap"/>
                <a:cs typeface="Asap"/>
                <a:sym typeface="Asap"/>
              </a:rPr>
              <a:t>Transformarea datelor categorice</a:t>
            </a:r>
            <a:endParaRPr b="0" i="0" sz="2400" u="none" cap="none" strike="noStrike">
              <a:solidFill>
                <a:schemeClr val="dk1"/>
              </a:solidFill>
              <a:latin typeface="Calibri"/>
              <a:ea typeface="Calibri"/>
              <a:cs typeface="Calibri"/>
              <a:sym typeface="Calibri"/>
            </a:endParaRPr>
          </a:p>
        </p:txBody>
      </p:sp>
      <p:sp>
        <p:nvSpPr>
          <p:cNvPr id="278" name="Google Shape;278;p37"/>
          <p:cNvSpPr/>
          <p:nvPr/>
        </p:nvSpPr>
        <p:spPr>
          <a:xfrm>
            <a:off x="342775" y="1854500"/>
            <a:ext cx="8282700" cy="22125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2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b="1" lang="en-GB" sz="1500">
                <a:solidFill>
                  <a:schemeClr val="lt1"/>
                </a:solidFill>
                <a:latin typeface="Asap"/>
                <a:ea typeface="Asap"/>
                <a:cs typeface="Asap"/>
                <a:sym typeface="Asap"/>
              </a:rPr>
              <a:t>Label Encoding</a:t>
            </a:r>
            <a:endParaRPr b="1"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b="0" i="0" lang="en-GB" sz="1500" u="none" cap="none" strike="noStrike">
                <a:solidFill>
                  <a:schemeClr val="lt1"/>
                </a:solidFill>
                <a:latin typeface="Asap"/>
                <a:ea typeface="Asap"/>
                <a:cs typeface="Asap"/>
                <a:sym typeface="Asap"/>
              </a:rPr>
              <a:t>🔢 Label Encoding → categorie = un număr.</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lang="en-GB" sz="1500">
                <a:solidFill>
                  <a:schemeClr val="lt1"/>
                </a:solidFill>
                <a:latin typeface="Asap"/>
                <a:ea typeface="Asap"/>
                <a:cs typeface="Asap"/>
                <a:sym typeface="Asap"/>
              </a:rPr>
              <a:t>   </a:t>
            </a:r>
            <a:r>
              <a:rPr b="1" lang="en-GB" sz="1500">
                <a:solidFill>
                  <a:schemeClr val="lt1"/>
                </a:solidFill>
                <a:latin typeface="Asap"/>
                <a:ea typeface="Asap"/>
                <a:cs typeface="Asap"/>
                <a:sym typeface="Asap"/>
              </a:rPr>
              <a:t>Ex</a:t>
            </a:r>
            <a:r>
              <a:rPr lang="en-GB" sz="1500">
                <a:solidFill>
                  <a:schemeClr val="lt1"/>
                </a:solidFill>
                <a:latin typeface="Asap"/>
                <a:ea typeface="Asap"/>
                <a:cs typeface="Asap"/>
                <a:sym typeface="Asap"/>
              </a:rPr>
              <a:t>.</a:t>
            </a:r>
            <a:endParaRPr sz="1500">
              <a:solidFill>
                <a:schemeClr val="lt1"/>
              </a:solidFill>
              <a:latin typeface="Asap"/>
              <a:ea typeface="Asap"/>
              <a:cs typeface="Asap"/>
              <a:sym typeface="Asap"/>
            </a:endParaRPr>
          </a:p>
          <a:p>
            <a:pPr indent="-323850" lvl="0" marL="457200" marR="0" rtl="0" algn="l">
              <a:lnSpc>
                <a:spcPct val="100000"/>
              </a:lnSpc>
              <a:spcBef>
                <a:spcPts val="0"/>
              </a:spcBef>
              <a:spcAft>
                <a:spcPts val="0"/>
              </a:spcAft>
              <a:buClr>
                <a:schemeClr val="lt1"/>
              </a:buClr>
              <a:buSzPts val="1500"/>
              <a:buFont typeface="Asap"/>
              <a:buChar char="-"/>
            </a:pPr>
            <a:r>
              <a:rPr lang="en-GB" sz="1500">
                <a:solidFill>
                  <a:schemeClr val="lt1"/>
                </a:solidFill>
                <a:latin typeface="Asap"/>
                <a:ea typeface="Asap"/>
                <a:cs typeface="Asap"/>
                <a:sym typeface="Asap"/>
              </a:rPr>
              <a:t>Male -&gt; 0</a:t>
            </a:r>
            <a:endParaRPr sz="1500">
              <a:solidFill>
                <a:schemeClr val="lt1"/>
              </a:solidFill>
              <a:latin typeface="Asap"/>
              <a:ea typeface="Asap"/>
              <a:cs typeface="Asap"/>
              <a:sym typeface="Asap"/>
            </a:endParaRPr>
          </a:p>
          <a:p>
            <a:pPr indent="-323850" lvl="0" marL="457200" marR="0" rtl="0" algn="l">
              <a:lnSpc>
                <a:spcPct val="100000"/>
              </a:lnSpc>
              <a:spcBef>
                <a:spcPts val="0"/>
              </a:spcBef>
              <a:spcAft>
                <a:spcPts val="0"/>
              </a:spcAft>
              <a:buClr>
                <a:schemeClr val="lt1"/>
              </a:buClr>
              <a:buSzPts val="1500"/>
              <a:buFont typeface="Asap"/>
              <a:buChar char="-"/>
            </a:pPr>
            <a:r>
              <a:rPr lang="en-GB" sz="1500">
                <a:solidFill>
                  <a:schemeClr val="lt1"/>
                </a:solidFill>
                <a:latin typeface="Asap"/>
                <a:ea typeface="Asap"/>
                <a:cs typeface="Asap"/>
                <a:sym typeface="Asap"/>
              </a:rPr>
              <a:t>Female -&gt; 1</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None/>
            </a:pPr>
            <a:r>
              <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None/>
            </a:pPr>
            <a:r>
              <a:rPr b="1" lang="en-GB" sz="1500">
                <a:solidFill>
                  <a:srgbClr val="FF0000"/>
                </a:solidFill>
                <a:latin typeface="Asap"/>
                <a:ea typeface="Asap"/>
                <a:cs typeface="Asap"/>
                <a:sym typeface="Asap"/>
              </a:rPr>
              <a:t>Problema</a:t>
            </a:r>
            <a:r>
              <a:rPr lang="en-GB" sz="1500">
                <a:solidFill>
                  <a:schemeClr val="lt1"/>
                </a:solidFill>
                <a:latin typeface="Asap"/>
                <a:ea typeface="Asap"/>
                <a:cs typeface="Asap"/>
                <a:sym typeface="Asap"/>
              </a:rPr>
              <a:t>: Modelul poate “crede” ca 1 &gt; 0, adica exista o ordine, chiar daca e doar un naming</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None/>
            </a:pPr>
            <a:r>
              <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None/>
            </a:pPr>
            <a:r>
              <a:rPr lang="en-GB" sz="1500">
                <a:solidFill>
                  <a:schemeClr val="lt1"/>
                </a:solidFill>
                <a:latin typeface="Asap"/>
                <a:ea typeface="Asap"/>
                <a:cs typeface="Asap"/>
                <a:sym typeface="Asap"/>
              </a:rPr>
              <a:t>df[“Sex”].</a:t>
            </a:r>
            <a:r>
              <a:rPr b="1" lang="en-GB" sz="1500">
                <a:solidFill>
                  <a:schemeClr val="lt1"/>
                </a:solidFill>
                <a:latin typeface="Asap"/>
                <a:ea typeface="Asap"/>
                <a:cs typeface="Asap"/>
                <a:sym typeface="Asap"/>
              </a:rPr>
              <a:t>map</a:t>
            </a:r>
            <a:r>
              <a:rPr lang="en-GB" sz="1500">
                <a:solidFill>
                  <a:schemeClr val="lt1"/>
                </a:solidFill>
                <a:latin typeface="Asap"/>
                <a:ea typeface="Asap"/>
                <a:cs typeface="Asap"/>
                <a:sym typeface="Asap"/>
              </a:rPr>
              <a:t>({“female”: 0, “male”:1})</a:t>
            </a:r>
            <a:endParaRPr sz="1500">
              <a:solidFill>
                <a:schemeClr val="lt1"/>
              </a:solidFill>
              <a:latin typeface="Asap"/>
              <a:ea typeface="Asap"/>
              <a:cs typeface="Asap"/>
              <a:sym typeface="Asap"/>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pic>
        <p:nvPicPr>
          <p:cNvPr descr="preencoded.png" id="284" name="Google Shape;284;p38"/>
          <p:cNvPicPr preferRelativeResize="0"/>
          <p:nvPr/>
        </p:nvPicPr>
        <p:blipFill rotWithShape="1">
          <a:blip r:embed="rId3">
            <a:alphaModFix/>
          </a:blip>
          <a:srcRect b="0" l="0" r="0" t="0"/>
          <a:stretch/>
        </p:blipFill>
        <p:spPr>
          <a:xfrm>
            <a:off x="4348165" y="0"/>
            <a:ext cx="4795832" cy="5143500"/>
          </a:xfrm>
          <a:prstGeom prst="rect">
            <a:avLst/>
          </a:prstGeom>
          <a:noFill/>
          <a:ln>
            <a:noFill/>
          </a:ln>
        </p:spPr>
      </p:pic>
      <p:pic>
        <p:nvPicPr>
          <p:cNvPr descr="preencoded.png" id="285" name="Google Shape;285;p38"/>
          <p:cNvPicPr preferRelativeResize="0"/>
          <p:nvPr/>
        </p:nvPicPr>
        <p:blipFill rotWithShape="1">
          <a:blip r:embed="rId4">
            <a:alphaModFix/>
          </a:blip>
          <a:srcRect b="0" l="0" r="0" t="0"/>
          <a:stretch/>
        </p:blipFill>
        <p:spPr>
          <a:xfrm>
            <a:off x="223838" y="1724025"/>
            <a:ext cx="8920163" cy="3419475"/>
          </a:xfrm>
          <a:prstGeom prst="rect">
            <a:avLst/>
          </a:prstGeom>
          <a:noFill/>
          <a:ln>
            <a:noFill/>
          </a:ln>
        </p:spPr>
      </p:pic>
      <p:pic>
        <p:nvPicPr>
          <p:cNvPr descr="preencoded.png" id="286" name="Google Shape;286;p38"/>
          <p:cNvPicPr preferRelativeResize="0"/>
          <p:nvPr/>
        </p:nvPicPr>
        <p:blipFill rotWithShape="1">
          <a:blip r:embed="rId5">
            <a:alphaModFix/>
          </a:blip>
          <a:srcRect b="0" l="0" r="0" t="0"/>
          <a:stretch/>
        </p:blipFill>
        <p:spPr>
          <a:xfrm>
            <a:off x="638175" y="322985"/>
            <a:ext cx="1066800" cy="516083"/>
          </a:xfrm>
          <a:prstGeom prst="rect">
            <a:avLst/>
          </a:prstGeom>
          <a:noFill/>
          <a:ln>
            <a:noFill/>
          </a:ln>
        </p:spPr>
      </p:pic>
      <p:sp>
        <p:nvSpPr>
          <p:cNvPr id="287" name="Google Shape;287;p38"/>
          <p:cNvSpPr/>
          <p:nvPr/>
        </p:nvSpPr>
        <p:spPr>
          <a:xfrm>
            <a:off x="223863" y="1259000"/>
            <a:ext cx="8010600" cy="595500"/>
          </a:xfrm>
          <a:prstGeom prst="rect">
            <a:avLst/>
          </a:prstGeom>
          <a:noFill/>
          <a:ln>
            <a:noFill/>
          </a:ln>
          <a:effectLst>
            <a:outerShdw blurRad="42863" rotWithShape="0" algn="bl" dir="5400000" dist="14288">
              <a:srgbClr val="000000"/>
            </a:outerShdw>
          </a:effectLst>
        </p:spPr>
        <p:txBody>
          <a:bodyPr anchorCtr="0" anchor="t" bIns="0" lIns="0" spcFirstLastPara="1" rIns="0" wrap="square" tIns="0">
            <a:noAutofit/>
          </a:bodyPr>
          <a:lstStyle/>
          <a:p>
            <a:pPr indent="0" lvl="0" marL="0" marR="0" rtl="0" algn="l">
              <a:lnSpc>
                <a:spcPct val="124898"/>
              </a:lnSpc>
              <a:spcBef>
                <a:spcPts val="0"/>
              </a:spcBef>
              <a:spcAft>
                <a:spcPts val="0"/>
              </a:spcAft>
              <a:buClr>
                <a:srgbClr val="FFFF01"/>
              </a:buClr>
              <a:buSzPts val="3700"/>
              <a:buFont typeface="Asap"/>
              <a:buNone/>
            </a:pPr>
            <a:r>
              <a:rPr b="1" i="0" lang="en-GB" sz="2400" u="none" cap="none" strike="noStrike">
                <a:solidFill>
                  <a:srgbClr val="FFFF01"/>
                </a:solidFill>
                <a:latin typeface="Asap"/>
                <a:ea typeface="Asap"/>
                <a:cs typeface="Asap"/>
                <a:sym typeface="Asap"/>
              </a:rPr>
              <a:t>Transformarea datelor categorice</a:t>
            </a:r>
            <a:endParaRPr b="0" i="0" sz="2400" u="none" cap="none" strike="noStrike">
              <a:solidFill>
                <a:schemeClr val="dk1"/>
              </a:solidFill>
              <a:latin typeface="Calibri"/>
              <a:ea typeface="Calibri"/>
              <a:cs typeface="Calibri"/>
              <a:sym typeface="Calibri"/>
            </a:endParaRPr>
          </a:p>
        </p:txBody>
      </p:sp>
      <p:sp>
        <p:nvSpPr>
          <p:cNvPr id="288" name="Google Shape;288;p38"/>
          <p:cNvSpPr/>
          <p:nvPr/>
        </p:nvSpPr>
        <p:spPr>
          <a:xfrm>
            <a:off x="342775" y="2240263"/>
            <a:ext cx="8282700" cy="22125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2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b="1" lang="en-GB" sz="1500">
                <a:solidFill>
                  <a:schemeClr val="lt1"/>
                </a:solidFill>
                <a:latin typeface="Asap"/>
                <a:ea typeface="Asap"/>
                <a:cs typeface="Asap"/>
                <a:sym typeface="Asap"/>
              </a:rPr>
              <a:t>One-Hot Encoding</a:t>
            </a:r>
            <a:endParaRPr b="1"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b="0" i="0" sz="1500" u="none" cap="none" strike="noStrike">
              <a:solidFill>
                <a:schemeClr val="lt1"/>
              </a:solidFill>
              <a:latin typeface="Asap"/>
              <a:ea typeface="Asap"/>
              <a:cs typeface="Asap"/>
              <a:sym typeface="Asap"/>
            </a:endParaRPr>
          </a:p>
          <a:p>
            <a:pPr indent="0" lvl="0" marL="0" rtl="0" algn="l">
              <a:spcBef>
                <a:spcPts val="0"/>
              </a:spcBef>
              <a:spcAft>
                <a:spcPts val="0"/>
              </a:spcAft>
              <a:buNone/>
            </a:pPr>
            <a:r>
              <a:rPr lang="en-GB" sz="1500">
                <a:solidFill>
                  <a:schemeClr val="lt1"/>
                </a:solidFill>
                <a:latin typeface="Asap"/>
                <a:ea typeface="Asap"/>
                <a:cs typeface="Asap"/>
                <a:sym typeface="Asap"/>
              </a:rPr>
              <a:t>🧩 One-Hot Encoding → o coloană pentru fiecare categorie.</a:t>
            </a:r>
            <a:endParaRPr b="1" sz="1500">
              <a:solidFill>
                <a:schemeClr val="lt1"/>
              </a:solidFill>
              <a:latin typeface="Asap"/>
              <a:ea typeface="Asap"/>
              <a:cs typeface="Asap"/>
              <a:sym typeface="Asap"/>
            </a:endParaRPr>
          </a:p>
          <a:p>
            <a:pPr indent="-323850" lvl="0" marL="457200" marR="0" rtl="0" algn="l">
              <a:lnSpc>
                <a:spcPct val="100000"/>
              </a:lnSpc>
              <a:spcBef>
                <a:spcPts val="0"/>
              </a:spcBef>
              <a:spcAft>
                <a:spcPts val="0"/>
              </a:spcAft>
              <a:buClr>
                <a:schemeClr val="lt1"/>
              </a:buClr>
              <a:buSzPts val="1500"/>
              <a:buFont typeface="Asap"/>
              <a:buChar char="-"/>
            </a:pPr>
            <a:r>
              <a:rPr lang="en-GB" sz="1500">
                <a:solidFill>
                  <a:schemeClr val="lt1"/>
                </a:solidFill>
                <a:latin typeface="Asap"/>
                <a:ea typeface="Asap"/>
                <a:cs typeface="Asap"/>
                <a:sym typeface="Asap"/>
              </a:rPr>
              <a:t>Creeaza </a:t>
            </a:r>
            <a:r>
              <a:rPr b="1" lang="en-GB" sz="1500">
                <a:solidFill>
                  <a:schemeClr val="lt1"/>
                </a:solidFill>
                <a:latin typeface="Asap"/>
                <a:ea typeface="Asap"/>
                <a:cs typeface="Asap"/>
                <a:sym typeface="Asap"/>
              </a:rPr>
              <a:t>o coloana separata pentru fiecare categorie</a:t>
            </a:r>
            <a:endParaRPr b="1" sz="1500">
              <a:solidFill>
                <a:schemeClr val="lt1"/>
              </a:solidFill>
              <a:latin typeface="Asap"/>
              <a:ea typeface="Asap"/>
              <a:cs typeface="Asap"/>
              <a:sym typeface="Asap"/>
            </a:endParaRPr>
          </a:p>
          <a:p>
            <a:pPr indent="-323850" lvl="0" marL="457200" marR="0" rtl="0" algn="l">
              <a:lnSpc>
                <a:spcPct val="100000"/>
              </a:lnSpc>
              <a:spcBef>
                <a:spcPts val="0"/>
              </a:spcBef>
              <a:spcAft>
                <a:spcPts val="0"/>
              </a:spcAft>
              <a:buClr>
                <a:schemeClr val="lt1"/>
              </a:buClr>
              <a:buSzPts val="1500"/>
              <a:buFont typeface="Asap"/>
              <a:buChar char="-"/>
            </a:pPr>
            <a:r>
              <a:rPr lang="en-GB" sz="1500">
                <a:solidFill>
                  <a:schemeClr val="lt1"/>
                </a:solidFill>
                <a:latin typeface="Asap"/>
                <a:ea typeface="Asap"/>
                <a:cs typeface="Asap"/>
                <a:sym typeface="Asap"/>
              </a:rPr>
              <a:t>Coloana ia valori 0 sau 1</a:t>
            </a:r>
            <a:endParaRPr sz="1500">
              <a:solidFill>
                <a:schemeClr val="lt1"/>
              </a:solidFill>
              <a:latin typeface="Asap"/>
              <a:ea typeface="Asap"/>
              <a:cs typeface="Asap"/>
              <a:sym typeface="Asap"/>
            </a:endParaRPr>
          </a:p>
          <a:p>
            <a:pPr indent="0" lvl="0" marL="0" rtl="0" algn="l">
              <a:spcBef>
                <a:spcPts val="0"/>
              </a:spcBef>
              <a:spcAft>
                <a:spcPts val="0"/>
              </a:spcAft>
              <a:buNone/>
            </a:pPr>
            <a:r>
              <a:rPr lang="en-GB" sz="1500">
                <a:solidFill>
                  <a:schemeClr val="lt1"/>
                </a:solidFill>
                <a:latin typeface="Asap"/>
                <a:ea typeface="Asap"/>
                <a:cs typeface="Asap"/>
                <a:sym typeface="Asap"/>
              </a:rPr>
              <a:t>    </a:t>
            </a:r>
            <a:r>
              <a:rPr b="1" lang="en-GB" sz="1500">
                <a:solidFill>
                  <a:schemeClr val="lt1"/>
                </a:solidFill>
                <a:latin typeface="Asap"/>
                <a:ea typeface="Asap"/>
                <a:cs typeface="Asap"/>
                <a:sym typeface="Asap"/>
              </a:rPr>
              <a:t>Ex.</a:t>
            </a:r>
            <a:endParaRPr b="1" sz="1500">
              <a:solidFill>
                <a:schemeClr val="lt1"/>
              </a:solidFill>
              <a:latin typeface="Asap"/>
              <a:ea typeface="Asap"/>
              <a:cs typeface="Asap"/>
              <a:sym typeface="Asap"/>
            </a:endParaRPr>
          </a:p>
          <a:p>
            <a:pPr indent="-323850" lvl="0" marL="457200" rtl="0" algn="l">
              <a:spcBef>
                <a:spcPts val="0"/>
              </a:spcBef>
              <a:spcAft>
                <a:spcPts val="0"/>
              </a:spcAft>
              <a:buClr>
                <a:schemeClr val="lt1"/>
              </a:buClr>
              <a:buSzPts val="1500"/>
              <a:buFont typeface="Asap"/>
              <a:buChar char="●"/>
            </a:pPr>
            <a:r>
              <a:rPr lang="en-GB" sz="1500">
                <a:solidFill>
                  <a:schemeClr val="lt1"/>
                </a:solidFill>
                <a:latin typeface="Asap"/>
                <a:ea typeface="Asap"/>
                <a:cs typeface="Asap"/>
                <a:sym typeface="Asap"/>
              </a:rPr>
              <a:t>Pentru </a:t>
            </a:r>
            <a:r>
              <a:rPr b="1" lang="en-GB" sz="1500">
                <a:solidFill>
                  <a:schemeClr val="lt1"/>
                </a:solidFill>
                <a:latin typeface="Asap"/>
                <a:ea typeface="Asap"/>
                <a:cs typeface="Asap"/>
                <a:sym typeface="Asap"/>
              </a:rPr>
              <a:t>Embarked</a:t>
            </a:r>
            <a:r>
              <a:rPr lang="en-GB" sz="1500">
                <a:solidFill>
                  <a:schemeClr val="lt1"/>
                </a:solidFill>
                <a:latin typeface="Asap"/>
                <a:ea typeface="Asap"/>
                <a:cs typeface="Asap"/>
                <a:sym typeface="Asap"/>
              </a:rPr>
              <a:t> cu valori {C, Q, S} se creeaza 3 coloane:</a:t>
            </a:r>
            <a:endParaRPr sz="1500">
              <a:solidFill>
                <a:schemeClr val="lt1"/>
              </a:solidFill>
              <a:latin typeface="Asap"/>
              <a:ea typeface="Asap"/>
              <a:cs typeface="Asap"/>
              <a:sym typeface="Asap"/>
            </a:endParaRPr>
          </a:p>
          <a:p>
            <a:pPr indent="-323850" lvl="1" marL="914400" rtl="0" algn="l">
              <a:spcBef>
                <a:spcPts val="0"/>
              </a:spcBef>
              <a:spcAft>
                <a:spcPts val="0"/>
              </a:spcAft>
              <a:buClr>
                <a:schemeClr val="lt1"/>
              </a:buClr>
              <a:buSzPts val="1500"/>
              <a:buFont typeface="Asap Medium"/>
              <a:buChar char="○"/>
            </a:pPr>
            <a:r>
              <a:rPr lang="en-GB" sz="1500">
                <a:solidFill>
                  <a:schemeClr val="lt1"/>
                </a:solidFill>
                <a:latin typeface="Asap Medium"/>
                <a:ea typeface="Asap Medium"/>
                <a:cs typeface="Asap Medium"/>
                <a:sym typeface="Asap Medium"/>
              </a:rPr>
              <a:t>Embarked_C → 1 dacă e C, altfel 0</a:t>
            </a:r>
            <a:endParaRPr sz="1500">
              <a:solidFill>
                <a:schemeClr val="lt1"/>
              </a:solidFill>
              <a:latin typeface="Asap Medium"/>
              <a:ea typeface="Asap Medium"/>
              <a:cs typeface="Asap Medium"/>
              <a:sym typeface="Asap Medium"/>
            </a:endParaRPr>
          </a:p>
          <a:p>
            <a:pPr indent="-323850" lvl="1" marL="914400" rtl="0" algn="l">
              <a:spcBef>
                <a:spcPts val="0"/>
              </a:spcBef>
              <a:spcAft>
                <a:spcPts val="0"/>
              </a:spcAft>
              <a:buClr>
                <a:schemeClr val="lt1"/>
              </a:buClr>
              <a:buSzPts val="1500"/>
              <a:buFont typeface="Asap Medium"/>
              <a:buChar char="○"/>
            </a:pPr>
            <a:r>
              <a:rPr lang="en-GB" sz="1500">
                <a:solidFill>
                  <a:schemeClr val="lt1"/>
                </a:solidFill>
                <a:latin typeface="Asap Medium"/>
                <a:ea typeface="Asap Medium"/>
                <a:cs typeface="Asap Medium"/>
                <a:sym typeface="Asap Medium"/>
              </a:rPr>
              <a:t>Embarked_Q → 1 dacă e Q, altfel 0</a:t>
            </a:r>
            <a:endParaRPr sz="1500">
              <a:solidFill>
                <a:schemeClr val="lt1"/>
              </a:solidFill>
              <a:latin typeface="Asap Medium"/>
              <a:ea typeface="Asap Medium"/>
              <a:cs typeface="Asap Medium"/>
              <a:sym typeface="Asap Medium"/>
            </a:endParaRPr>
          </a:p>
          <a:p>
            <a:pPr indent="-323850" lvl="1" marL="914400" rtl="0" algn="l">
              <a:spcBef>
                <a:spcPts val="0"/>
              </a:spcBef>
              <a:spcAft>
                <a:spcPts val="0"/>
              </a:spcAft>
              <a:buClr>
                <a:schemeClr val="lt1"/>
              </a:buClr>
              <a:buSzPts val="1500"/>
              <a:buFont typeface="Asap Medium"/>
              <a:buChar char="○"/>
            </a:pPr>
            <a:r>
              <a:rPr lang="en-GB" sz="1500">
                <a:solidFill>
                  <a:schemeClr val="lt1"/>
                </a:solidFill>
                <a:latin typeface="Asap Medium"/>
                <a:ea typeface="Asap Medium"/>
                <a:cs typeface="Asap Medium"/>
                <a:sym typeface="Asap Medium"/>
              </a:rPr>
              <a:t>Embarked_S → 1 dacă e S, altfel 0</a:t>
            </a:r>
            <a:endParaRPr sz="1500">
              <a:solidFill>
                <a:schemeClr val="lt1"/>
              </a:solidFill>
              <a:latin typeface="Asap Medium"/>
              <a:ea typeface="Asap Medium"/>
              <a:cs typeface="Asap Medium"/>
              <a:sym typeface="Asap Medium"/>
            </a:endParaRPr>
          </a:p>
          <a:p>
            <a:pPr indent="0" lvl="0" marL="0" rtl="0" algn="l">
              <a:spcBef>
                <a:spcPts val="0"/>
              </a:spcBef>
              <a:spcAft>
                <a:spcPts val="0"/>
              </a:spcAft>
              <a:buNone/>
            </a:pPr>
            <a:r>
              <a:t/>
            </a:r>
            <a:endParaRPr sz="1500">
              <a:solidFill>
                <a:schemeClr val="lt1"/>
              </a:solidFill>
              <a:latin typeface="Asap Medium"/>
              <a:ea typeface="Asap Medium"/>
              <a:cs typeface="Asap Medium"/>
              <a:sym typeface="Asap Medium"/>
            </a:endParaRPr>
          </a:p>
          <a:p>
            <a:pPr indent="0" lvl="0" marL="0" rtl="0" algn="l">
              <a:spcBef>
                <a:spcPts val="0"/>
              </a:spcBef>
              <a:spcAft>
                <a:spcPts val="0"/>
              </a:spcAft>
              <a:buNone/>
            </a:pPr>
            <a:r>
              <a:rPr b="1" lang="en-GB" sz="1500">
                <a:solidFill>
                  <a:srgbClr val="FF0000"/>
                </a:solidFill>
                <a:latin typeface="Asap"/>
                <a:ea typeface="Asap"/>
                <a:cs typeface="Asap"/>
                <a:sym typeface="Asap"/>
              </a:rPr>
              <a:t>Problema</a:t>
            </a:r>
            <a:r>
              <a:rPr lang="en-GB" sz="1500">
                <a:solidFill>
                  <a:schemeClr val="lt1"/>
                </a:solidFill>
                <a:latin typeface="Asap"/>
                <a:ea typeface="Asap"/>
                <a:cs typeface="Asap"/>
                <a:sym typeface="Asap"/>
              </a:rPr>
              <a:t>: Se creeaza multe coloane noi</a:t>
            </a:r>
            <a:endParaRPr sz="1500">
              <a:solidFill>
                <a:schemeClr val="lt1"/>
              </a:solidFill>
              <a:latin typeface="Asap Medium"/>
              <a:ea typeface="Asap Medium"/>
              <a:cs typeface="Asap Medium"/>
              <a:sym typeface="Asap Medium"/>
            </a:endParaRPr>
          </a:p>
          <a:p>
            <a:pPr indent="0" lvl="0" marL="0" marR="0" rtl="0" algn="l">
              <a:lnSpc>
                <a:spcPct val="100000"/>
              </a:lnSpc>
              <a:spcBef>
                <a:spcPts val="0"/>
              </a:spcBef>
              <a:spcAft>
                <a:spcPts val="0"/>
              </a:spcAft>
              <a:buNone/>
            </a:pPr>
            <a:r>
              <a:t/>
            </a:r>
            <a:endParaRPr sz="1500">
              <a:solidFill>
                <a:schemeClr val="lt1"/>
              </a:solidFill>
              <a:latin typeface="Asap"/>
              <a:ea typeface="Asap"/>
              <a:cs typeface="Asap"/>
              <a:sym typeface="Asap"/>
            </a:endParaRPr>
          </a:p>
          <a:p>
            <a:pPr indent="0" lvl="0" marL="0" marR="0" rtl="0" algn="l">
              <a:lnSpc>
                <a:spcPct val="100000"/>
              </a:lnSpc>
              <a:spcBef>
                <a:spcPts val="0"/>
              </a:spcBef>
              <a:spcAft>
                <a:spcPts val="0"/>
              </a:spcAft>
              <a:buNone/>
            </a:pPr>
            <a:r>
              <a:t/>
            </a:r>
            <a:endParaRPr sz="1500">
              <a:solidFill>
                <a:schemeClr val="lt1"/>
              </a:solidFill>
              <a:latin typeface="Asap"/>
              <a:ea typeface="Asap"/>
              <a:cs typeface="Asap"/>
              <a:sym typeface="Asap"/>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pic>
        <p:nvPicPr>
          <p:cNvPr descr="preencoded.png" id="294" name="Google Shape;294;p39"/>
          <p:cNvPicPr preferRelativeResize="0"/>
          <p:nvPr/>
        </p:nvPicPr>
        <p:blipFill rotWithShape="1">
          <a:blip r:embed="rId3">
            <a:alphaModFix/>
          </a:blip>
          <a:srcRect b="0" l="0" r="0" t="0"/>
          <a:stretch/>
        </p:blipFill>
        <p:spPr>
          <a:xfrm>
            <a:off x="4348165" y="0"/>
            <a:ext cx="4795832" cy="5143500"/>
          </a:xfrm>
          <a:prstGeom prst="rect">
            <a:avLst/>
          </a:prstGeom>
          <a:noFill/>
          <a:ln>
            <a:noFill/>
          </a:ln>
        </p:spPr>
      </p:pic>
      <p:pic>
        <p:nvPicPr>
          <p:cNvPr descr="preencoded.png" id="295" name="Google Shape;295;p39"/>
          <p:cNvPicPr preferRelativeResize="0"/>
          <p:nvPr/>
        </p:nvPicPr>
        <p:blipFill rotWithShape="1">
          <a:blip r:embed="rId4">
            <a:alphaModFix/>
          </a:blip>
          <a:srcRect b="0" l="0" r="0" t="0"/>
          <a:stretch/>
        </p:blipFill>
        <p:spPr>
          <a:xfrm>
            <a:off x="223838" y="1724025"/>
            <a:ext cx="8920163" cy="3419475"/>
          </a:xfrm>
          <a:prstGeom prst="rect">
            <a:avLst/>
          </a:prstGeom>
          <a:noFill/>
          <a:ln>
            <a:noFill/>
          </a:ln>
        </p:spPr>
      </p:pic>
      <p:pic>
        <p:nvPicPr>
          <p:cNvPr descr="preencoded.png" id="296" name="Google Shape;296;p39"/>
          <p:cNvPicPr preferRelativeResize="0"/>
          <p:nvPr/>
        </p:nvPicPr>
        <p:blipFill rotWithShape="1">
          <a:blip r:embed="rId5">
            <a:alphaModFix/>
          </a:blip>
          <a:srcRect b="0" l="0" r="0" t="0"/>
          <a:stretch/>
        </p:blipFill>
        <p:spPr>
          <a:xfrm>
            <a:off x="638175" y="322985"/>
            <a:ext cx="1066800" cy="516083"/>
          </a:xfrm>
          <a:prstGeom prst="rect">
            <a:avLst/>
          </a:prstGeom>
          <a:noFill/>
          <a:ln>
            <a:noFill/>
          </a:ln>
        </p:spPr>
      </p:pic>
      <p:sp>
        <p:nvSpPr>
          <p:cNvPr id="297" name="Google Shape;297;p39"/>
          <p:cNvSpPr/>
          <p:nvPr/>
        </p:nvSpPr>
        <p:spPr>
          <a:xfrm>
            <a:off x="223863" y="1259000"/>
            <a:ext cx="8010600" cy="595500"/>
          </a:xfrm>
          <a:prstGeom prst="rect">
            <a:avLst/>
          </a:prstGeom>
          <a:noFill/>
          <a:ln>
            <a:noFill/>
          </a:ln>
          <a:effectLst>
            <a:outerShdw blurRad="42863" rotWithShape="0" algn="bl" dir="5400000" dist="14288">
              <a:srgbClr val="000000"/>
            </a:outerShdw>
          </a:effectLst>
        </p:spPr>
        <p:txBody>
          <a:bodyPr anchorCtr="0" anchor="t" bIns="0" lIns="0" spcFirstLastPara="1" rIns="0" wrap="square" tIns="0">
            <a:noAutofit/>
          </a:bodyPr>
          <a:lstStyle/>
          <a:p>
            <a:pPr indent="0" lvl="0" marL="0" marR="0" rtl="0" algn="l">
              <a:lnSpc>
                <a:spcPct val="124898"/>
              </a:lnSpc>
              <a:spcBef>
                <a:spcPts val="0"/>
              </a:spcBef>
              <a:spcAft>
                <a:spcPts val="0"/>
              </a:spcAft>
              <a:buClr>
                <a:srgbClr val="FFFF01"/>
              </a:buClr>
              <a:buSzPts val="3700"/>
              <a:buFont typeface="Asap"/>
              <a:buNone/>
            </a:pPr>
            <a:r>
              <a:rPr b="1" i="0" lang="en-GB" sz="2400" u="none" cap="none" strike="noStrike">
                <a:solidFill>
                  <a:srgbClr val="FFFF01"/>
                </a:solidFill>
                <a:latin typeface="Asap"/>
                <a:ea typeface="Asap"/>
                <a:cs typeface="Asap"/>
                <a:sym typeface="Asap"/>
              </a:rPr>
              <a:t>Transformarea datelor categorice</a:t>
            </a:r>
            <a:endParaRPr b="0" i="0" sz="2400" u="none" cap="none" strike="noStrike">
              <a:solidFill>
                <a:schemeClr val="dk1"/>
              </a:solidFill>
              <a:latin typeface="Calibri"/>
              <a:ea typeface="Calibri"/>
              <a:cs typeface="Calibri"/>
              <a:sym typeface="Calibri"/>
            </a:endParaRPr>
          </a:p>
        </p:txBody>
      </p:sp>
      <p:sp>
        <p:nvSpPr>
          <p:cNvPr id="298" name="Google Shape;298;p39"/>
          <p:cNvSpPr/>
          <p:nvPr/>
        </p:nvSpPr>
        <p:spPr>
          <a:xfrm>
            <a:off x="342775" y="1854500"/>
            <a:ext cx="7595400" cy="22125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2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b="1" i="0" lang="en-GB" sz="1500" u="none" cap="none" strike="noStrike">
                <a:solidFill>
                  <a:schemeClr val="lt1"/>
                </a:solidFill>
                <a:latin typeface="Asap"/>
                <a:ea typeface="Asap"/>
                <a:cs typeface="Asap"/>
                <a:sym typeface="Asap"/>
              </a:rPr>
              <a:t>Label Encoding vs One-Hot</a:t>
            </a:r>
            <a:endParaRPr b="1"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b="1"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b="0" i="0" lang="en-GB" sz="1500" u="none" cap="none" strike="noStrike">
                <a:solidFill>
                  <a:schemeClr val="lt1"/>
                </a:solidFill>
                <a:latin typeface="Asap"/>
                <a:ea typeface="Asap"/>
                <a:cs typeface="Asap"/>
                <a:sym typeface="Asap"/>
              </a:rPr>
              <a:t>🔢 Label Encoding → simplu, dar introduce ordine falsă.</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b="0" i="0" lang="en-GB" sz="1500" u="none" cap="none" strike="noStrike">
                <a:solidFill>
                  <a:schemeClr val="lt1"/>
                </a:solidFill>
                <a:latin typeface="Asap"/>
                <a:ea typeface="Asap"/>
                <a:cs typeface="Asap"/>
                <a:sym typeface="Asap"/>
              </a:rPr>
              <a:t>🧊 One-Hot → evită ordinea, dar creează mai multe coloane.</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b="0" i="0" lang="en-GB" sz="1500" u="none" cap="none" strike="noStrike">
                <a:solidFill>
                  <a:schemeClr val="lt1"/>
                </a:solidFill>
                <a:latin typeface="Asap"/>
                <a:ea typeface="Asap"/>
                <a:cs typeface="Asap"/>
                <a:sym typeface="Asap"/>
              </a:rPr>
              <a:t>📏 Label Encoding → bun doar pentru categorii ordinale (ex. low &lt; med &lt; high).</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b="0" i="0" lang="en-GB" sz="1500" u="none" cap="none" strike="noStrike">
                <a:solidFill>
                  <a:schemeClr val="lt1"/>
                </a:solidFill>
                <a:latin typeface="Asap"/>
                <a:ea typeface="Asap"/>
                <a:cs typeface="Asap"/>
                <a:sym typeface="Asap"/>
              </a:rPr>
              <a:t>🧨 One-Hot → preferat pentru categorii nominale (Sex, Embarked).</a:t>
            </a:r>
            <a:endParaRPr b="0" i="0" sz="1100" u="none" cap="none" strike="noStrike">
              <a:solidFill>
                <a:schemeClr val="lt1"/>
              </a:solidFill>
              <a:latin typeface="Asap"/>
              <a:ea typeface="Asap"/>
              <a:cs typeface="Asap"/>
              <a:sym typeface="Asap"/>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pic>
        <p:nvPicPr>
          <p:cNvPr descr="preencoded.png" id="304" name="Google Shape;304;p40"/>
          <p:cNvPicPr preferRelativeResize="0"/>
          <p:nvPr/>
        </p:nvPicPr>
        <p:blipFill rotWithShape="1">
          <a:blip r:embed="rId3">
            <a:alphaModFix/>
          </a:blip>
          <a:srcRect b="0" l="0" r="0" t="0"/>
          <a:stretch/>
        </p:blipFill>
        <p:spPr>
          <a:xfrm>
            <a:off x="4348165" y="0"/>
            <a:ext cx="4795832" cy="5143500"/>
          </a:xfrm>
          <a:prstGeom prst="rect">
            <a:avLst/>
          </a:prstGeom>
          <a:noFill/>
          <a:ln>
            <a:noFill/>
          </a:ln>
        </p:spPr>
      </p:pic>
      <p:pic>
        <p:nvPicPr>
          <p:cNvPr descr="preencoded.png" id="305" name="Google Shape;305;p40"/>
          <p:cNvPicPr preferRelativeResize="0"/>
          <p:nvPr/>
        </p:nvPicPr>
        <p:blipFill rotWithShape="1">
          <a:blip r:embed="rId4">
            <a:alphaModFix/>
          </a:blip>
          <a:srcRect b="0" l="0" r="0" t="0"/>
          <a:stretch/>
        </p:blipFill>
        <p:spPr>
          <a:xfrm>
            <a:off x="223838" y="1724025"/>
            <a:ext cx="8920163" cy="3419475"/>
          </a:xfrm>
          <a:prstGeom prst="rect">
            <a:avLst/>
          </a:prstGeom>
          <a:noFill/>
          <a:ln>
            <a:noFill/>
          </a:ln>
        </p:spPr>
      </p:pic>
      <p:pic>
        <p:nvPicPr>
          <p:cNvPr descr="preencoded.png" id="306" name="Google Shape;306;p40"/>
          <p:cNvPicPr preferRelativeResize="0"/>
          <p:nvPr/>
        </p:nvPicPr>
        <p:blipFill rotWithShape="1">
          <a:blip r:embed="rId5">
            <a:alphaModFix/>
          </a:blip>
          <a:srcRect b="0" l="0" r="0" t="0"/>
          <a:stretch/>
        </p:blipFill>
        <p:spPr>
          <a:xfrm>
            <a:off x="638175" y="322985"/>
            <a:ext cx="1066800" cy="516083"/>
          </a:xfrm>
          <a:prstGeom prst="rect">
            <a:avLst/>
          </a:prstGeom>
          <a:noFill/>
          <a:ln>
            <a:noFill/>
          </a:ln>
        </p:spPr>
      </p:pic>
      <p:sp>
        <p:nvSpPr>
          <p:cNvPr id="307" name="Google Shape;307;p40"/>
          <p:cNvSpPr/>
          <p:nvPr/>
        </p:nvSpPr>
        <p:spPr>
          <a:xfrm>
            <a:off x="223863" y="1259000"/>
            <a:ext cx="8010600" cy="595500"/>
          </a:xfrm>
          <a:prstGeom prst="rect">
            <a:avLst/>
          </a:prstGeom>
          <a:noFill/>
          <a:ln>
            <a:noFill/>
          </a:ln>
          <a:effectLst>
            <a:outerShdw blurRad="42863" rotWithShape="0" algn="bl" dir="5400000" dist="14288">
              <a:srgbClr val="000000"/>
            </a:outerShdw>
          </a:effectLst>
        </p:spPr>
        <p:txBody>
          <a:bodyPr anchorCtr="0" anchor="t" bIns="0" lIns="0" spcFirstLastPara="1" rIns="0" wrap="square" tIns="0">
            <a:noAutofit/>
          </a:bodyPr>
          <a:lstStyle/>
          <a:p>
            <a:pPr indent="0" lvl="0" marL="0" marR="0" rtl="0" algn="l">
              <a:lnSpc>
                <a:spcPct val="124898"/>
              </a:lnSpc>
              <a:spcBef>
                <a:spcPts val="0"/>
              </a:spcBef>
              <a:spcAft>
                <a:spcPts val="0"/>
              </a:spcAft>
              <a:buClr>
                <a:srgbClr val="FFFF01"/>
              </a:buClr>
              <a:buSzPts val="3700"/>
              <a:buFont typeface="Asap"/>
              <a:buNone/>
            </a:pPr>
            <a:r>
              <a:rPr b="1" i="0" lang="en-GB" sz="2400" u="none" cap="none" strike="noStrike">
                <a:solidFill>
                  <a:srgbClr val="FFFF01"/>
                </a:solidFill>
                <a:latin typeface="Asap"/>
                <a:ea typeface="Asap"/>
                <a:cs typeface="Asap"/>
                <a:sym typeface="Asap"/>
              </a:rPr>
              <a:t>Calitatea si curatarea datelor</a:t>
            </a:r>
            <a:endParaRPr b="0" i="0" sz="2400" u="none" cap="none" strike="noStrike">
              <a:solidFill>
                <a:schemeClr val="dk1"/>
              </a:solidFill>
              <a:latin typeface="Calibri"/>
              <a:ea typeface="Calibri"/>
              <a:cs typeface="Calibri"/>
              <a:sym typeface="Calibri"/>
            </a:endParaRPr>
          </a:p>
        </p:txBody>
      </p:sp>
      <p:sp>
        <p:nvSpPr>
          <p:cNvPr id="308" name="Google Shape;308;p40"/>
          <p:cNvSpPr/>
          <p:nvPr/>
        </p:nvSpPr>
        <p:spPr>
          <a:xfrm>
            <a:off x="342775" y="1724025"/>
            <a:ext cx="7595400" cy="3331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rPr b="1" i="0" lang="en-GB" sz="1500" u="none" cap="none" strike="noStrike">
                <a:solidFill>
                  <a:schemeClr val="lt1"/>
                </a:solidFill>
                <a:latin typeface="Asap"/>
                <a:ea typeface="Asap"/>
                <a:cs typeface="Asap"/>
                <a:sym typeface="Asap"/>
              </a:rPr>
              <a:t>Recapitularea intreg pipelineului:</a:t>
            </a:r>
            <a:endParaRPr b="1"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b="1"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b="0" i="0" lang="en-GB" sz="1500" u="none" cap="none" strike="noStrike">
                <a:solidFill>
                  <a:schemeClr val="lt1"/>
                </a:solidFill>
                <a:latin typeface="Asap"/>
                <a:ea typeface="Asap"/>
                <a:cs typeface="Asap"/>
                <a:sym typeface="Asap"/>
              </a:rPr>
              <a:t>🔍 </a:t>
            </a:r>
            <a:r>
              <a:rPr b="1" i="0" lang="en-GB" sz="1500" u="none" cap="none" strike="noStrike">
                <a:solidFill>
                  <a:schemeClr val="lt1"/>
                </a:solidFill>
                <a:latin typeface="Asap"/>
                <a:ea typeface="Asap"/>
                <a:cs typeface="Asap"/>
                <a:sym typeface="Asap"/>
              </a:rPr>
              <a:t>Calitate = diagnosticare</a:t>
            </a:r>
            <a:endParaRPr b="1" i="0" sz="1500" u="none" cap="none" strike="noStrike">
              <a:solidFill>
                <a:schemeClr val="lt1"/>
              </a:solidFill>
              <a:latin typeface="Asap"/>
              <a:ea typeface="Asap"/>
              <a:cs typeface="Asap"/>
              <a:sym typeface="Asap"/>
            </a:endParaRPr>
          </a:p>
          <a:p>
            <a:pPr indent="-323850" lvl="0" marL="457200" marR="0" rtl="0" algn="l">
              <a:lnSpc>
                <a:spcPct val="100000"/>
              </a:lnSpc>
              <a:spcBef>
                <a:spcPts val="0"/>
              </a:spcBef>
              <a:spcAft>
                <a:spcPts val="0"/>
              </a:spcAft>
              <a:buClr>
                <a:schemeClr val="lt1"/>
              </a:buClr>
              <a:buSzPts val="1500"/>
              <a:buFont typeface="Asap"/>
              <a:buChar char="●"/>
            </a:pPr>
            <a:r>
              <a:rPr b="0" i="0" lang="en-GB" sz="1500" u="none" cap="none" strike="noStrike">
                <a:solidFill>
                  <a:schemeClr val="lt1"/>
                </a:solidFill>
                <a:latin typeface="Asap"/>
                <a:ea typeface="Asap"/>
                <a:cs typeface="Asap"/>
                <a:sym typeface="Asap"/>
              </a:rPr>
              <a:t>Completeness → valori lipsă</a:t>
            </a:r>
            <a:endParaRPr b="0" i="0" sz="1500" u="none" cap="none" strike="noStrike">
              <a:solidFill>
                <a:schemeClr val="lt1"/>
              </a:solidFill>
              <a:latin typeface="Asap"/>
              <a:ea typeface="Asap"/>
              <a:cs typeface="Asap"/>
              <a:sym typeface="Asap"/>
            </a:endParaRPr>
          </a:p>
          <a:p>
            <a:pPr indent="-323850" lvl="0" marL="457200" marR="0" rtl="0" algn="l">
              <a:lnSpc>
                <a:spcPct val="100000"/>
              </a:lnSpc>
              <a:spcBef>
                <a:spcPts val="0"/>
              </a:spcBef>
              <a:spcAft>
                <a:spcPts val="0"/>
              </a:spcAft>
              <a:buClr>
                <a:schemeClr val="lt1"/>
              </a:buClr>
              <a:buSzPts val="1500"/>
              <a:buFont typeface="Asap"/>
              <a:buChar char="●"/>
            </a:pPr>
            <a:r>
              <a:rPr b="0" i="0" lang="en-GB" sz="1500" u="none" cap="none" strike="noStrike">
                <a:solidFill>
                  <a:schemeClr val="lt1"/>
                </a:solidFill>
                <a:latin typeface="Asap"/>
                <a:ea typeface="Asap"/>
                <a:cs typeface="Asap"/>
                <a:sym typeface="Asap"/>
              </a:rPr>
              <a:t>Accuracy → valori invalide</a:t>
            </a:r>
            <a:endParaRPr b="0" i="0" sz="1500" u="none" cap="none" strike="noStrike">
              <a:solidFill>
                <a:schemeClr val="lt1"/>
              </a:solidFill>
              <a:latin typeface="Asap"/>
              <a:ea typeface="Asap"/>
              <a:cs typeface="Asap"/>
              <a:sym typeface="Asap"/>
            </a:endParaRPr>
          </a:p>
          <a:p>
            <a:pPr indent="-323850" lvl="0" marL="457200" marR="0" rtl="0" algn="l">
              <a:lnSpc>
                <a:spcPct val="100000"/>
              </a:lnSpc>
              <a:spcBef>
                <a:spcPts val="0"/>
              </a:spcBef>
              <a:spcAft>
                <a:spcPts val="0"/>
              </a:spcAft>
              <a:buClr>
                <a:schemeClr val="lt1"/>
              </a:buClr>
              <a:buSzPts val="1500"/>
              <a:buFont typeface="Asap"/>
              <a:buChar char="●"/>
            </a:pPr>
            <a:r>
              <a:rPr b="0" i="0" lang="en-GB" sz="1500" u="none" cap="none" strike="noStrike">
                <a:solidFill>
                  <a:schemeClr val="lt1"/>
                </a:solidFill>
                <a:latin typeface="Asap"/>
                <a:ea typeface="Asap"/>
                <a:cs typeface="Asap"/>
                <a:sym typeface="Asap"/>
              </a:rPr>
              <a:t>Consistency → categorii incoerente</a:t>
            </a:r>
            <a:endParaRPr b="0" i="0" sz="1500" u="none" cap="none" strike="noStrike">
              <a:solidFill>
                <a:schemeClr val="lt1"/>
              </a:solidFill>
              <a:latin typeface="Asap"/>
              <a:ea typeface="Asap"/>
              <a:cs typeface="Asap"/>
              <a:sym typeface="Asap"/>
            </a:endParaRPr>
          </a:p>
          <a:p>
            <a:pPr indent="-323850" lvl="0" marL="457200" marR="0" rtl="0" algn="l">
              <a:lnSpc>
                <a:spcPct val="100000"/>
              </a:lnSpc>
              <a:spcBef>
                <a:spcPts val="0"/>
              </a:spcBef>
              <a:spcAft>
                <a:spcPts val="0"/>
              </a:spcAft>
              <a:buClr>
                <a:schemeClr val="lt1"/>
              </a:buClr>
              <a:buSzPts val="1500"/>
              <a:buFont typeface="Asap"/>
              <a:buChar char="●"/>
            </a:pPr>
            <a:r>
              <a:rPr b="0" i="0" lang="en-GB" sz="1500" u="none" cap="none" strike="noStrike">
                <a:solidFill>
                  <a:schemeClr val="lt1"/>
                </a:solidFill>
                <a:latin typeface="Asap"/>
                <a:ea typeface="Asap"/>
                <a:cs typeface="Asap"/>
                <a:sym typeface="Asap"/>
              </a:rPr>
              <a:t>Timeliness → date vechi</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lt1"/>
                </a:solidFill>
                <a:latin typeface="Asap"/>
                <a:ea typeface="Asap"/>
                <a:cs typeface="Asap"/>
                <a:sym typeface="Asap"/>
              </a:rPr>
              <a:t>🧹 </a:t>
            </a:r>
            <a:r>
              <a:rPr b="1" i="0" lang="en-GB" sz="1500" u="none" cap="none" strike="noStrike">
                <a:solidFill>
                  <a:schemeClr val="lt1"/>
                </a:solidFill>
                <a:latin typeface="Asap"/>
                <a:ea typeface="Asap"/>
                <a:cs typeface="Asap"/>
                <a:sym typeface="Asap"/>
              </a:rPr>
              <a:t>Curatare = tratament</a:t>
            </a:r>
            <a:endParaRPr b="1" i="0" sz="1500" u="none" cap="none" strike="noStrike">
              <a:solidFill>
                <a:schemeClr val="lt1"/>
              </a:solidFill>
              <a:latin typeface="Asap"/>
              <a:ea typeface="Asap"/>
              <a:cs typeface="Asap"/>
              <a:sym typeface="Asap"/>
            </a:endParaRPr>
          </a:p>
          <a:p>
            <a:pPr indent="-323850" lvl="0" marL="457200" marR="0" rtl="0" algn="l">
              <a:lnSpc>
                <a:spcPct val="100000"/>
              </a:lnSpc>
              <a:spcBef>
                <a:spcPts val="0"/>
              </a:spcBef>
              <a:spcAft>
                <a:spcPts val="0"/>
              </a:spcAft>
              <a:buClr>
                <a:schemeClr val="lt1"/>
              </a:buClr>
              <a:buSzPts val="1500"/>
              <a:buFont typeface="Asap"/>
              <a:buChar char="●"/>
            </a:pPr>
            <a:r>
              <a:rPr b="0" i="0" lang="en-GB" sz="1500" u="none" cap="none" strike="noStrike">
                <a:solidFill>
                  <a:schemeClr val="lt1"/>
                </a:solidFill>
                <a:latin typeface="Asap"/>
                <a:ea typeface="Asap"/>
                <a:cs typeface="Asap"/>
                <a:sym typeface="Asap"/>
              </a:rPr>
              <a:t>Insertie de valori (mean/median/mode)</a:t>
            </a:r>
            <a:endParaRPr b="0" i="0" sz="1500" u="none" cap="none" strike="noStrike">
              <a:solidFill>
                <a:schemeClr val="lt1"/>
              </a:solidFill>
              <a:latin typeface="Asap"/>
              <a:ea typeface="Asap"/>
              <a:cs typeface="Asap"/>
              <a:sym typeface="Asap"/>
            </a:endParaRPr>
          </a:p>
          <a:p>
            <a:pPr indent="-323850" lvl="0" marL="457200" marR="0" rtl="0" algn="l">
              <a:lnSpc>
                <a:spcPct val="100000"/>
              </a:lnSpc>
              <a:spcBef>
                <a:spcPts val="0"/>
              </a:spcBef>
              <a:spcAft>
                <a:spcPts val="0"/>
              </a:spcAft>
              <a:buClr>
                <a:schemeClr val="lt1"/>
              </a:buClr>
              <a:buSzPts val="1500"/>
              <a:buFont typeface="Asap"/>
              <a:buChar char="●"/>
            </a:pPr>
            <a:r>
              <a:rPr b="0" i="0" lang="en-GB" sz="1500" u="none" cap="none" strike="noStrike">
                <a:solidFill>
                  <a:schemeClr val="lt1"/>
                </a:solidFill>
                <a:latin typeface="Asap"/>
                <a:ea typeface="Asap"/>
                <a:cs typeface="Asap"/>
                <a:sym typeface="Asap"/>
              </a:rPr>
              <a:t>Validări + corectări</a:t>
            </a:r>
            <a:endParaRPr b="0" i="0" sz="1500" u="none" cap="none" strike="noStrike">
              <a:solidFill>
                <a:schemeClr val="lt1"/>
              </a:solidFill>
              <a:latin typeface="Asap"/>
              <a:ea typeface="Asap"/>
              <a:cs typeface="Asap"/>
              <a:sym typeface="Asap"/>
            </a:endParaRPr>
          </a:p>
          <a:p>
            <a:pPr indent="-323850" lvl="0" marL="457200" marR="0" rtl="0" algn="l">
              <a:lnSpc>
                <a:spcPct val="100000"/>
              </a:lnSpc>
              <a:spcBef>
                <a:spcPts val="0"/>
              </a:spcBef>
              <a:spcAft>
                <a:spcPts val="0"/>
              </a:spcAft>
              <a:buClr>
                <a:schemeClr val="lt1"/>
              </a:buClr>
              <a:buSzPts val="1500"/>
              <a:buFont typeface="Asap"/>
              <a:buChar char="●"/>
            </a:pPr>
            <a:r>
              <a:rPr b="0" i="0" lang="en-GB" sz="1500" u="none" cap="none" strike="noStrike">
                <a:solidFill>
                  <a:schemeClr val="lt1"/>
                </a:solidFill>
                <a:latin typeface="Asap"/>
                <a:ea typeface="Asap"/>
                <a:cs typeface="Asap"/>
                <a:sym typeface="Asap"/>
              </a:rPr>
              <a:t>Standardizare categorii</a:t>
            </a:r>
            <a:endParaRPr b="0" i="0" sz="1500" u="none" cap="none" strike="noStrike">
              <a:solidFill>
                <a:schemeClr val="lt1"/>
              </a:solidFill>
              <a:latin typeface="Asap"/>
              <a:ea typeface="Asap"/>
              <a:cs typeface="Asap"/>
              <a:sym typeface="Asap"/>
            </a:endParaRPr>
          </a:p>
          <a:p>
            <a:pPr indent="-323850" lvl="0" marL="457200" marR="0" rtl="0" algn="l">
              <a:lnSpc>
                <a:spcPct val="100000"/>
              </a:lnSpc>
              <a:spcBef>
                <a:spcPts val="0"/>
              </a:spcBef>
              <a:spcAft>
                <a:spcPts val="0"/>
              </a:spcAft>
              <a:buClr>
                <a:schemeClr val="lt1"/>
              </a:buClr>
              <a:buSzPts val="1500"/>
              <a:buFont typeface="Asap"/>
              <a:buChar char="●"/>
            </a:pPr>
            <a:r>
              <a:rPr b="0" i="0" lang="en-GB" sz="1500" u="none" cap="none" strike="noStrike">
                <a:solidFill>
                  <a:schemeClr val="lt1"/>
                </a:solidFill>
                <a:latin typeface="Asap"/>
                <a:ea typeface="Asap"/>
                <a:cs typeface="Asap"/>
                <a:sym typeface="Asap"/>
              </a:rPr>
              <a:t>Eliminare / actualizare date vechi</a:t>
            </a:r>
            <a:endParaRPr b="0" i="0" sz="15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Asap"/>
              <a:ea typeface="Asap"/>
              <a:cs typeface="Asap"/>
              <a:sym typeface="Asap"/>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pic>
        <p:nvPicPr>
          <p:cNvPr descr="preencoded.png" id="314" name="Google Shape;314;p41"/>
          <p:cNvPicPr preferRelativeResize="0"/>
          <p:nvPr/>
        </p:nvPicPr>
        <p:blipFill rotWithShape="1">
          <a:blip r:embed="rId3">
            <a:alphaModFix/>
          </a:blip>
          <a:srcRect b="0" l="0" r="0" t="0"/>
          <a:stretch/>
        </p:blipFill>
        <p:spPr>
          <a:xfrm>
            <a:off x="346050" y="1203150"/>
            <a:ext cx="8797949" cy="3940352"/>
          </a:xfrm>
          <a:prstGeom prst="rect">
            <a:avLst/>
          </a:prstGeom>
          <a:noFill/>
          <a:ln>
            <a:noFill/>
          </a:ln>
        </p:spPr>
      </p:pic>
      <p:sp>
        <p:nvSpPr>
          <p:cNvPr id="315" name="Google Shape;315;p41"/>
          <p:cNvSpPr txBox="1"/>
          <p:nvPr/>
        </p:nvSpPr>
        <p:spPr>
          <a:xfrm>
            <a:off x="346050" y="856875"/>
            <a:ext cx="2257800" cy="408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chemeClr val="dk1"/>
              </a:buClr>
              <a:buSzPts val="1800"/>
              <a:buFont typeface="Arial"/>
              <a:buNone/>
            </a:pPr>
            <a:r>
              <a:rPr b="1" i="0" lang="en-GB" sz="2200" u="none" cap="none" strike="noStrike">
                <a:solidFill>
                  <a:srgbClr val="FFFF01"/>
                </a:solidFill>
                <a:latin typeface="Asap"/>
                <a:ea typeface="Asap"/>
                <a:cs typeface="Asap"/>
                <a:sym typeface="Asap"/>
              </a:rPr>
              <a:t>CONCLUZII</a:t>
            </a:r>
            <a:endParaRPr b="1" i="0" sz="1700" u="none" cap="none" strike="noStrike">
              <a:solidFill>
                <a:srgbClr val="FFFF01"/>
              </a:solidFill>
              <a:latin typeface="Asap"/>
              <a:ea typeface="Asap"/>
              <a:cs typeface="Asap"/>
              <a:sym typeface="Asap"/>
            </a:endParaRPr>
          </a:p>
        </p:txBody>
      </p:sp>
      <p:sp>
        <p:nvSpPr>
          <p:cNvPr id="316" name="Google Shape;316;p41"/>
          <p:cNvSpPr txBox="1"/>
          <p:nvPr/>
        </p:nvSpPr>
        <p:spPr>
          <a:xfrm>
            <a:off x="506510" y="1391128"/>
            <a:ext cx="7708800" cy="3301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chemeClr val="dk1"/>
              </a:buClr>
              <a:buSzPts val="1400"/>
              <a:buFont typeface="Arial"/>
              <a:buNone/>
            </a:pPr>
            <a:r>
              <a:rPr b="1" i="0" lang="en-GB" sz="1400" u="none" cap="none" strike="noStrike">
                <a:solidFill>
                  <a:schemeClr val="lt1"/>
                </a:solidFill>
                <a:latin typeface="Asap"/>
                <a:ea typeface="Asap"/>
                <a:cs typeface="Asap"/>
                <a:sym typeface="Asap"/>
              </a:rPr>
              <a:t>Ce am învățat:</a:t>
            </a:r>
            <a:endParaRPr b="1" i="0" sz="1100" u="none" cap="none" strike="noStrike">
              <a:solidFill>
                <a:schemeClr val="lt1"/>
              </a:solidFill>
              <a:latin typeface="Asap"/>
              <a:ea typeface="Asap"/>
              <a:cs typeface="Asap"/>
              <a:sym typeface="Asap"/>
            </a:endParaRPr>
          </a:p>
          <a:p>
            <a:pPr indent="-254000" lvl="0" marL="342900" marR="0" rtl="0" algn="l">
              <a:lnSpc>
                <a:spcPct val="100000"/>
              </a:lnSpc>
              <a:spcBef>
                <a:spcPts val="0"/>
              </a:spcBef>
              <a:spcAft>
                <a:spcPts val="0"/>
              </a:spcAft>
              <a:buClr>
                <a:srgbClr val="FFFF01"/>
              </a:buClr>
              <a:buSzPts val="1400"/>
              <a:buFont typeface="Asap"/>
              <a:buChar char="●"/>
            </a:pPr>
            <a:r>
              <a:rPr b="0" i="0" lang="en-GB" sz="1400" u="none" cap="none" strike="noStrike">
                <a:solidFill>
                  <a:schemeClr val="lt1"/>
                </a:solidFill>
                <a:latin typeface="Asap"/>
                <a:ea typeface="Asap"/>
                <a:cs typeface="Asap"/>
                <a:sym typeface="Asap"/>
              </a:rPr>
              <a:t>Am învățat ca modelele sunt la fel de bune ca datele pe care sunt antrenate</a:t>
            </a:r>
            <a:endParaRPr b="0" i="0" sz="1400" u="none" cap="none" strike="noStrike">
              <a:solidFill>
                <a:schemeClr val="lt1"/>
              </a:solidFill>
              <a:latin typeface="Asap"/>
              <a:ea typeface="Asap"/>
              <a:cs typeface="Asap"/>
              <a:sym typeface="Asap"/>
            </a:endParaRPr>
          </a:p>
          <a:p>
            <a:pPr indent="-254000" lvl="0" marL="342900" marR="0" rtl="0" algn="l">
              <a:lnSpc>
                <a:spcPct val="100000"/>
              </a:lnSpc>
              <a:spcBef>
                <a:spcPts val="0"/>
              </a:spcBef>
              <a:spcAft>
                <a:spcPts val="0"/>
              </a:spcAft>
              <a:buClr>
                <a:srgbClr val="FFFF01"/>
              </a:buClr>
              <a:buSzPts val="1400"/>
              <a:buFont typeface="Asap"/>
              <a:buChar char="●"/>
            </a:pPr>
            <a:r>
              <a:rPr b="0" i="0" lang="en-GB" sz="1400" u="none" cap="none" strike="noStrike">
                <a:solidFill>
                  <a:schemeClr val="lt1"/>
                </a:solidFill>
                <a:latin typeface="Asap"/>
                <a:ea typeface="Asap"/>
                <a:cs typeface="Asap"/>
                <a:sym typeface="Asap"/>
              </a:rPr>
              <a:t>Pași cheie înainte de crearea modelului:</a:t>
            </a:r>
            <a:endParaRPr b="0" i="0" sz="1400" u="none" cap="none" strike="noStrike">
              <a:solidFill>
                <a:schemeClr val="lt1"/>
              </a:solidFill>
              <a:latin typeface="Asap"/>
              <a:ea typeface="Asap"/>
              <a:cs typeface="Asap"/>
              <a:sym typeface="Asap"/>
            </a:endParaRPr>
          </a:p>
          <a:p>
            <a:pPr indent="-254000" lvl="1" marL="685800" marR="0" rtl="0" algn="l">
              <a:lnSpc>
                <a:spcPct val="100000"/>
              </a:lnSpc>
              <a:spcBef>
                <a:spcPts val="0"/>
              </a:spcBef>
              <a:spcAft>
                <a:spcPts val="0"/>
              </a:spcAft>
              <a:buClr>
                <a:srgbClr val="FFFF01"/>
              </a:buClr>
              <a:buSzPts val="1400"/>
              <a:buFont typeface="Asap"/>
              <a:buChar char="○"/>
            </a:pPr>
            <a:r>
              <a:rPr b="0" i="0" lang="en-GB" sz="1400" u="none" cap="none" strike="noStrike">
                <a:solidFill>
                  <a:schemeClr val="lt1"/>
                </a:solidFill>
                <a:latin typeface="Asap"/>
                <a:ea typeface="Asap"/>
                <a:cs typeface="Asap"/>
                <a:sym typeface="Asap"/>
              </a:rPr>
              <a:t>Verificarea calitatii datelor</a:t>
            </a:r>
            <a:endParaRPr b="0" i="0" sz="1400" u="none" cap="none" strike="noStrike">
              <a:solidFill>
                <a:schemeClr val="lt1"/>
              </a:solidFill>
              <a:latin typeface="Asap"/>
              <a:ea typeface="Asap"/>
              <a:cs typeface="Asap"/>
              <a:sym typeface="Asap"/>
            </a:endParaRPr>
          </a:p>
          <a:p>
            <a:pPr indent="-254000" lvl="1" marL="685800" marR="0" rtl="0" algn="l">
              <a:lnSpc>
                <a:spcPct val="100000"/>
              </a:lnSpc>
              <a:spcBef>
                <a:spcPts val="0"/>
              </a:spcBef>
              <a:spcAft>
                <a:spcPts val="0"/>
              </a:spcAft>
              <a:buClr>
                <a:srgbClr val="FFFF01"/>
              </a:buClr>
              <a:buSzPts val="1400"/>
              <a:buFont typeface="Asap"/>
              <a:buChar char="○"/>
            </a:pPr>
            <a:r>
              <a:rPr b="0" i="0" lang="en-GB" sz="1400" u="none" cap="none" strike="noStrike">
                <a:solidFill>
                  <a:schemeClr val="lt1"/>
                </a:solidFill>
                <a:latin typeface="Asap"/>
                <a:ea typeface="Asap"/>
                <a:cs typeface="Asap"/>
                <a:sym typeface="Asap"/>
              </a:rPr>
              <a:t>Curatam datele.</a:t>
            </a:r>
            <a:endParaRPr b="0" i="0" sz="1400" u="none" cap="none" strike="noStrike">
              <a:solidFill>
                <a:schemeClr val="lt1"/>
              </a:solidFill>
              <a:latin typeface="Asap"/>
              <a:ea typeface="Asap"/>
              <a:cs typeface="Asap"/>
              <a:sym typeface="Asap"/>
            </a:endParaRPr>
          </a:p>
          <a:p>
            <a:pPr indent="-234950" lvl="1" marL="685800" marR="0" rtl="0" algn="l">
              <a:lnSpc>
                <a:spcPct val="100000"/>
              </a:lnSpc>
              <a:spcBef>
                <a:spcPts val="0"/>
              </a:spcBef>
              <a:spcAft>
                <a:spcPts val="0"/>
              </a:spcAft>
              <a:buClr>
                <a:schemeClr val="lt1"/>
              </a:buClr>
              <a:buSzPts val="1100"/>
              <a:buFont typeface="Asap"/>
              <a:buChar char="○"/>
            </a:pPr>
            <a:r>
              <a:rPr b="0" i="0" lang="en-GB" sz="1400" u="none" cap="none" strike="noStrike">
                <a:solidFill>
                  <a:schemeClr val="lt1"/>
                </a:solidFill>
                <a:latin typeface="Asap"/>
                <a:ea typeface="Asap"/>
                <a:cs typeface="Asap"/>
                <a:sym typeface="Asap"/>
              </a:rPr>
              <a:t>Pre-procesam datele (scalare, transformare, etc.)</a:t>
            </a:r>
            <a:endParaRPr b="0" i="0" sz="1400" u="none" cap="none" strike="noStrike">
              <a:solidFill>
                <a:schemeClr val="lt1"/>
              </a:solidFill>
              <a:latin typeface="Asap"/>
              <a:ea typeface="Asap"/>
              <a:cs typeface="Asap"/>
              <a:sym typeface="Asap"/>
            </a:endParaRPr>
          </a:p>
          <a:p>
            <a:pPr indent="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rPr b="1" i="0" lang="en-GB" sz="1400" u="none" cap="none" strike="noStrike">
                <a:solidFill>
                  <a:schemeClr val="lt1"/>
                </a:solidFill>
                <a:latin typeface="Asap"/>
                <a:ea typeface="Asap"/>
                <a:cs typeface="Asap"/>
                <a:sym typeface="Asap"/>
              </a:rPr>
              <a:t>Ce urmează:</a:t>
            </a:r>
            <a:endParaRPr b="1" i="0" sz="1100" u="none" cap="none" strike="noStrike">
              <a:solidFill>
                <a:schemeClr val="lt1"/>
              </a:solidFill>
              <a:latin typeface="Asap"/>
              <a:ea typeface="Asap"/>
              <a:cs typeface="Asap"/>
              <a:sym typeface="Asap"/>
            </a:endParaRPr>
          </a:p>
          <a:p>
            <a:pPr indent="-254000" lvl="0" marL="342900" marR="0" rtl="0" algn="l">
              <a:lnSpc>
                <a:spcPct val="100000"/>
              </a:lnSpc>
              <a:spcBef>
                <a:spcPts val="0"/>
              </a:spcBef>
              <a:spcAft>
                <a:spcPts val="0"/>
              </a:spcAft>
              <a:buClr>
                <a:srgbClr val="FFFF01"/>
              </a:buClr>
              <a:buSzPts val="1400"/>
              <a:buFont typeface="Asap"/>
              <a:buChar char="●"/>
            </a:pPr>
            <a:r>
              <a:rPr b="0" i="0" lang="en-GB" sz="1400" u="none" cap="none" strike="noStrike">
                <a:solidFill>
                  <a:schemeClr val="lt1"/>
                </a:solidFill>
                <a:latin typeface="Asap"/>
                <a:ea typeface="Asap"/>
                <a:cs typeface="Asap"/>
                <a:sym typeface="Asap"/>
              </a:rPr>
              <a:t> Exploratory Data Analysis (EDA)</a:t>
            </a:r>
            <a:endParaRPr b="0" i="0" sz="11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sap"/>
              <a:ea typeface="Asap"/>
              <a:cs typeface="Asap"/>
              <a:sym typeface="Asap"/>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sap"/>
              <a:ea typeface="Asap"/>
              <a:cs typeface="Asap"/>
              <a:sym typeface="Asap"/>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pic>
        <p:nvPicPr>
          <p:cNvPr descr="preencoded.png" id="322" name="Google Shape;322;p42"/>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323" name="Google Shape;323;p42"/>
          <p:cNvPicPr preferRelativeResize="0"/>
          <p:nvPr/>
        </p:nvPicPr>
        <p:blipFill rotWithShape="1">
          <a:blip r:embed="rId4">
            <a:alphaModFix/>
          </a:blip>
          <a:srcRect b="0" l="0" r="0" t="0"/>
          <a:stretch/>
        </p:blipFill>
        <p:spPr>
          <a:xfrm>
            <a:off x="554147" y="762000"/>
            <a:ext cx="8589850" cy="3332513"/>
          </a:xfrm>
          <a:prstGeom prst="rect">
            <a:avLst/>
          </a:prstGeom>
          <a:noFill/>
          <a:ln>
            <a:noFill/>
          </a:ln>
        </p:spPr>
      </p:pic>
      <p:pic>
        <p:nvPicPr>
          <p:cNvPr descr="preencoded.png" id="324" name="Google Shape;324;p42"/>
          <p:cNvPicPr preferRelativeResize="0"/>
          <p:nvPr/>
        </p:nvPicPr>
        <p:blipFill rotWithShape="1">
          <a:blip r:embed="rId5">
            <a:alphaModFix/>
          </a:blip>
          <a:srcRect b="0" l="0" r="0" t="0"/>
          <a:stretch/>
        </p:blipFill>
        <p:spPr>
          <a:xfrm>
            <a:off x="742950" y="1323975"/>
            <a:ext cx="5800725" cy="2681288"/>
          </a:xfrm>
          <a:prstGeom prst="rect">
            <a:avLst/>
          </a:prstGeom>
          <a:noFill/>
          <a:ln>
            <a:noFill/>
          </a:ln>
        </p:spPr>
      </p:pic>
      <p:pic>
        <p:nvPicPr>
          <p:cNvPr descr="preencoded.png" id="325" name="Google Shape;325;p42"/>
          <p:cNvPicPr preferRelativeResize="0"/>
          <p:nvPr/>
        </p:nvPicPr>
        <p:blipFill rotWithShape="1">
          <a:blip r:embed="rId6">
            <a:alphaModFix/>
          </a:blip>
          <a:srcRect b="0" l="0" r="0" t="0"/>
          <a:stretch/>
        </p:blipFill>
        <p:spPr>
          <a:xfrm>
            <a:off x="914400" y="3767138"/>
            <a:ext cx="4367213" cy="614363"/>
          </a:xfrm>
          <a:prstGeom prst="rect">
            <a:avLst/>
          </a:prstGeom>
          <a:noFill/>
          <a:ln>
            <a:noFill/>
          </a:ln>
        </p:spPr>
      </p:pic>
      <p:pic>
        <p:nvPicPr>
          <p:cNvPr descr="preencoded.png" id="326" name="Google Shape;326;p42"/>
          <p:cNvPicPr preferRelativeResize="0"/>
          <p:nvPr/>
        </p:nvPicPr>
        <p:blipFill rotWithShape="1">
          <a:blip r:embed="rId7">
            <a:alphaModFix/>
          </a:blip>
          <a:srcRect b="0" l="0" r="0" t="0"/>
          <a:stretch/>
        </p:blipFill>
        <p:spPr>
          <a:xfrm>
            <a:off x="5548313" y="428625"/>
            <a:ext cx="3286125" cy="4281488"/>
          </a:xfrm>
          <a:prstGeom prst="rect">
            <a:avLst/>
          </a:prstGeom>
          <a:noFill/>
          <a:ln>
            <a:noFill/>
          </a:ln>
        </p:spPr>
      </p:pic>
      <p:pic>
        <p:nvPicPr>
          <p:cNvPr descr="preencoded.png" id="327" name="Google Shape;327;p42"/>
          <p:cNvPicPr preferRelativeResize="0"/>
          <p:nvPr/>
        </p:nvPicPr>
        <p:blipFill rotWithShape="1">
          <a:blip r:embed="rId8">
            <a:alphaModFix/>
          </a:blip>
          <a:srcRect b="0" l="0" r="0" t="0"/>
          <a:stretch/>
        </p:blipFill>
        <p:spPr>
          <a:xfrm>
            <a:off x="638175" y="322985"/>
            <a:ext cx="1066800" cy="516083"/>
          </a:xfrm>
          <a:prstGeom prst="rect">
            <a:avLst/>
          </a:prstGeom>
          <a:noFill/>
          <a:ln>
            <a:noFill/>
          </a:ln>
        </p:spPr>
      </p:pic>
      <p:sp>
        <p:nvSpPr>
          <p:cNvPr id="328" name="Google Shape;328;p42"/>
          <p:cNvSpPr/>
          <p:nvPr/>
        </p:nvSpPr>
        <p:spPr>
          <a:xfrm>
            <a:off x="1314450" y="2338388"/>
            <a:ext cx="3629100" cy="466800"/>
          </a:xfrm>
          <a:prstGeom prst="rect">
            <a:avLst/>
          </a:prstGeom>
          <a:noFill/>
          <a:ln>
            <a:noFill/>
          </a:ln>
        </p:spPr>
        <p:txBody>
          <a:bodyPr anchorCtr="0" anchor="ctr" bIns="0" lIns="0" spcFirstLastPara="1" rIns="0" wrap="square" tIns="0">
            <a:noAutofit/>
          </a:bodyPr>
          <a:lstStyle/>
          <a:p>
            <a:pPr indent="0" lvl="0" marL="0" marR="0" rtl="0" algn="l">
              <a:lnSpc>
                <a:spcPct val="97752"/>
              </a:lnSpc>
              <a:spcBef>
                <a:spcPts val="0"/>
              </a:spcBef>
              <a:spcAft>
                <a:spcPts val="0"/>
              </a:spcAft>
              <a:buClr>
                <a:srgbClr val="FFFFFF"/>
              </a:buClr>
              <a:buSzPts val="5300"/>
              <a:buFont typeface="Asap"/>
              <a:buNone/>
            </a:pPr>
            <a:r>
              <a:rPr b="1" i="0" lang="en-GB" sz="5300" u="none" cap="none" strike="noStrike">
                <a:solidFill>
                  <a:srgbClr val="FFFFFF"/>
                </a:solidFill>
                <a:latin typeface="Asap"/>
                <a:ea typeface="Asap"/>
                <a:cs typeface="Asap"/>
                <a:sym typeface="Asap"/>
              </a:rPr>
              <a:t>Thank you :)</a:t>
            </a:r>
            <a:endParaRPr b="0" i="0" sz="5300" u="none" cap="none" strike="noStrike">
              <a:solidFill>
                <a:schemeClr val="dk1"/>
              </a:solidFill>
              <a:latin typeface="Calibri"/>
              <a:ea typeface="Calibri"/>
              <a:cs typeface="Calibri"/>
              <a:sym typeface="Calibri"/>
            </a:endParaRPr>
          </a:p>
        </p:txBody>
      </p:sp>
      <p:sp>
        <p:nvSpPr>
          <p:cNvPr id="329" name="Google Shape;329;p42"/>
          <p:cNvSpPr/>
          <p:nvPr/>
        </p:nvSpPr>
        <p:spPr>
          <a:xfrm>
            <a:off x="1033463" y="3890963"/>
            <a:ext cx="4144500" cy="372000"/>
          </a:xfrm>
          <a:prstGeom prst="rect">
            <a:avLst/>
          </a:prstGeom>
          <a:noFill/>
          <a:ln>
            <a:noFill/>
          </a:ln>
        </p:spPr>
        <p:txBody>
          <a:bodyPr anchorCtr="0" anchor="t" bIns="0" lIns="0" spcFirstLastPara="1" rIns="0" wrap="square" tIns="0">
            <a:noAutofit/>
          </a:bodyPr>
          <a:lstStyle/>
          <a:p>
            <a:pPr indent="0" lvl="0" marL="0" marR="0" rtl="0" algn="l">
              <a:lnSpc>
                <a:spcPct val="95625"/>
              </a:lnSpc>
              <a:spcBef>
                <a:spcPts val="0"/>
              </a:spcBef>
              <a:spcAft>
                <a:spcPts val="0"/>
              </a:spcAft>
              <a:buClr>
                <a:srgbClr val="313CFF"/>
              </a:buClr>
              <a:buSzPts val="2400"/>
              <a:buFont typeface="Asap Medium"/>
              <a:buNone/>
            </a:pPr>
            <a:r>
              <a:rPr b="0" i="0" lang="en-GB" sz="2400" u="none" cap="none" strike="noStrike">
                <a:solidFill>
                  <a:srgbClr val="313CFF"/>
                </a:solidFill>
                <a:latin typeface="Asap Medium"/>
                <a:ea typeface="Asap Medium"/>
                <a:cs typeface="Asap Medium"/>
                <a:sym typeface="Asap Medium"/>
              </a:rPr>
              <a:t>Ne vedem la sesiunea viitoare!</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